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16.png"/><Relationship Id="rId9"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5B4C"/>
        </a:solidFill>
        <a:effectLst/>
      </p:bgPr>
    </p:bg>
    <p:spTree>
      <p:nvGrpSpPr>
        <p:cNvPr id="1" name=""/>
        <p:cNvGrpSpPr/>
        <p:nvPr/>
      </p:nvGrpSpPr>
      <p:grpSpPr/>
      <p:sp>
        <p:nvSpPr>
          <p:cNvPr id="2" name="Rounded Rectangle 1"/>
          <p:cNvSpPr/>
          <p:nvPr/>
        </p:nvSpPr>
        <p:spPr>
          <a:xfrm>
            <a:off x="548640" y="411480"/>
            <a:ext cx="868680" cy="868680"/>
          </a:xfrm>
          <a:prstGeom prst="roundRect">
            <a:avLst>
              <a:gd name="adj" fmla="val 16000"/>
            </a:avLst>
          </a:prstGeom>
          <a:solidFill>
            <a:srgbClr val="FFFFFF"/>
          </a:solidFill>
          <a:ln>
            <a:noFill/>
          </a:ln>
          <a:effectLst>
            <a:outerShdw blurRad="127000" dist="38100" dir="5400000" rotWithShape="0">
              <a:srgbClr val="1A10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si_logo.jpg"/>
          <p:cNvPicPr>
            <a:picLocks noChangeAspect="1"/>
          </p:cNvPicPr>
          <p:nvPr/>
        </p:nvPicPr>
        <p:blipFill>
          <a:blip r:embed="rId2"/>
          <a:stretch>
            <a:fillRect/>
          </a:stretch>
        </p:blipFill>
        <p:spPr>
          <a:xfrm>
            <a:off x="548640" y="621509"/>
            <a:ext cx="868680" cy="448621"/>
          </a:xfrm>
          <a:prstGeom prst="rect">
            <a:avLst/>
          </a:prstGeom>
        </p:spPr>
      </p:pic>
      <p:sp>
        <p:nvSpPr>
          <p:cNvPr id="4" name="Rounded Rectangle 3"/>
          <p:cNvSpPr/>
          <p:nvPr/>
        </p:nvSpPr>
        <p:spPr>
          <a:xfrm>
            <a:off x="10801807" y="512064"/>
            <a:ext cx="841248" cy="576072"/>
          </a:xfrm>
          <a:prstGeom prst="roundRect">
            <a:avLst>
              <a:gd name="adj" fmla="val 16000"/>
            </a:avLst>
          </a:prstGeom>
          <a:solidFill>
            <a:srgbClr val="FFFFFF"/>
          </a:solidFill>
          <a:ln>
            <a:noFill/>
          </a:ln>
          <a:effectLst>
            <a:outerShdw blurRad="127000" dist="38100" dir="5400000" rotWithShape="0">
              <a:srgbClr val="1A10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enegal_flag.png"/>
          <p:cNvPicPr>
            <a:picLocks noChangeAspect="1"/>
          </p:cNvPicPr>
          <p:nvPr/>
        </p:nvPicPr>
        <p:blipFill>
          <a:blip r:embed="rId3"/>
          <a:stretch>
            <a:fillRect/>
          </a:stretch>
        </p:blipFill>
        <p:spPr>
          <a:xfrm>
            <a:off x="10801807" y="519684"/>
            <a:ext cx="841248" cy="560832"/>
          </a:xfrm>
          <a:prstGeom prst="rect">
            <a:avLst/>
          </a:prstGeom>
        </p:spPr>
      </p:pic>
      <p:sp>
        <p:nvSpPr>
          <p:cNvPr id="6" name="TextBox 5"/>
          <p:cNvSpPr txBox="1"/>
          <p:nvPr/>
        </p:nvSpPr>
        <p:spPr>
          <a:xfrm>
            <a:off x="0" y="475488"/>
            <a:ext cx="12191695" cy="365760"/>
          </a:xfrm>
          <a:prstGeom prst="rect">
            <a:avLst/>
          </a:prstGeom>
          <a:noFill/>
        </p:spPr>
        <p:txBody>
          <a:bodyPr wrap="square" lIns="0" rIns="0" tIns="0" bIns="0" anchor="t">
            <a:spAutoFit/>
          </a:bodyPr>
          <a:lstStyle/>
          <a:p>
            <a:pPr algn="ctr">
              <a:lnSpc>
                <a:spcPct val="100000"/>
              </a:lnSpc>
              <a:spcBef>
                <a:spcPts val="0"/>
              </a:spcBef>
              <a:spcAft>
                <a:spcPts val="0"/>
              </a:spcAft>
            </a:pPr>
            <a:r>
              <a:rPr sz="1100" b="0" i="1">
                <a:solidFill>
                  <a:srgbClr val="A7BCB1"/>
                </a:solidFill>
                <a:latin typeface="Calibri"/>
              </a:rPr>
              <a:t>Un Peuple — Un But — Une Foi</a:t>
            </a:r>
          </a:p>
        </p:txBody>
      </p:sp>
      <p:sp>
        <p:nvSpPr>
          <p:cNvPr id="7" name="TextBox 6"/>
          <p:cNvSpPr txBox="1"/>
          <p:nvPr/>
        </p:nvSpPr>
        <p:spPr>
          <a:xfrm>
            <a:off x="1097280" y="1298448"/>
            <a:ext cx="9997135" cy="411480"/>
          </a:xfrm>
          <a:prstGeom prst="rect">
            <a:avLst/>
          </a:prstGeom>
          <a:noFill/>
        </p:spPr>
        <p:txBody>
          <a:bodyPr wrap="square" lIns="0" rIns="0" tIns="0" bIns="0" anchor="t">
            <a:spAutoFit/>
          </a:bodyPr>
          <a:lstStyle/>
          <a:p>
            <a:pPr algn="ctr">
              <a:lnSpc>
                <a:spcPct val="100000"/>
              </a:lnSpc>
              <a:spcBef>
                <a:spcPts val="0"/>
              </a:spcBef>
              <a:spcAft>
                <a:spcPts val="0"/>
              </a:spcAft>
            </a:pPr>
            <a:r>
              <a:rPr sz="1250" b="1" i="0">
                <a:solidFill>
                  <a:srgbClr val="E6BD7C"/>
                </a:solidFill>
                <a:latin typeface="Calibri"/>
              </a:rPr>
              <a:t>SOUTENANCE DE MÉMOIRE DE FIN DE CYCLE  ·  MASTER EN GÉNIE LOGICIEL</a:t>
            </a:r>
          </a:p>
        </p:txBody>
      </p:sp>
      <p:sp>
        <p:nvSpPr>
          <p:cNvPr id="8" name="Rounded Rectangle 7"/>
          <p:cNvSpPr/>
          <p:nvPr/>
        </p:nvSpPr>
        <p:spPr>
          <a:xfrm>
            <a:off x="4747107" y="1810512"/>
            <a:ext cx="2697480" cy="1965960"/>
          </a:xfrm>
          <a:prstGeom prst="roundRect">
            <a:avLst>
              <a:gd name="adj" fmla="val 8000"/>
            </a:avLst>
          </a:prstGeom>
          <a:solidFill>
            <a:srgbClr val="FFFFFF"/>
          </a:solidFill>
          <a:ln>
            <a:noFill/>
          </a:ln>
          <a:effectLst>
            <a:outerShdw blurRad="127000" dist="38100" dir="5400000" rotWithShape="0">
              <a:srgbClr val="1A10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kayniawlu_logo_transparent.png"/>
          <p:cNvPicPr>
            <a:picLocks noChangeAspect="1"/>
          </p:cNvPicPr>
          <p:nvPr/>
        </p:nvPicPr>
        <p:blipFill>
          <a:blip r:embed="rId4"/>
          <a:stretch>
            <a:fillRect/>
          </a:stretch>
        </p:blipFill>
        <p:spPr>
          <a:xfrm>
            <a:off x="4969665" y="1810512"/>
            <a:ext cx="2252364" cy="1965960"/>
          </a:xfrm>
          <a:prstGeom prst="rect">
            <a:avLst/>
          </a:prstGeom>
        </p:spPr>
      </p:pic>
      <p:sp>
        <p:nvSpPr>
          <p:cNvPr id="10" name="TextBox 9"/>
          <p:cNvSpPr txBox="1"/>
          <p:nvPr/>
        </p:nvSpPr>
        <p:spPr>
          <a:xfrm>
            <a:off x="914400" y="4023360"/>
            <a:ext cx="10362895" cy="960120"/>
          </a:xfrm>
          <a:prstGeom prst="rect">
            <a:avLst/>
          </a:prstGeom>
          <a:noFill/>
        </p:spPr>
        <p:txBody>
          <a:bodyPr wrap="square" lIns="0" rIns="0" tIns="0" bIns="0" anchor="t">
            <a:spAutoFit/>
          </a:bodyPr>
          <a:lstStyle/>
          <a:p>
            <a:pPr algn="ctr">
              <a:lnSpc>
                <a:spcPct val="112000"/>
              </a:lnSpc>
              <a:spcBef>
                <a:spcPts val="0"/>
              </a:spcBef>
              <a:spcAft>
                <a:spcPts val="0"/>
              </a:spcAft>
            </a:pPr>
            <a:r>
              <a:rPr sz="2700" b="1" i="0">
                <a:solidFill>
                  <a:srgbClr val="FFFFFF"/>
                </a:solidFill>
                <a:latin typeface="Cambria"/>
              </a:rPr>
              <a:t>Conception et réalisation d'une solution SaaS de gestion
pour les couturiers du Sénégal</a:t>
            </a:r>
          </a:p>
        </p:txBody>
      </p:sp>
      <p:sp>
        <p:nvSpPr>
          <p:cNvPr id="11" name="TextBox 10"/>
          <p:cNvSpPr txBox="1"/>
          <p:nvPr/>
        </p:nvSpPr>
        <p:spPr>
          <a:xfrm>
            <a:off x="914400" y="5074920"/>
            <a:ext cx="10362895" cy="457200"/>
          </a:xfrm>
          <a:prstGeom prst="rect">
            <a:avLst/>
          </a:prstGeom>
          <a:noFill/>
        </p:spPr>
        <p:txBody>
          <a:bodyPr wrap="square" lIns="0" rIns="0" tIns="0" bIns="0" anchor="t">
            <a:spAutoFit/>
          </a:bodyPr>
          <a:lstStyle/>
          <a:p>
            <a:pPr algn="ctr">
              <a:lnSpc>
                <a:spcPct val="100000"/>
              </a:lnSpc>
              <a:spcBef>
                <a:spcPts val="0"/>
              </a:spcBef>
              <a:spcAft>
                <a:spcPts val="0"/>
              </a:spcAft>
            </a:pPr>
            <a:r>
              <a:rPr sz="1900" b="0" i="1">
                <a:solidFill>
                  <a:srgbClr val="E6BD7C"/>
                </a:solidFill>
                <a:latin typeface="Cambria"/>
              </a:rPr>
              <a:t>Cas de Kayñiawlu</a:t>
            </a:r>
          </a:p>
        </p:txBody>
      </p:sp>
      <p:sp>
        <p:nvSpPr>
          <p:cNvPr id="12" name="TextBox 11"/>
          <p:cNvSpPr txBox="1"/>
          <p:nvPr/>
        </p:nvSpPr>
        <p:spPr>
          <a:xfrm>
            <a:off x="914400" y="5742432"/>
            <a:ext cx="10362895" cy="320040"/>
          </a:xfrm>
          <a:prstGeom prst="rect">
            <a:avLst/>
          </a:prstGeom>
          <a:noFill/>
        </p:spPr>
        <p:txBody>
          <a:bodyPr wrap="square" lIns="0" rIns="0" tIns="0" bIns="0" anchor="t">
            <a:spAutoFit/>
          </a:bodyPr>
          <a:lstStyle/>
          <a:p>
            <a:pPr algn="ctr">
              <a:lnSpc>
                <a:spcPct val="100000"/>
              </a:lnSpc>
              <a:spcBef>
                <a:spcPts val="0"/>
              </a:spcBef>
              <a:spcAft>
                <a:spcPts val="0"/>
              </a:spcAft>
            </a:pPr>
            <a:r>
              <a:rPr sz="1250" b="0" i="0">
                <a:solidFill>
                  <a:srgbClr val="A7BCB1"/>
                </a:solidFill>
                <a:latin typeface="Calibri"/>
              </a:rPr>
              <a:t>Présenté et soutenu par </a:t>
            </a:r>
            <a:r>
              <a:rPr sz="1250" b="1" i="0">
                <a:solidFill>
                  <a:srgbClr val="FFFFFF"/>
                </a:solidFill>
                <a:latin typeface="Calibri"/>
              </a:rPr>
              <a:t>Adorand Jacques Merveille DEMBI</a:t>
            </a:r>
          </a:p>
        </p:txBody>
      </p:sp>
      <p:sp>
        <p:nvSpPr>
          <p:cNvPr id="13" name="TextBox 12"/>
          <p:cNvSpPr txBox="1"/>
          <p:nvPr/>
        </p:nvSpPr>
        <p:spPr>
          <a:xfrm>
            <a:off x="914400" y="6053328"/>
            <a:ext cx="10362895" cy="320040"/>
          </a:xfrm>
          <a:prstGeom prst="rect">
            <a:avLst/>
          </a:prstGeom>
          <a:noFill/>
        </p:spPr>
        <p:txBody>
          <a:bodyPr wrap="square" lIns="0" rIns="0" tIns="0" bIns="0" anchor="t">
            <a:spAutoFit/>
          </a:bodyPr>
          <a:lstStyle/>
          <a:p>
            <a:pPr algn="ctr">
              <a:lnSpc>
                <a:spcPct val="100000"/>
              </a:lnSpc>
              <a:spcBef>
                <a:spcPts val="0"/>
              </a:spcBef>
              <a:spcAft>
                <a:spcPts val="0"/>
              </a:spcAft>
            </a:pPr>
            <a:r>
              <a:rPr sz="1150" b="0" i="0">
                <a:solidFill>
                  <a:srgbClr val="A7BCB1"/>
                </a:solidFill>
                <a:latin typeface="Calibri"/>
              </a:rPr>
              <a:t>Sous la direction de </a:t>
            </a:r>
            <a:r>
              <a:rPr sz="1150" b="1" i="0">
                <a:solidFill>
                  <a:srgbClr val="FFFFFF"/>
                </a:solidFill>
                <a:latin typeface="Calibri"/>
              </a:rPr>
              <a:t>M. Matar THIOYE</a:t>
            </a:r>
            <a:r>
              <a:rPr sz="1150" b="0" i="0">
                <a:solidFill>
                  <a:srgbClr val="A7BCB1"/>
                </a:solidFill>
                <a:latin typeface="Calibri"/>
              </a:rPr>
              <a:t>, Sénior Développeur</a:t>
            </a:r>
          </a:p>
        </p:txBody>
      </p:sp>
      <p:sp>
        <p:nvSpPr>
          <p:cNvPr id="14" name="TextBox 13"/>
          <p:cNvSpPr txBox="1"/>
          <p:nvPr/>
        </p:nvSpPr>
        <p:spPr>
          <a:xfrm>
            <a:off x="914400" y="6364224"/>
            <a:ext cx="10362895" cy="320040"/>
          </a:xfrm>
          <a:prstGeom prst="rect">
            <a:avLst/>
          </a:prstGeom>
          <a:noFill/>
        </p:spPr>
        <p:txBody>
          <a:bodyPr wrap="square" lIns="0" rIns="0" tIns="0" bIns="0" anchor="t">
            <a:spAutoFit/>
          </a:bodyPr>
          <a:lstStyle/>
          <a:p>
            <a:pPr algn="ctr">
              <a:lnSpc>
                <a:spcPct val="100000"/>
              </a:lnSpc>
              <a:spcBef>
                <a:spcPts val="0"/>
              </a:spcBef>
              <a:spcAft>
                <a:spcPts val="0"/>
              </a:spcAft>
            </a:pPr>
            <a:r>
              <a:rPr sz="1100" b="0" i="0">
                <a:solidFill>
                  <a:srgbClr val="A7BCB1"/>
                </a:solidFill>
                <a:latin typeface="Calibri"/>
              </a:rPr>
              <a:t>Institut Supérieur d'Informatique (ISI) · Année académique 2017 – 2018</a:t>
            </a:r>
          </a:p>
        </p:txBody>
      </p:sp>
    </p:spTree>
  </p:cSld>
  <p:clrMapOvr>
    <a:masterClrMapping/>
  </p:clrMapOvr>
  <p:transition spd="slow">
    <p:fade/>
  </p:transition>
  <p:timing>
    <p:tnLst>
      <p:par>
        <p:cTn id="128" dur="indefinite" restart="never" nodeType="tmRoot">
          <p:childTnLst>
            <p:seq concurrent="1" nextAc="seek">
              <p:cTn id="129" dur="indefinite" nodeType="mainSeq">
                <p:childTnLst>
                  <p:par>
                    <p:cTn id="130" fill="hold">
                      <p:stCondLst>
                        <p:cond delay="0"/>
                      </p:stCondLst>
                      <p:childTnLst>
                        <p:par>
                          <p:cTn id="101" presetID="10" presetClass="entr" presetSubtype="0" fill="hold" grpId="0" nodeType="afterEffect">
                            <p:stCondLst>
                              <p:cond delay="0"/>
                            </p:stCondLst>
                            <p:childTnLst>
                              <p:set>
                                <p:cBhvr>
                                  <p:cTn id="102" dur="1" fill="hold">
                                    <p:stCondLst>
                                      <p:cond delay="0"/>
                                    </p:stCondLst>
                                  </p:cTn>
                                  <p:tgtEl>
                                    <p:spTgt spid="6"/>
                                  </p:tgtEl>
                                  <p:attrNameLst>
                                    <p:attrName>style.visibility</p:attrName>
                                  </p:attrNameLst>
                                </p:cBhvr>
                                <p:to>
                                  <p:strVal val="visible"/>
                                </p:to>
                              </p:set>
                              <p:animEffect transition="in" filter="fade">
                                <p:cBhvr>
                                  <p:cTn id="103" dur="550"/>
                                  <p:tgtEl>
                                    <p:spTgt spid="6"/>
                                  </p:tgtEl>
                                </p:cBhvr>
                              </p:animEffect>
                            </p:childTnLst>
                          </p:cTn>
                        </p:par>
                        <p:par>
                          <p:cTn id="104" presetID="10" presetClass="entr" presetSubtype="0" fill="hold" grpId="0" nodeType="afterEffect">
                            <p:stCondLst>
                              <p:cond delay="260"/>
                            </p:stCondLst>
                            <p:childTnLst>
                              <p:set>
                                <p:cBhvr>
                                  <p:cTn id="105" dur="1" fill="hold">
                                    <p:stCondLst>
                                      <p:cond delay="0"/>
                                    </p:stCondLst>
                                  </p:cTn>
                                  <p:tgtEl>
                                    <p:spTgt spid="8"/>
                                  </p:tgtEl>
                                  <p:attrNameLst>
                                    <p:attrName>style.visibility</p:attrName>
                                  </p:attrNameLst>
                                </p:cBhvr>
                                <p:to>
                                  <p:strVal val="visible"/>
                                </p:to>
                              </p:set>
                              <p:animEffect transition="in" filter="fade">
                                <p:cBhvr>
                                  <p:cTn id="106" dur="550"/>
                                  <p:tgtEl>
                                    <p:spTgt spid="8"/>
                                  </p:tgtEl>
                                </p:cBhvr>
                              </p:animEffect>
                            </p:childTnLst>
                          </p:cTn>
                        </p:par>
                        <p:par>
                          <p:cTn id="107" presetID="10" presetClass="entr" presetSubtype="0" fill="hold" grpId="0" nodeType="afterEffect">
                            <p:stCondLst>
                              <p:cond delay="260"/>
                            </p:stCondLst>
                            <p:childTnLst>
                              <p:set>
                                <p:cBhvr>
                                  <p:cTn id="108" dur="1" fill="hold">
                                    <p:stCondLst>
                                      <p:cond delay="0"/>
                                    </p:stCondLst>
                                  </p:cTn>
                                  <p:tgtEl>
                                    <p:spTgt spid="9"/>
                                  </p:tgtEl>
                                  <p:attrNameLst>
                                    <p:attrName>style.visibility</p:attrName>
                                  </p:attrNameLst>
                                </p:cBhvr>
                                <p:to>
                                  <p:strVal val="visible"/>
                                </p:to>
                              </p:set>
                              <p:animEffect transition="in" filter="fade">
                                <p:cBhvr>
                                  <p:cTn id="109" dur="550"/>
                                  <p:tgtEl>
                                    <p:spTgt spid="9"/>
                                  </p:tgtEl>
                                </p:cBhvr>
                              </p:animEffect>
                            </p:childTnLst>
                          </p:cTn>
                        </p:par>
                        <p:par>
                          <p:cTn id="110" presetID="10" presetClass="entr" presetSubtype="0" fill="hold" grpId="0" nodeType="afterEffect">
                            <p:stCondLst>
                              <p:cond delay="520"/>
                            </p:stCondLst>
                            <p:childTnLst>
                              <p:set>
                                <p:cBhvr>
                                  <p:cTn id="111" dur="1" fill="hold">
                                    <p:stCondLst>
                                      <p:cond delay="0"/>
                                    </p:stCondLst>
                                  </p:cTn>
                                  <p:tgtEl>
                                    <p:spTgt spid="7"/>
                                  </p:tgtEl>
                                  <p:attrNameLst>
                                    <p:attrName>style.visibility</p:attrName>
                                  </p:attrNameLst>
                                </p:cBhvr>
                                <p:to>
                                  <p:strVal val="visible"/>
                                </p:to>
                              </p:set>
                              <p:animEffect transition="in" filter="fade">
                                <p:cBhvr>
                                  <p:cTn id="112" dur="550"/>
                                  <p:tgtEl>
                                    <p:spTgt spid="7"/>
                                  </p:tgtEl>
                                </p:cBhvr>
                              </p:animEffect>
                            </p:childTnLst>
                          </p:cTn>
                        </p:par>
                        <p:par>
                          <p:cTn id="113" presetID="10" presetClass="entr" presetSubtype="0" fill="hold" grpId="0" nodeType="afterEffect">
                            <p:stCondLst>
                              <p:cond delay="780"/>
                            </p:stCondLst>
                            <p:childTnLst>
                              <p:set>
                                <p:cBhvr>
                                  <p:cTn id="114" dur="1" fill="hold">
                                    <p:stCondLst>
                                      <p:cond delay="0"/>
                                    </p:stCondLst>
                                  </p:cTn>
                                  <p:tgtEl>
                                    <p:spTgt spid="10"/>
                                  </p:tgtEl>
                                  <p:attrNameLst>
                                    <p:attrName>style.visibility</p:attrName>
                                  </p:attrNameLst>
                                </p:cBhvr>
                                <p:to>
                                  <p:strVal val="visible"/>
                                </p:to>
                              </p:set>
                              <p:animEffect transition="in" filter="fade">
                                <p:cBhvr>
                                  <p:cTn id="115" dur="550"/>
                                  <p:tgtEl>
                                    <p:spTgt spid="10"/>
                                  </p:tgtEl>
                                </p:cBhvr>
                              </p:animEffect>
                            </p:childTnLst>
                          </p:cTn>
                        </p:par>
                        <p:par>
                          <p:cTn id="116" presetID="10" presetClass="entr" presetSubtype="0" fill="hold" grpId="0" nodeType="afterEffect">
                            <p:stCondLst>
                              <p:cond delay="1040"/>
                            </p:stCondLst>
                            <p:childTnLst>
                              <p:set>
                                <p:cBhvr>
                                  <p:cTn id="117" dur="1" fill="hold">
                                    <p:stCondLst>
                                      <p:cond delay="0"/>
                                    </p:stCondLst>
                                  </p:cTn>
                                  <p:tgtEl>
                                    <p:spTgt spid="11"/>
                                  </p:tgtEl>
                                  <p:attrNameLst>
                                    <p:attrName>style.visibility</p:attrName>
                                  </p:attrNameLst>
                                </p:cBhvr>
                                <p:to>
                                  <p:strVal val="visible"/>
                                </p:to>
                              </p:set>
                              <p:animEffect transition="in" filter="fade">
                                <p:cBhvr>
                                  <p:cTn id="118" dur="550"/>
                                  <p:tgtEl>
                                    <p:spTgt spid="11"/>
                                  </p:tgtEl>
                                </p:cBhvr>
                              </p:animEffect>
                            </p:childTnLst>
                          </p:cTn>
                        </p:par>
                        <p:par>
                          <p:cTn id="119" presetID="10" presetClass="entr" presetSubtype="0" fill="hold" grpId="0" nodeType="afterEffect">
                            <p:stCondLst>
                              <p:cond delay="1300"/>
                            </p:stCondLst>
                            <p:childTnLst>
                              <p:set>
                                <p:cBhvr>
                                  <p:cTn id="120" dur="1" fill="hold">
                                    <p:stCondLst>
                                      <p:cond delay="0"/>
                                    </p:stCondLst>
                                  </p:cTn>
                                  <p:tgtEl>
                                    <p:spTgt spid="12"/>
                                  </p:tgtEl>
                                  <p:attrNameLst>
                                    <p:attrName>style.visibility</p:attrName>
                                  </p:attrNameLst>
                                </p:cBhvr>
                                <p:to>
                                  <p:strVal val="visible"/>
                                </p:to>
                              </p:set>
                              <p:animEffect transition="in" filter="fade">
                                <p:cBhvr>
                                  <p:cTn id="121" dur="550"/>
                                  <p:tgtEl>
                                    <p:spTgt spid="12"/>
                                  </p:tgtEl>
                                </p:cBhvr>
                              </p:animEffect>
                            </p:childTnLst>
                          </p:cTn>
                        </p:par>
                        <p:par>
                          <p:cTn id="122" presetID="10" presetClass="entr" presetSubtype="0" fill="hold" grpId="0" nodeType="afterEffect">
                            <p:stCondLst>
                              <p:cond delay="1300"/>
                            </p:stCondLst>
                            <p:childTnLst>
                              <p:set>
                                <p:cBhvr>
                                  <p:cTn id="123" dur="1" fill="hold">
                                    <p:stCondLst>
                                      <p:cond delay="0"/>
                                    </p:stCondLst>
                                  </p:cTn>
                                  <p:tgtEl>
                                    <p:spTgt spid="13"/>
                                  </p:tgtEl>
                                  <p:attrNameLst>
                                    <p:attrName>style.visibility</p:attrName>
                                  </p:attrNameLst>
                                </p:cBhvr>
                                <p:to>
                                  <p:strVal val="visible"/>
                                </p:to>
                              </p:set>
                              <p:animEffect transition="in" filter="fade">
                                <p:cBhvr>
                                  <p:cTn id="124" dur="550"/>
                                  <p:tgtEl>
                                    <p:spTgt spid="13"/>
                                  </p:tgtEl>
                                </p:cBhvr>
                              </p:animEffect>
                            </p:childTnLst>
                          </p:cTn>
                        </p:par>
                        <p:par>
                          <p:cTn id="125" presetID="10" presetClass="entr" presetSubtype="0" fill="hold" grpId="0" nodeType="afterEffect">
                            <p:stCondLst>
                              <p:cond delay="1300"/>
                            </p:stCondLst>
                            <p:childTnLst>
                              <p:set>
                                <p:cBhvr>
                                  <p:cTn id="126" dur="1" fill="hold">
                                    <p:stCondLst>
                                      <p:cond delay="0"/>
                                    </p:stCondLst>
                                  </p:cTn>
                                  <p:tgtEl>
                                    <p:spTgt spid="14"/>
                                  </p:tgtEl>
                                  <p:attrNameLst>
                                    <p:attrName>style.visibility</p:attrName>
                                  </p:attrNameLst>
                                </p:cBhvr>
                                <p:to>
                                  <p:strVal val="visible"/>
                                </p:to>
                              </p:set>
                              <p:animEffect transition="in" filter="fade">
                                <p:cBhvr>
                                  <p:cTn id="127" dur="550"/>
                                  <p:tgtEl>
                                    <p:spTgt spid="14"/>
                                  </p:tgtEl>
                                </p:cBhvr>
                              </p:animEffect>
                            </p:childTnLst>
                          </p:cTn>
                        </p:par>
                      </p:childTnLst>
                    </p:cTn>
                  </p:par>
                </p:childTnLst>
              </p:cTn>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881360" cy="292608"/>
          </a:xfrm>
          <a:prstGeom prst="rect">
            <a:avLst/>
          </a:prstGeom>
          <a:noFill/>
        </p:spPr>
        <p:txBody>
          <a:bodyPr wrap="square" lIns="0" rIns="0" tIns="0" bIns="0" anchor="t">
            <a:spAutoFit/>
          </a:bodyPr>
          <a:lstStyle/>
          <a:p>
            <a:pPr algn="l">
              <a:lnSpc>
                <a:spcPct val="100000"/>
              </a:lnSpc>
              <a:spcBef>
                <a:spcPts val="0"/>
              </a:spcBef>
              <a:spcAft>
                <a:spcPts val="0"/>
              </a:spcAft>
            </a:pPr>
            <a:r>
              <a:rPr sz="1250" b="1" i="0">
                <a:solidFill>
                  <a:srgbClr val="B8863B"/>
                </a:solidFill>
                <a:latin typeface="Calibri"/>
              </a:rPr>
              <a:t>SOMMAIRE</a:t>
            </a:r>
          </a:p>
        </p:txBody>
      </p:sp>
      <p:sp>
        <p:nvSpPr>
          <p:cNvPr id="3" name="TextBox 2"/>
          <p:cNvSpPr txBox="1"/>
          <p:nvPr/>
        </p:nvSpPr>
        <p:spPr>
          <a:xfrm>
            <a:off x="640080" y="786384"/>
            <a:ext cx="10881360" cy="777240"/>
          </a:xfrm>
          <a:prstGeom prst="rect">
            <a:avLst/>
          </a:prstGeom>
          <a:noFill/>
        </p:spPr>
        <p:txBody>
          <a:bodyPr wrap="square" lIns="0" rIns="0" tIns="0" bIns="0" anchor="t">
            <a:spAutoFit/>
          </a:bodyPr>
          <a:lstStyle/>
          <a:p>
            <a:pPr algn="l">
              <a:lnSpc>
                <a:spcPct val="102000"/>
              </a:lnSpc>
              <a:spcBef>
                <a:spcPts val="0"/>
              </a:spcBef>
              <a:spcAft>
                <a:spcPts val="0"/>
              </a:spcAft>
            </a:pPr>
            <a:r>
              <a:rPr sz="3000" b="1" i="0">
                <a:solidFill>
                  <a:srgbClr val="0F5B4C"/>
                </a:solidFill>
                <a:latin typeface="Cambria"/>
              </a:rPr>
              <a:t>Plan de la présentation</a:t>
            </a:r>
          </a:p>
        </p:txBody>
      </p:sp>
      <p:sp>
        <p:nvSpPr>
          <p:cNvPr id="4" name="Oval 3"/>
          <p:cNvSpPr/>
          <p:nvPr/>
        </p:nvSpPr>
        <p:spPr>
          <a:xfrm>
            <a:off x="731520" y="1655064"/>
            <a:ext cx="566928" cy="566928"/>
          </a:xfrm>
          <a:prstGeom prst="ellipse">
            <a:avLst/>
          </a:prstGeom>
          <a:solidFill>
            <a:srgbClr val="0F5B4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600" b="1">
                <a:solidFill>
                  <a:srgbClr val="E6BD7C"/>
                </a:solidFill>
                <a:latin typeface="Calibri"/>
              </a:rPr>
              <a:t>01</a:t>
            </a:r>
          </a:p>
        </p:txBody>
      </p:sp>
      <p:sp>
        <p:nvSpPr>
          <p:cNvPr id="5" name="TextBox 4"/>
          <p:cNvSpPr txBox="1"/>
          <p:nvPr/>
        </p:nvSpPr>
        <p:spPr>
          <a:xfrm>
            <a:off x="1600200" y="1581912"/>
            <a:ext cx="8961120" cy="411480"/>
          </a:xfrm>
          <a:prstGeom prst="rect">
            <a:avLst/>
          </a:prstGeom>
          <a:noFill/>
        </p:spPr>
        <p:txBody>
          <a:bodyPr wrap="square" lIns="0" rIns="0" tIns="0" bIns="0" anchor="t">
            <a:spAutoFit/>
          </a:bodyPr>
          <a:lstStyle/>
          <a:p>
            <a:pPr algn="l">
              <a:lnSpc>
                <a:spcPct val="100000"/>
              </a:lnSpc>
              <a:spcBef>
                <a:spcPts val="0"/>
              </a:spcBef>
              <a:spcAft>
                <a:spcPts val="0"/>
              </a:spcAft>
            </a:pPr>
            <a:r>
              <a:rPr sz="1900" b="1" i="0">
                <a:solidFill>
                  <a:srgbClr val="0F5B4C"/>
                </a:solidFill>
                <a:latin typeface="Cambria"/>
              </a:rPr>
              <a:t>Introduction générale</a:t>
            </a:r>
          </a:p>
        </p:txBody>
      </p:sp>
      <p:sp>
        <p:nvSpPr>
          <p:cNvPr id="6" name="TextBox 5"/>
          <p:cNvSpPr txBox="1"/>
          <p:nvPr/>
        </p:nvSpPr>
        <p:spPr>
          <a:xfrm>
            <a:off x="1600200" y="2002536"/>
            <a:ext cx="8961120" cy="365760"/>
          </a:xfrm>
          <a:prstGeom prst="rect">
            <a:avLst/>
          </a:prstGeom>
          <a:noFill/>
        </p:spPr>
        <p:txBody>
          <a:bodyPr wrap="square" lIns="0" rIns="0" tIns="0" bIns="0" anchor="t">
            <a:spAutoFit/>
          </a:bodyPr>
          <a:lstStyle/>
          <a:p>
            <a:pPr algn="l">
              <a:lnSpc>
                <a:spcPct val="100000"/>
              </a:lnSpc>
              <a:spcBef>
                <a:spcPts val="0"/>
              </a:spcBef>
              <a:spcAft>
                <a:spcPts val="0"/>
              </a:spcAft>
            </a:pPr>
            <a:r>
              <a:rPr sz="1250" b="0" i="0">
                <a:solidFill>
                  <a:srgbClr val="68796F"/>
                </a:solidFill>
                <a:latin typeface="Calibri"/>
              </a:rPr>
              <a:t>Contexte, problématique, objectifs et intérêts du sujet</a:t>
            </a:r>
          </a:p>
        </p:txBody>
      </p:sp>
      <p:sp>
        <p:nvSpPr>
          <p:cNvPr id="7" name="Oval 6"/>
          <p:cNvSpPr/>
          <p:nvPr/>
        </p:nvSpPr>
        <p:spPr>
          <a:xfrm>
            <a:off x="731520" y="2587752"/>
            <a:ext cx="566928" cy="566928"/>
          </a:xfrm>
          <a:prstGeom prst="ellipse">
            <a:avLst/>
          </a:prstGeom>
          <a:solidFill>
            <a:srgbClr val="0F5B4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600" b="1">
                <a:solidFill>
                  <a:srgbClr val="E6BD7C"/>
                </a:solidFill>
                <a:latin typeface="Calibri"/>
              </a:rPr>
              <a:t>02</a:t>
            </a:r>
          </a:p>
        </p:txBody>
      </p:sp>
      <p:sp>
        <p:nvSpPr>
          <p:cNvPr id="8" name="TextBox 7"/>
          <p:cNvSpPr txBox="1"/>
          <p:nvPr/>
        </p:nvSpPr>
        <p:spPr>
          <a:xfrm>
            <a:off x="1600200" y="2514600"/>
            <a:ext cx="8961120" cy="411480"/>
          </a:xfrm>
          <a:prstGeom prst="rect">
            <a:avLst/>
          </a:prstGeom>
          <a:noFill/>
        </p:spPr>
        <p:txBody>
          <a:bodyPr wrap="square" lIns="0" rIns="0" tIns="0" bIns="0" anchor="t">
            <a:spAutoFit/>
          </a:bodyPr>
          <a:lstStyle/>
          <a:p>
            <a:pPr algn="l">
              <a:lnSpc>
                <a:spcPct val="100000"/>
              </a:lnSpc>
              <a:spcBef>
                <a:spcPts val="0"/>
              </a:spcBef>
              <a:spcAft>
                <a:spcPts val="0"/>
              </a:spcAft>
            </a:pPr>
            <a:r>
              <a:rPr sz="1900" b="1" i="0">
                <a:solidFill>
                  <a:srgbClr val="0F5B4C"/>
                </a:solidFill>
                <a:latin typeface="Cambria"/>
              </a:rPr>
              <a:t>Travaux similaires</a:t>
            </a:r>
          </a:p>
        </p:txBody>
      </p:sp>
      <p:sp>
        <p:nvSpPr>
          <p:cNvPr id="9" name="TextBox 8"/>
          <p:cNvSpPr txBox="1"/>
          <p:nvPr/>
        </p:nvSpPr>
        <p:spPr>
          <a:xfrm>
            <a:off x="1600200" y="2935224"/>
            <a:ext cx="8961120" cy="365760"/>
          </a:xfrm>
          <a:prstGeom prst="rect">
            <a:avLst/>
          </a:prstGeom>
          <a:noFill/>
        </p:spPr>
        <p:txBody>
          <a:bodyPr wrap="square" lIns="0" rIns="0" tIns="0" bIns="0" anchor="t">
            <a:spAutoFit/>
          </a:bodyPr>
          <a:lstStyle/>
          <a:p>
            <a:pPr algn="l">
              <a:lnSpc>
                <a:spcPct val="100000"/>
              </a:lnSpc>
              <a:spcBef>
                <a:spcPts val="0"/>
              </a:spcBef>
              <a:spcAft>
                <a:spcPts val="0"/>
              </a:spcAft>
            </a:pPr>
            <a:r>
              <a:rPr sz="1250" b="0" i="0">
                <a:solidFill>
                  <a:srgbClr val="68796F"/>
                </a:solidFill>
                <a:latin typeface="Calibri"/>
              </a:rPr>
              <a:t>Analyse comparative de 12 solutions existantes</a:t>
            </a:r>
          </a:p>
        </p:txBody>
      </p:sp>
      <p:sp>
        <p:nvSpPr>
          <p:cNvPr id="10" name="Oval 9"/>
          <p:cNvSpPr/>
          <p:nvPr/>
        </p:nvSpPr>
        <p:spPr>
          <a:xfrm>
            <a:off x="731520" y="3520440"/>
            <a:ext cx="566928" cy="566928"/>
          </a:xfrm>
          <a:prstGeom prst="ellipse">
            <a:avLst/>
          </a:prstGeom>
          <a:solidFill>
            <a:srgbClr val="0F5B4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600" b="1">
                <a:solidFill>
                  <a:srgbClr val="E6BD7C"/>
                </a:solidFill>
                <a:latin typeface="Calibri"/>
              </a:rPr>
              <a:t>03</a:t>
            </a:r>
          </a:p>
        </p:txBody>
      </p:sp>
      <p:sp>
        <p:nvSpPr>
          <p:cNvPr id="11" name="TextBox 10"/>
          <p:cNvSpPr txBox="1"/>
          <p:nvPr/>
        </p:nvSpPr>
        <p:spPr>
          <a:xfrm>
            <a:off x="1600200" y="3447288"/>
            <a:ext cx="8961120" cy="411480"/>
          </a:xfrm>
          <a:prstGeom prst="rect">
            <a:avLst/>
          </a:prstGeom>
          <a:noFill/>
        </p:spPr>
        <p:txBody>
          <a:bodyPr wrap="square" lIns="0" rIns="0" tIns="0" bIns="0" anchor="t">
            <a:spAutoFit/>
          </a:bodyPr>
          <a:lstStyle/>
          <a:p>
            <a:pPr algn="l">
              <a:lnSpc>
                <a:spcPct val="100000"/>
              </a:lnSpc>
              <a:spcBef>
                <a:spcPts val="0"/>
              </a:spcBef>
              <a:spcAft>
                <a:spcPts val="0"/>
              </a:spcAft>
            </a:pPr>
            <a:r>
              <a:rPr sz="1900" b="1" i="0">
                <a:solidFill>
                  <a:srgbClr val="0F5B4C"/>
                </a:solidFill>
                <a:latin typeface="Cambria"/>
              </a:rPr>
              <a:t>La solution Kayñiawlu</a:t>
            </a:r>
          </a:p>
        </p:txBody>
      </p:sp>
      <p:sp>
        <p:nvSpPr>
          <p:cNvPr id="12" name="TextBox 11"/>
          <p:cNvSpPr txBox="1"/>
          <p:nvPr/>
        </p:nvSpPr>
        <p:spPr>
          <a:xfrm>
            <a:off x="1600200" y="3867912"/>
            <a:ext cx="8961120" cy="365760"/>
          </a:xfrm>
          <a:prstGeom prst="rect">
            <a:avLst/>
          </a:prstGeom>
          <a:noFill/>
        </p:spPr>
        <p:txBody>
          <a:bodyPr wrap="square" lIns="0" rIns="0" tIns="0" bIns="0" anchor="t">
            <a:spAutoFit/>
          </a:bodyPr>
          <a:lstStyle/>
          <a:p>
            <a:pPr algn="l">
              <a:lnSpc>
                <a:spcPct val="100000"/>
              </a:lnSpc>
              <a:spcBef>
                <a:spcPts val="0"/>
              </a:spcBef>
              <a:spcAft>
                <a:spcPts val="0"/>
              </a:spcAft>
            </a:pPr>
            <a:r>
              <a:rPr sz="1250" b="0" i="0">
                <a:solidFill>
                  <a:srgbClr val="68796F"/>
                </a:solidFill>
                <a:latin typeface="Calibri"/>
              </a:rPr>
              <a:t>Cas d'utilisation et diagramme de classes</a:t>
            </a:r>
          </a:p>
        </p:txBody>
      </p:sp>
      <p:sp>
        <p:nvSpPr>
          <p:cNvPr id="13" name="Oval 12"/>
          <p:cNvSpPr/>
          <p:nvPr/>
        </p:nvSpPr>
        <p:spPr>
          <a:xfrm>
            <a:off x="731520" y="4453128"/>
            <a:ext cx="566928" cy="566928"/>
          </a:xfrm>
          <a:prstGeom prst="ellipse">
            <a:avLst/>
          </a:prstGeom>
          <a:solidFill>
            <a:srgbClr val="0F5B4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600" b="1">
                <a:solidFill>
                  <a:srgbClr val="E6BD7C"/>
                </a:solidFill>
                <a:latin typeface="Calibri"/>
              </a:rPr>
              <a:t>04</a:t>
            </a:r>
          </a:p>
        </p:txBody>
      </p:sp>
      <p:sp>
        <p:nvSpPr>
          <p:cNvPr id="14" name="TextBox 13"/>
          <p:cNvSpPr txBox="1"/>
          <p:nvPr/>
        </p:nvSpPr>
        <p:spPr>
          <a:xfrm>
            <a:off x="1600200" y="4379976"/>
            <a:ext cx="8961120" cy="411480"/>
          </a:xfrm>
          <a:prstGeom prst="rect">
            <a:avLst/>
          </a:prstGeom>
          <a:noFill/>
        </p:spPr>
        <p:txBody>
          <a:bodyPr wrap="square" lIns="0" rIns="0" tIns="0" bIns="0" anchor="t">
            <a:spAutoFit/>
          </a:bodyPr>
          <a:lstStyle/>
          <a:p>
            <a:pPr algn="l">
              <a:lnSpc>
                <a:spcPct val="100000"/>
              </a:lnSpc>
              <a:spcBef>
                <a:spcPts val="0"/>
              </a:spcBef>
              <a:spcAft>
                <a:spcPts val="0"/>
              </a:spcAft>
            </a:pPr>
            <a:r>
              <a:rPr sz="1900" b="1" i="0">
                <a:solidFill>
                  <a:srgbClr val="0F5B4C"/>
                </a:solidFill>
                <a:latin typeface="Cambria"/>
              </a:rPr>
              <a:t>Réalisation</a:t>
            </a:r>
          </a:p>
        </p:txBody>
      </p:sp>
      <p:sp>
        <p:nvSpPr>
          <p:cNvPr id="15" name="TextBox 14"/>
          <p:cNvSpPr txBox="1"/>
          <p:nvPr/>
        </p:nvSpPr>
        <p:spPr>
          <a:xfrm>
            <a:off x="1600200" y="4800600"/>
            <a:ext cx="8961120" cy="365760"/>
          </a:xfrm>
          <a:prstGeom prst="rect">
            <a:avLst/>
          </a:prstGeom>
          <a:noFill/>
        </p:spPr>
        <p:txBody>
          <a:bodyPr wrap="square" lIns="0" rIns="0" tIns="0" bIns="0" anchor="t">
            <a:spAutoFit/>
          </a:bodyPr>
          <a:lstStyle/>
          <a:p>
            <a:pPr algn="l">
              <a:lnSpc>
                <a:spcPct val="100000"/>
              </a:lnSpc>
              <a:spcBef>
                <a:spcPts val="0"/>
              </a:spcBef>
              <a:spcAft>
                <a:spcPts val="0"/>
              </a:spcAft>
            </a:pPr>
            <a:r>
              <a:rPr sz="1250" b="0" i="0">
                <a:solidFill>
                  <a:srgbClr val="68796F"/>
                </a:solidFill>
                <a:latin typeface="Calibri"/>
              </a:rPr>
              <a:t>Stack technique, architecture et déploiement</a:t>
            </a:r>
          </a:p>
        </p:txBody>
      </p:sp>
      <p:sp>
        <p:nvSpPr>
          <p:cNvPr id="16" name="Oval 15"/>
          <p:cNvSpPr/>
          <p:nvPr/>
        </p:nvSpPr>
        <p:spPr>
          <a:xfrm>
            <a:off x="731520" y="5385816"/>
            <a:ext cx="566928" cy="566928"/>
          </a:xfrm>
          <a:prstGeom prst="ellipse">
            <a:avLst/>
          </a:prstGeom>
          <a:solidFill>
            <a:srgbClr val="0F5B4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600" b="1">
                <a:solidFill>
                  <a:srgbClr val="E6BD7C"/>
                </a:solidFill>
                <a:latin typeface="Calibri"/>
              </a:rPr>
              <a:t>05</a:t>
            </a:r>
          </a:p>
        </p:txBody>
      </p:sp>
      <p:sp>
        <p:nvSpPr>
          <p:cNvPr id="17" name="TextBox 16"/>
          <p:cNvSpPr txBox="1"/>
          <p:nvPr/>
        </p:nvSpPr>
        <p:spPr>
          <a:xfrm>
            <a:off x="1600200" y="5312664"/>
            <a:ext cx="8961120" cy="411480"/>
          </a:xfrm>
          <a:prstGeom prst="rect">
            <a:avLst/>
          </a:prstGeom>
          <a:noFill/>
        </p:spPr>
        <p:txBody>
          <a:bodyPr wrap="square" lIns="0" rIns="0" tIns="0" bIns="0" anchor="t">
            <a:spAutoFit/>
          </a:bodyPr>
          <a:lstStyle/>
          <a:p>
            <a:pPr algn="l">
              <a:lnSpc>
                <a:spcPct val="100000"/>
              </a:lnSpc>
              <a:spcBef>
                <a:spcPts val="0"/>
              </a:spcBef>
              <a:spcAft>
                <a:spcPts val="0"/>
              </a:spcAft>
            </a:pPr>
            <a:r>
              <a:rPr sz="1900" b="1" i="0">
                <a:solidFill>
                  <a:srgbClr val="0F5B4C"/>
                </a:solidFill>
                <a:latin typeface="Cambria"/>
              </a:rPr>
              <a:t>Conclusion</a:t>
            </a:r>
          </a:p>
        </p:txBody>
      </p:sp>
      <p:sp>
        <p:nvSpPr>
          <p:cNvPr id="18" name="TextBox 17"/>
          <p:cNvSpPr txBox="1"/>
          <p:nvPr/>
        </p:nvSpPr>
        <p:spPr>
          <a:xfrm>
            <a:off x="1600200" y="5733288"/>
            <a:ext cx="8961120" cy="365760"/>
          </a:xfrm>
          <a:prstGeom prst="rect">
            <a:avLst/>
          </a:prstGeom>
          <a:noFill/>
        </p:spPr>
        <p:txBody>
          <a:bodyPr wrap="square" lIns="0" rIns="0" tIns="0" bIns="0" anchor="t">
            <a:spAutoFit/>
          </a:bodyPr>
          <a:lstStyle/>
          <a:p>
            <a:pPr algn="l">
              <a:lnSpc>
                <a:spcPct val="100000"/>
              </a:lnSpc>
              <a:spcBef>
                <a:spcPts val="0"/>
              </a:spcBef>
              <a:spcAft>
                <a:spcPts val="0"/>
              </a:spcAft>
            </a:pPr>
            <a:r>
              <a:rPr sz="1250" b="0" i="0">
                <a:solidFill>
                  <a:srgbClr val="68796F"/>
                </a:solidFill>
                <a:latin typeface="Calibri"/>
              </a:rPr>
              <a:t>Résultats atteints, limites et perspectives</a:t>
            </a:r>
          </a:p>
        </p:txBody>
      </p:sp>
      <p:sp>
        <p:nvSpPr>
          <p:cNvPr id="19" name="TextBox 18"/>
          <p:cNvSpPr txBox="1"/>
          <p:nvPr/>
        </p:nvSpPr>
        <p:spPr>
          <a:xfrm>
            <a:off x="640080" y="6519672"/>
            <a:ext cx="7315200" cy="274320"/>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68796F"/>
                </a:solidFill>
                <a:latin typeface="Calibri"/>
              </a:rPr>
              <a:t>Kayñiawlu — Soutenance de mémoire</a:t>
            </a:r>
          </a:p>
        </p:txBody>
      </p:sp>
      <p:sp>
        <p:nvSpPr>
          <p:cNvPr id="20" name="TextBox 19"/>
          <p:cNvSpPr txBox="1"/>
          <p:nvPr/>
        </p:nvSpPr>
        <p:spPr>
          <a:xfrm>
            <a:off x="10180015" y="6519672"/>
            <a:ext cx="1371600" cy="274320"/>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8796F"/>
                </a:solidFill>
                <a:latin typeface="Calibri"/>
              </a:rPr>
              <a:t>2</a:t>
            </a:r>
          </a:p>
        </p:txBody>
      </p:sp>
    </p:spTree>
  </p:cSld>
  <p:clrMapOvr>
    <a:masterClrMapping/>
  </p:clrMapOvr>
  <p:transition spd="med">
    <p:fade/>
  </p:transition>
  <p:timing>
    <p:tnLst>
      <p:par>
        <p:cTn id="146" dur="indefinite" restart="never" nodeType="tmRoot">
          <p:childTnLst>
            <p:seq concurrent="1" nextAc="seek">
              <p:cTn id="147" dur="indefinite" nodeType="mainSeq">
                <p:childTnLst>
                  <p:par>
                    <p:cTn id="148" fill="hold">
                      <p:stCondLst>
                        <p:cond delay="0"/>
                      </p:stCondLst>
                      <p:childTnLst>
                        <p:par>
                          <p:cTn id="101" presetID="10" presetClass="entr" presetSubtype="0" fill="hold" grpId="0" nodeType="afterEffect">
                            <p:stCondLst>
                              <p:cond delay="0"/>
                            </p:stCondLst>
                            <p:childTnLst>
                              <p:set>
                                <p:cBhvr>
                                  <p:cTn id="102" dur="1" fill="hold">
                                    <p:stCondLst>
                                      <p:cond delay="0"/>
                                    </p:stCondLst>
                                  </p:cTn>
                                  <p:tgtEl>
                                    <p:spTgt spid="4"/>
                                  </p:tgtEl>
                                  <p:attrNameLst>
                                    <p:attrName>style.visibility</p:attrName>
                                  </p:attrNameLst>
                                </p:cBhvr>
                                <p:to>
                                  <p:strVal val="visible"/>
                                </p:to>
                              </p:set>
                              <p:animEffect transition="in" filter="fade">
                                <p:cBhvr>
                                  <p:cTn id="103" dur="420"/>
                                  <p:tgtEl>
                                    <p:spTgt spid="4"/>
                                  </p:tgtEl>
                                </p:cBhvr>
                              </p:animEffect>
                            </p:childTnLst>
                          </p:cTn>
                        </p:par>
                        <p:par>
                          <p:cTn id="104" presetID="10" presetClass="entr" presetSubtype="0" fill="hold" grpId="0" nodeType="afterEffect">
                            <p:stCondLst>
                              <p:cond delay="0"/>
                            </p:stCondLst>
                            <p:childTnLst>
                              <p:set>
                                <p:cBhvr>
                                  <p:cTn id="105" dur="1" fill="hold">
                                    <p:stCondLst>
                                      <p:cond delay="0"/>
                                    </p:stCondLst>
                                  </p:cTn>
                                  <p:tgtEl>
                                    <p:spTgt spid="5"/>
                                  </p:tgtEl>
                                  <p:attrNameLst>
                                    <p:attrName>style.visibility</p:attrName>
                                  </p:attrNameLst>
                                </p:cBhvr>
                                <p:to>
                                  <p:strVal val="visible"/>
                                </p:to>
                              </p:set>
                              <p:animEffect transition="in" filter="fade">
                                <p:cBhvr>
                                  <p:cTn id="106" dur="420"/>
                                  <p:tgtEl>
                                    <p:spTgt spid="5"/>
                                  </p:tgtEl>
                                </p:cBhvr>
                              </p:animEffect>
                            </p:childTnLst>
                          </p:cTn>
                        </p:par>
                        <p:par>
                          <p:cTn id="107" presetID="10" presetClass="entr" presetSubtype="0" fill="hold" grpId="0" nodeType="afterEffect">
                            <p:stCondLst>
                              <p:cond delay="0"/>
                            </p:stCondLst>
                            <p:childTnLst>
                              <p:set>
                                <p:cBhvr>
                                  <p:cTn id="108" dur="1" fill="hold">
                                    <p:stCondLst>
                                      <p:cond delay="0"/>
                                    </p:stCondLst>
                                  </p:cTn>
                                  <p:tgtEl>
                                    <p:spTgt spid="6"/>
                                  </p:tgtEl>
                                  <p:attrNameLst>
                                    <p:attrName>style.visibility</p:attrName>
                                  </p:attrNameLst>
                                </p:cBhvr>
                                <p:to>
                                  <p:strVal val="visible"/>
                                </p:to>
                              </p:set>
                              <p:animEffect transition="in" filter="fade">
                                <p:cBhvr>
                                  <p:cTn id="109" dur="420"/>
                                  <p:tgtEl>
                                    <p:spTgt spid="6"/>
                                  </p:tgtEl>
                                </p:cBhvr>
                              </p:animEffect>
                            </p:childTnLst>
                          </p:cTn>
                        </p:par>
                        <p:par>
                          <p:cTn id="110" presetID="10" presetClass="entr" presetSubtype="0" fill="hold" grpId="0" nodeType="afterEffect">
                            <p:stCondLst>
                              <p:cond delay="160"/>
                            </p:stCondLst>
                            <p:childTnLst>
                              <p:set>
                                <p:cBhvr>
                                  <p:cTn id="111" dur="1" fill="hold">
                                    <p:stCondLst>
                                      <p:cond delay="0"/>
                                    </p:stCondLst>
                                  </p:cTn>
                                  <p:tgtEl>
                                    <p:spTgt spid="7"/>
                                  </p:tgtEl>
                                  <p:attrNameLst>
                                    <p:attrName>style.visibility</p:attrName>
                                  </p:attrNameLst>
                                </p:cBhvr>
                                <p:to>
                                  <p:strVal val="visible"/>
                                </p:to>
                              </p:set>
                              <p:animEffect transition="in" filter="fade">
                                <p:cBhvr>
                                  <p:cTn id="112" dur="420"/>
                                  <p:tgtEl>
                                    <p:spTgt spid="7"/>
                                  </p:tgtEl>
                                </p:cBhvr>
                              </p:animEffect>
                            </p:childTnLst>
                          </p:cTn>
                        </p:par>
                        <p:par>
                          <p:cTn id="113" presetID="10" presetClass="entr" presetSubtype="0" fill="hold" grpId="0" nodeType="afterEffect">
                            <p:stCondLst>
                              <p:cond delay="160"/>
                            </p:stCondLst>
                            <p:childTnLst>
                              <p:set>
                                <p:cBhvr>
                                  <p:cTn id="114" dur="1" fill="hold">
                                    <p:stCondLst>
                                      <p:cond delay="0"/>
                                    </p:stCondLst>
                                  </p:cTn>
                                  <p:tgtEl>
                                    <p:spTgt spid="8"/>
                                  </p:tgtEl>
                                  <p:attrNameLst>
                                    <p:attrName>style.visibility</p:attrName>
                                  </p:attrNameLst>
                                </p:cBhvr>
                                <p:to>
                                  <p:strVal val="visible"/>
                                </p:to>
                              </p:set>
                              <p:animEffect transition="in" filter="fade">
                                <p:cBhvr>
                                  <p:cTn id="115" dur="420"/>
                                  <p:tgtEl>
                                    <p:spTgt spid="8"/>
                                  </p:tgtEl>
                                </p:cBhvr>
                              </p:animEffect>
                            </p:childTnLst>
                          </p:cTn>
                        </p:par>
                        <p:par>
                          <p:cTn id="116" presetID="10" presetClass="entr" presetSubtype="0" fill="hold" grpId="0" nodeType="afterEffect">
                            <p:stCondLst>
                              <p:cond delay="160"/>
                            </p:stCondLst>
                            <p:childTnLst>
                              <p:set>
                                <p:cBhvr>
                                  <p:cTn id="117" dur="1" fill="hold">
                                    <p:stCondLst>
                                      <p:cond delay="0"/>
                                    </p:stCondLst>
                                  </p:cTn>
                                  <p:tgtEl>
                                    <p:spTgt spid="9"/>
                                  </p:tgtEl>
                                  <p:attrNameLst>
                                    <p:attrName>style.visibility</p:attrName>
                                  </p:attrNameLst>
                                </p:cBhvr>
                                <p:to>
                                  <p:strVal val="visible"/>
                                </p:to>
                              </p:set>
                              <p:animEffect transition="in" filter="fade">
                                <p:cBhvr>
                                  <p:cTn id="118" dur="420"/>
                                  <p:tgtEl>
                                    <p:spTgt spid="9"/>
                                  </p:tgtEl>
                                </p:cBhvr>
                              </p:animEffect>
                            </p:childTnLst>
                          </p:cTn>
                        </p:par>
                        <p:par>
                          <p:cTn id="119" presetID="10" presetClass="entr" presetSubtype="0" fill="hold" grpId="0" nodeType="afterEffect">
                            <p:stCondLst>
                              <p:cond delay="320"/>
                            </p:stCondLst>
                            <p:childTnLst>
                              <p:set>
                                <p:cBhvr>
                                  <p:cTn id="120" dur="1" fill="hold">
                                    <p:stCondLst>
                                      <p:cond delay="0"/>
                                    </p:stCondLst>
                                  </p:cTn>
                                  <p:tgtEl>
                                    <p:spTgt spid="10"/>
                                  </p:tgtEl>
                                  <p:attrNameLst>
                                    <p:attrName>style.visibility</p:attrName>
                                  </p:attrNameLst>
                                </p:cBhvr>
                                <p:to>
                                  <p:strVal val="visible"/>
                                </p:to>
                              </p:set>
                              <p:animEffect transition="in" filter="fade">
                                <p:cBhvr>
                                  <p:cTn id="121" dur="420"/>
                                  <p:tgtEl>
                                    <p:spTgt spid="10"/>
                                  </p:tgtEl>
                                </p:cBhvr>
                              </p:animEffect>
                            </p:childTnLst>
                          </p:cTn>
                        </p:par>
                        <p:par>
                          <p:cTn id="122" presetID="10" presetClass="entr" presetSubtype="0" fill="hold" grpId="0" nodeType="afterEffect">
                            <p:stCondLst>
                              <p:cond delay="320"/>
                            </p:stCondLst>
                            <p:childTnLst>
                              <p:set>
                                <p:cBhvr>
                                  <p:cTn id="123" dur="1" fill="hold">
                                    <p:stCondLst>
                                      <p:cond delay="0"/>
                                    </p:stCondLst>
                                  </p:cTn>
                                  <p:tgtEl>
                                    <p:spTgt spid="11"/>
                                  </p:tgtEl>
                                  <p:attrNameLst>
                                    <p:attrName>style.visibility</p:attrName>
                                  </p:attrNameLst>
                                </p:cBhvr>
                                <p:to>
                                  <p:strVal val="visible"/>
                                </p:to>
                              </p:set>
                              <p:animEffect transition="in" filter="fade">
                                <p:cBhvr>
                                  <p:cTn id="124" dur="420"/>
                                  <p:tgtEl>
                                    <p:spTgt spid="11"/>
                                  </p:tgtEl>
                                </p:cBhvr>
                              </p:animEffect>
                            </p:childTnLst>
                          </p:cTn>
                        </p:par>
                        <p:par>
                          <p:cTn id="125" presetID="10" presetClass="entr" presetSubtype="0" fill="hold" grpId="0" nodeType="afterEffect">
                            <p:stCondLst>
                              <p:cond delay="320"/>
                            </p:stCondLst>
                            <p:childTnLst>
                              <p:set>
                                <p:cBhvr>
                                  <p:cTn id="126" dur="1" fill="hold">
                                    <p:stCondLst>
                                      <p:cond delay="0"/>
                                    </p:stCondLst>
                                  </p:cTn>
                                  <p:tgtEl>
                                    <p:spTgt spid="12"/>
                                  </p:tgtEl>
                                  <p:attrNameLst>
                                    <p:attrName>style.visibility</p:attrName>
                                  </p:attrNameLst>
                                </p:cBhvr>
                                <p:to>
                                  <p:strVal val="visible"/>
                                </p:to>
                              </p:set>
                              <p:animEffect transition="in" filter="fade">
                                <p:cBhvr>
                                  <p:cTn id="127" dur="420"/>
                                  <p:tgtEl>
                                    <p:spTgt spid="12"/>
                                  </p:tgtEl>
                                </p:cBhvr>
                              </p:animEffect>
                            </p:childTnLst>
                          </p:cTn>
                        </p:par>
                        <p:par>
                          <p:cTn id="128" presetID="10" presetClass="entr" presetSubtype="0" fill="hold" grpId="0" nodeType="afterEffect">
                            <p:stCondLst>
                              <p:cond delay="480"/>
                            </p:stCondLst>
                            <p:childTnLst>
                              <p:set>
                                <p:cBhvr>
                                  <p:cTn id="129" dur="1" fill="hold">
                                    <p:stCondLst>
                                      <p:cond delay="0"/>
                                    </p:stCondLst>
                                  </p:cTn>
                                  <p:tgtEl>
                                    <p:spTgt spid="13"/>
                                  </p:tgtEl>
                                  <p:attrNameLst>
                                    <p:attrName>style.visibility</p:attrName>
                                  </p:attrNameLst>
                                </p:cBhvr>
                                <p:to>
                                  <p:strVal val="visible"/>
                                </p:to>
                              </p:set>
                              <p:animEffect transition="in" filter="fade">
                                <p:cBhvr>
                                  <p:cTn id="130" dur="420"/>
                                  <p:tgtEl>
                                    <p:spTgt spid="13"/>
                                  </p:tgtEl>
                                </p:cBhvr>
                              </p:animEffect>
                            </p:childTnLst>
                          </p:cTn>
                        </p:par>
                        <p:par>
                          <p:cTn id="131" presetID="10" presetClass="entr" presetSubtype="0" fill="hold" grpId="0" nodeType="afterEffect">
                            <p:stCondLst>
                              <p:cond delay="480"/>
                            </p:stCondLst>
                            <p:childTnLst>
                              <p:set>
                                <p:cBhvr>
                                  <p:cTn id="132" dur="1" fill="hold">
                                    <p:stCondLst>
                                      <p:cond delay="0"/>
                                    </p:stCondLst>
                                  </p:cTn>
                                  <p:tgtEl>
                                    <p:spTgt spid="14"/>
                                  </p:tgtEl>
                                  <p:attrNameLst>
                                    <p:attrName>style.visibility</p:attrName>
                                  </p:attrNameLst>
                                </p:cBhvr>
                                <p:to>
                                  <p:strVal val="visible"/>
                                </p:to>
                              </p:set>
                              <p:animEffect transition="in" filter="fade">
                                <p:cBhvr>
                                  <p:cTn id="133" dur="420"/>
                                  <p:tgtEl>
                                    <p:spTgt spid="14"/>
                                  </p:tgtEl>
                                </p:cBhvr>
                              </p:animEffect>
                            </p:childTnLst>
                          </p:cTn>
                        </p:par>
                        <p:par>
                          <p:cTn id="134" presetID="10" presetClass="entr" presetSubtype="0" fill="hold" grpId="0" nodeType="afterEffect">
                            <p:stCondLst>
                              <p:cond delay="480"/>
                            </p:stCondLst>
                            <p:childTnLst>
                              <p:set>
                                <p:cBhvr>
                                  <p:cTn id="135" dur="1" fill="hold">
                                    <p:stCondLst>
                                      <p:cond delay="0"/>
                                    </p:stCondLst>
                                  </p:cTn>
                                  <p:tgtEl>
                                    <p:spTgt spid="15"/>
                                  </p:tgtEl>
                                  <p:attrNameLst>
                                    <p:attrName>style.visibility</p:attrName>
                                  </p:attrNameLst>
                                </p:cBhvr>
                                <p:to>
                                  <p:strVal val="visible"/>
                                </p:to>
                              </p:set>
                              <p:animEffect transition="in" filter="fade">
                                <p:cBhvr>
                                  <p:cTn id="136" dur="420"/>
                                  <p:tgtEl>
                                    <p:spTgt spid="15"/>
                                  </p:tgtEl>
                                </p:cBhvr>
                              </p:animEffect>
                            </p:childTnLst>
                          </p:cTn>
                        </p:par>
                        <p:par>
                          <p:cTn id="137" presetID="10" presetClass="entr" presetSubtype="0" fill="hold" grpId="0" nodeType="afterEffect">
                            <p:stCondLst>
                              <p:cond delay="640"/>
                            </p:stCondLst>
                            <p:childTnLst>
                              <p:set>
                                <p:cBhvr>
                                  <p:cTn id="138" dur="1" fill="hold">
                                    <p:stCondLst>
                                      <p:cond delay="0"/>
                                    </p:stCondLst>
                                  </p:cTn>
                                  <p:tgtEl>
                                    <p:spTgt spid="16"/>
                                  </p:tgtEl>
                                  <p:attrNameLst>
                                    <p:attrName>style.visibility</p:attrName>
                                  </p:attrNameLst>
                                </p:cBhvr>
                                <p:to>
                                  <p:strVal val="visible"/>
                                </p:to>
                              </p:set>
                              <p:animEffect transition="in" filter="fade">
                                <p:cBhvr>
                                  <p:cTn id="139" dur="420"/>
                                  <p:tgtEl>
                                    <p:spTgt spid="16"/>
                                  </p:tgtEl>
                                </p:cBhvr>
                              </p:animEffect>
                            </p:childTnLst>
                          </p:cTn>
                        </p:par>
                        <p:par>
                          <p:cTn id="140" presetID="10" presetClass="entr" presetSubtype="0" fill="hold" grpId="0" nodeType="afterEffect">
                            <p:stCondLst>
                              <p:cond delay="640"/>
                            </p:stCondLst>
                            <p:childTnLst>
                              <p:set>
                                <p:cBhvr>
                                  <p:cTn id="141" dur="1" fill="hold">
                                    <p:stCondLst>
                                      <p:cond delay="0"/>
                                    </p:stCondLst>
                                  </p:cTn>
                                  <p:tgtEl>
                                    <p:spTgt spid="17"/>
                                  </p:tgtEl>
                                  <p:attrNameLst>
                                    <p:attrName>style.visibility</p:attrName>
                                  </p:attrNameLst>
                                </p:cBhvr>
                                <p:to>
                                  <p:strVal val="visible"/>
                                </p:to>
                              </p:set>
                              <p:animEffect transition="in" filter="fade">
                                <p:cBhvr>
                                  <p:cTn id="142" dur="420"/>
                                  <p:tgtEl>
                                    <p:spTgt spid="17"/>
                                  </p:tgtEl>
                                </p:cBhvr>
                              </p:animEffect>
                            </p:childTnLst>
                          </p:cTn>
                        </p:par>
                        <p:par>
                          <p:cTn id="143" presetID="10" presetClass="entr" presetSubtype="0" fill="hold" grpId="0" nodeType="afterEffect">
                            <p:stCondLst>
                              <p:cond delay="640"/>
                            </p:stCondLst>
                            <p:childTnLst>
                              <p:set>
                                <p:cBhvr>
                                  <p:cTn id="144" dur="1" fill="hold">
                                    <p:stCondLst>
                                      <p:cond delay="0"/>
                                    </p:stCondLst>
                                  </p:cTn>
                                  <p:tgtEl>
                                    <p:spTgt spid="18"/>
                                  </p:tgtEl>
                                  <p:attrNameLst>
                                    <p:attrName>style.visibility</p:attrName>
                                  </p:attrNameLst>
                                </p:cBhvr>
                                <p:to>
                                  <p:strVal val="visible"/>
                                </p:to>
                              </p:set>
                              <p:animEffect transition="in" filter="fade">
                                <p:cBhvr>
                                  <p:cTn id="145" dur="420"/>
                                  <p:tgtEl>
                                    <p:spTgt spid="18"/>
                                  </p:tgtEl>
                                </p:cBhvr>
                              </p:animEffect>
                            </p:childTnLst>
                          </p:cTn>
                        </p:par>
                      </p:childTnLst>
                    </p:cTn>
                  </p:par>
                </p:childTnLst>
              </p:cTn>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5B4C"/>
        </a:solidFill>
        <a:effectLst/>
      </p:bgPr>
    </p:bg>
    <p:spTree>
      <p:nvGrpSpPr>
        <p:cNvPr id="1" name=""/>
        <p:cNvGrpSpPr/>
        <p:nvPr/>
      </p:nvGrpSpPr>
      <p:grpSpPr/>
      <p:sp>
        <p:nvSpPr>
          <p:cNvPr id="2" name="TextBox 1"/>
          <p:cNvSpPr txBox="1"/>
          <p:nvPr/>
        </p:nvSpPr>
        <p:spPr>
          <a:xfrm>
            <a:off x="777240" y="502920"/>
            <a:ext cx="4114800" cy="1828800"/>
          </a:xfrm>
          <a:prstGeom prst="rect">
            <a:avLst/>
          </a:prstGeom>
          <a:noFill/>
        </p:spPr>
        <p:txBody>
          <a:bodyPr wrap="square" lIns="0" rIns="0" tIns="0" bIns="0" anchor="t">
            <a:spAutoFit/>
          </a:bodyPr>
          <a:lstStyle/>
          <a:p>
            <a:pPr algn="l">
              <a:lnSpc>
                <a:spcPct val="100000"/>
              </a:lnSpc>
              <a:spcBef>
                <a:spcPts val="0"/>
              </a:spcBef>
              <a:spcAft>
                <a:spcPts val="0"/>
              </a:spcAft>
            </a:pPr>
            <a:r>
              <a:rPr sz="14000" b="1" i="0">
                <a:solidFill>
                  <a:srgbClr val="1B7A66"/>
                </a:solidFill>
                <a:latin typeface="Cambria"/>
              </a:rPr>
              <a:t>01</a:t>
            </a:r>
          </a:p>
        </p:txBody>
      </p:sp>
      <p:sp>
        <p:nvSpPr>
          <p:cNvPr id="3" name="TextBox 2"/>
          <p:cNvSpPr txBox="1"/>
          <p:nvPr/>
        </p:nvSpPr>
        <p:spPr>
          <a:xfrm>
            <a:off x="868680" y="2880360"/>
            <a:ext cx="10058400" cy="1005840"/>
          </a:xfrm>
          <a:prstGeom prst="rect">
            <a:avLst/>
          </a:prstGeom>
          <a:noFill/>
        </p:spPr>
        <p:txBody>
          <a:bodyPr wrap="square" lIns="0" rIns="0" tIns="0" bIns="0" anchor="t">
            <a:spAutoFit/>
          </a:bodyPr>
          <a:lstStyle/>
          <a:p>
            <a:pPr algn="l">
              <a:lnSpc>
                <a:spcPct val="100000"/>
              </a:lnSpc>
              <a:spcBef>
                <a:spcPts val="0"/>
              </a:spcBef>
              <a:spcAft>
                <a:spcPts val="0"/>
              </a:spcAft>
            </a:pPr>
            <a:r>
              <a:rPr sz="4200" b="1" i="0">
                <a:solidFill>
                  <a:srgbClr val="FFFFFF"/>
                </a:solidFill>
                <a:latin typeface="Cambria"/>
              </a:rPr>
              <a:t>Introduction générale</a:t>
            </a:r>
          </a:p>
        </p:txBody>
      </p:sp>
      <p:sp>
        <p:nvSpPr>
          <p:cNvPr id="4" name="TextBox 3"/>
          <p:cNvSpPr txBox="1"/>
          <p:nvPr/>
        </p:nvSpPr>
        <p:spPr>
          <a:xfrm>
            <a:off x="868680" y="3794760"/>
            <a:ext cx="10058400" cy="548640"/>
          </a:xfrm>
          <a:prstGeom prst="rect">
            <a:avLst/>
          </a:prstGeom>
          <a:noFill/>
        </p:spPr>
        <p:txBody>
          <a:bodyPr wrap="square" lIns="0" rIns="0" tIns="0" bIns="0" anchor="t">
            <a:spAutoFit/>
          </a:bodyPr>
          <a:lstStyle/>
          <a:p>
            <a:pPr algn="l">
              <a:lnSpc>
                <a:spcPct val="100000"/>
              </a:lnSpc>
              <a:spcBef>
                <a:spcPts val="0"/>
              </a:spcBef>
              <a:spcAft>
                <a:spcPts val="0"/>
              </a:spcAft>
            </a:pPr>
            <a:r>
              <a:rPr sz="1700" b="0" i="1">
                <a:solidFill>
                  <a:srgbClr val="E6BD7C"/>
                </a:solidFill>
                <a:latin typeface="Calibri"/>
              </a:rPr>
              <a:t>Contexte, problématique et objectifs</a:t>
            </a:r>
          </a:p>
        </p:txBody>
      </p:sp>
      <p:sp>
        <p:nvSpPr>
          <p:cNvPr id="5" name="TextBox 4"/>
          <p:cNvSpPr txBox="1"/>
          <p:nvPr/>
        </p:nvSpPr>
        <p:spPr>
          <a:xfrm>
            <a:off x="868680" y="6263640"/>
            <a:ext cx="10058400" cy="320040"/>
          </a:xfrm>
          <a:prstGeom prst="rect">
            <a:avLst/>
          </a:prstGeom>
          <a:noFill/>
        </p:spPr>
        <p:txBody>
          <a:bodyPr wrap="square" lIns="0" rIns="0" tIns="0" bIns="0" anchor="t">
            <a:spAutoFit/>
          </a:bodyPr>
          <a:lstStyle/>
          <a:p>
            <a:pPr algn="l">
              <a:lnSpc>
                <a:spcPct val="100000"/>
              </a:lnSpc>
              <a:spcBef>
                <a:spcPts val="0"/>
              </a:spcBef>
              <a:spcAft>
                <a:spcPts val="0"/>
              </a:spcAft>
            </a:pPr>
            <a:r>
              <a:rPr sz="1050" b="0" i="0">
                <a:solidFill>
                  <a:srgbClr val="A7BCB1"/>
                </a:solidFill>
                <a:latin typeface="Calibri"/>
              </a:rPr>
              <a:t>Kayñiawlu · Soutenance de mémoire — Adorand Jacques Merveille DEMBI</a:t>
            </a:r>
          </a:p>
        </p:txBody>
      </p:sp>
    </p:spTree>
  </p:cSld>
  <p:clrMapOvr>
    <a:masterClrMapping/>
  </p:clrMapOvr>
  <p:transition spd="med">
    <p:fade/>
  </p:transition>
  <p:timing>
    <p:tnLst>
      <p:par>
        <p:cTn id="113" dur="indefinite" restart="never" nodeType="tmRoot">
          <p:childTnLst>
            <p:seq concurrent="1" nextAc="seek">
              <p:cTn id="114" dur="indefinite" nodeType="mainSeq">
                <p:childTnLst>
                  <p:par>
                    <p:cTn id="115" fill="hold">
                      <p:stCondLst>
                        <p:cond delay="0"/>
                      </p:stCondLst>
                      <p:childTnLst>
                        <p:par>
                          <p:cTn id="101" presetID="10" presetClass="entr" presetSubtype="0" fill="hold" grpId="0" nodeType="afterEffect">
                            <p:stCondLst>
                              <p:cond delay="0"/>
                            </p:stCondLst>
                            <p:childTnLst>
                              <p:set>
                                <p:cBhvr>
                                  <p:cTn id="102" dur="1" fill="hold">
                                    <p:stCondLst>
                                      <p:cond delay="0"/>
                                    </p:stCondLst>
                                  </p:cTn>
                                  <p:tgtEl>
                                    <p:spTgt spid="2"/>
                                  </p:tgtEl>
                                  <p:attrNameLst>
                                    <p:attrName>style.visibility</p:attrName>
                                  </p:attrNameLst>
                                </p:cBhvr>
                                <p:to>
                                  <p:strVal val="visible"/>
                                </p:to>
                              </p:set>
                              <p:animEffect transition="in" filter="fade">
                                <p:cBhvr>
                                  <p:cTn id="103" dur="500"/>
                                  <p:tgtEl>
                                    <p:spTgt spid="2"/>
                                  </p:tgtEl>
                                </p:cBhvr>
                              </p:animEffect>
                            </p:childTnLst>
                          </p:cTn>
                        </p:par>
                        <p:par>
                          <p:cTn id="104" presetID="10" presetClass="entr" presetSubtype="0" fill="hold" grpId="0" nodeType="afterEffect">
                            <p:stCondLst>
                              <p:cond delay="220"/>
                            </p:stCondLst>
                            <p:childTnLst>
                              <p:set>
                                <p:cBhvr>
                                  <p:cTn id="105" dur="1" fill="hold">
                                    <p:stCondLst>
                                      <p:cond delay="0"/>
                                    </p:stCondLst>
                                  </p:cTn>
                                  <p:tgtEl>
                                    <p:spTgt spid="3"/>
                                  </p:tgtEl>
                                  <p:attrNameLst>
                                    <p:attrName>style.visibility</p:attrName>
                                  </p:attrNameLst>
                                </p:cBhvr>
                                <p:to>
                                  <p:strVal val="visible"/>
                                </p:to>
                              </p:set>
                              <p:animEffect transition="in" filter="fade">
                                <p:cBhvr>
                                  <p:cTn id="106" dur="500"/>
                                  <p:tgtEl>
                                    <p:spTgt spid="3"/>
                                  </p:tgtEl>
                                </p:cBhvr>
                              </p:animEffect>
                            </p:childTnLst>
                          </p:cTn>
                        </p:par>
                        <p:par>
                          <p:cTn id="107" presetID="10" presetClass="entr" presetSubtype="0" fill="hold" grpId="0" nodeType="afterEffect">
                            <p:stCondLst>
                              <p:cond delay="440"/>
                            </p:stCondLst>
                            <p:childTnLst>
                              <p:set>
                                <p:cBhvr>
                                  <p:cTn id="108" dur="1" fill="hold">
                                    <p:stCondLst>
                                      <p:cond delay="0"/>
                                    </p:stCondLst>
                                  </p:cTn>
                                  <p:tgtEl>
                                    <p:spTgt spid="4"/>
                                  </p:tgtEl>
                                  <p:attrNameLst>
                                    <p:attrName>style.visibility</p:attrName>
                                  </p:attrNameLst>
                                </p:cBhvr>
                                <p:to>
                                  <p:strVal val="visible"/>
                                </p:to>
                              </p:set>
                              <p:animEffect transition="in" filter="fade">
                                <p:cBhvr>
                                  <p:cTn id="109" dur="500"/>
                                  <p:tgtEl>
                                    <p:spTgt spid="4"/>
                                  </p:tgtEl>
                                </p:cBhvr>
                              </p:animEffect>
                            </p:childTnLst>
                          </p:cTn>
                        </p:par>
                        <p:par>
                          <p:cTn id="110" presetID="10" presetClass="entr" presetSubtype="0" fill="hold" grpId="0" nodeType="afterEffect">
                            <p:stCondLst>
                              <p:cond delay="660"/>
                            </p:stCondLst>
                            <p:childTnLst>
                              <p:set>
                                <p:cBhvr>
                                  <p:cTn id="111" dur="1" fill="hold">
                                    <p:stCondLst>
                                      <p:cond delay="0"/>
                                    </p:stCondLst>
                                  </p:cTn>
                                  <p:tgtEl>
                                    <p:spTgt spid="5"/>
                                  </p:tgtEl>
                                  <p:attrNameLst>
                                    <p:attrName>style.visibility</p:attrName>
                                  </p:attrNameLst>
                                </p:cBhvr>
                                <p:to>
                                  <p:strVal val="visible"/>
                                </p:to>
                              </p:set>
                              <p:animEffect transition="in" filter="fade">
                                <p:cBhvr>
                                  <p:cTn id="112" dur="500"/>
                                  <p:tgtEl>
                                    <p:spTgt spid="5"/>
                                  </p:tgtEl>
                                </p:cBhvr>
                              </p:animEffect>
                            </p:childTnLst>
                          </p:cTn>
                        </p:par>
                      </p:childTnLst>
                    </p:cTn>
                  </p:par>
                </p:childTnLst>
              </p:cTn>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881360" cy="292608"/>
          </a:xfrm>
          <a:prstGeom prst="rect">
            <a:avLst/>
          </a:prstGeom>
          <a:noFill/>
        </p:spPr>
        <p:txBody>
          <a:bodyPr wrap="square" lIns="0" rIns="0" tIns="0" bIns="0" anchor="t">
            <a:spAutoFit/>
          </a:bodyPr>
          <a:lstStyle/>
          <a:p>
            <a:pPr algn="l">
              <a:lnSpc>
                <a:spcPct val="100000"/>
              </a:lnSpc>
              <a:spcBef>
                <a:spcPts val="0"/>
              </a:spcBef>
              <a:spcAft>
                <a:spcPts val="0"/>
              </a:spcAft>
            </a:pPr>
            <a:r>
              <a:rPr sz="1250" b="1" i="0">
                <a:solidFill>
                  <a:srgbClr val="B8863B"/>
                </a:solidFill>
                <a:latin typeface="Calibri"/>
              </a:rPr>
              <a:t>INTRODUCTION GÉNÉRALE · CONTEXTE</a:t>
            </a:r>
          </a:p>
        </p:txBody>
      </p:sp>
      <p:sp>
        <p:nvSpPr>
          <p:cNvPr id="3" name="TextBox 2"/>
          <p:cNvSpPr txBox="1"/>
          <p:nvPr/>
        </p:nvSpPr>
        <p:spPr>
          <a:xfrm>
            <a:off x="640080" y="786384"/>
            <a:ext cx="10881360" cy="777240"/>
          </a:xfrm>
          <a:prstGeom prst="rect">
            <a:avLst/>
          </a:prstGeom>
          <a:noFill/>
        </p:spPr>
        <p:txBody>
          <a:bodyPr wrap="square" lIns="0" rIns="0" tIns="0" bIns="0" anchor="t">
            <a:spAutoFit/>
          </a:bodyPr>
          <a:lstStyle/>
          <a:p>
            <a:pPr algn="l">
              <a:lnSpc>
                <a:spcPct val="102000"/>
              </a:lnSpc>
              <a:spcBef>
                <a:spcPts val="0"/>
              </a:spcBef>
              <a:spcAft>
                <a:spcPts val="0"/>
              </a:spcAft>
            </a:pPr>
            <a:r>
              <a:rPr sz="2700" b="1" i="0">
                <a:solidFill>
                  <a:srgbClr val="0F5B4C"/>
                </a:solidFill>
                <a:latin typeface="Cambria"/>
              </a:rPr>
              <a:t>Le cas de l'Atelier Kalmy's</a:t>
            </a:r>
          </a:p>
        </p:txBody>
      </p:sp>
      <p:sp>
        <p:nvSpPr>
          <p:cNvPr id="4" name="TextBox 3"/>
          <p:cNvSpPr txBox="1"/>
          <p:nvPr/>
        </p:nvSpPr>
        <p:spPr>
          <a:xfrm>
            <a:off x="640080" y="1371600"/>
            <a:ext cx="5943600" cy="4206240"/>
          </a:xfrm>
          <a:prstGeom prst="rect">
            <a:avLst/>
          </a:prstGeom>
          <a:noFill/>
        </p:spPr>
        <p:txBody>
          <a:bodyPr wrap="square" lIns="0" rIns="0" tIns="0" bIns="0" anchor="t">
            <a:spAutoFit/>
          </a:bodyPr>
          <a:lstStyle/>
          <a:p>
            <a:pPr algn="l">
              <a:lnSpc>
                <a:spcPct val="128000"/>
              </a:lnSpc>
              <a:spcBef>
                <a:spcPts val="0"/>
              </a:spcBef>
              <a:spcAft>
                <a:spcPts val="1400"/>
              </a:spcAft>
            </a:pPr>
            <a:r>
              <a:rPr sz="1450" b="0" i="0">
                <a:solidFill>
                  <a:srgbClr val="24312B"/>
                </a:solidFill>
                <a:latin typeface="Calibri"/>
              </a:rPr>
              <a:t>Entreprise de couture sur mesure basée à Dakar (Dieuppeul), fondée il y a une dizaine d'années. Elle confectionne boubous, ensembles, costumes, tailleurs et retouches pour une clientèle variée.</a:t>
            </a:r>
          </a:p>
          <a:p>
            <a:pPr algn="l">
              <a:lnSpc>
                <a:spcPct val="128000"/>
              </a:lnSpc>
              <a:spcBef>
                <a:spcPts val="0"/>
              </a:spcBef>
              <a:spcAft>
                <a:spcPts val="1400"/>
              </a:spcAft>
            </a:pPr>
            <a:r>
              <a:rPr sz="1450" b="0" i="0">
                <a:solidFill>
                  <a:srgbClr val="24312B"/>
                </a:solidFill>
                <a:latin typeface="Calibri"/>
              </a:rPr>
              <a:t>Comme la grande majorité des ateliers sénégalais, la gestion quotidienne (clients, mesures, commandes, livraisons) repose sur la mémoire, l'expérience et des supports papier.</a:t>
            </a:r>
          </a:p>
          <a:p>
            <a:pPr algn="l">
              <a:lnSpc>
                <a:spcPct val="128000"/>
              </a:lnSpc>
              <a:spcBef>
                <a:spcPts val="0"/>
              </a:spcBef>
              <a:spcAft>
                <a:spcPts val="1400"/>
              </a:spcAft>
            </a:pPr>
            <a:r>
              <a:rPr sz="1450" b="0" i="0">
                <a:solidFill>
                  <a:srgbClr val="24312B"/>
                </a:solidFill>
                <a:latin typeface="Calibri"/>
              </a:rPr>
              <a:t>Sa présence dans deux pays voisins illustre une ambition d'expansion régionale que les méthodes de gestion actuelles peinent à accompagner : sans outil commun, aucune vision consolidée n'est possible entre boutiques.</a:t>
            </a:r>
          </a:p>
        </p:txBody>
      </p:sp>
      <p:sp>
        <p:nvSpPr>
          <p:cNvPr id="5" name="Rounded Rectangle 4"/>
          <p:cNvSpPr/>
          <p:nvPr/>
        </p:nvSpPr>
        <p:spPr>
          <a:xfrm>
            <a:off x="6903720" y="1371600"/>
            <a:ext cx="2231136" cy="1783080"/>
          </a:xfrm>
          <a:prstGeom prst="roundRect">
            <a:avLst>
              <a:gd name="adj" fmla="val 9000"/>
            </a:avLst>
          </a:prstGeom>
          <a:solidFill>
            <a:srgbClr val="F6F1E8"/>
          </a:solidFill>
          <a:ln>
            <a:noFill/>
          </a:ln>
          <a:effectLst>
            <a:outerShdw blurRad="127000" dist="38100" dir="5400000" rotWithShape="0">
              <a:srgbClr val="1A10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0" y="1554480"/>
            <a:ext cx="1773936" cy="640080"/>
          </a:xfrm>
          <a:prstGeom prst="rect">
            <a:avLst/>
          </a:prstGeom>
          <a:noFill/>
        </p:spPr>
        <p:txBody>
          <a:bodyPr wrap="square" lIns="0" rIns="0" tIns="0" bIns="0" anchor="t">
            <a:spAutoFit/>
          </a:bodyPr>
          <a:lstStyle/>
          <a:p>
            <a:pPr algn="l">
              <a:lnSpc>
                <a:spcPct val="100000"/>
              </a:lnSpc>
              <a:spcBef>
                <a:spcPts val="0"/>
              </a:spcBef>
              <a:spcAft>
                <a:spcPts val="0"/>
              </a:spcAft>
            </a:pPr>
            <a:r>
              <a:rPr sz="2700" b="1" i="0">
                <a:solidFill>
                  <a:srgbClr val="B8863B"/>
                </a:solidFill>
                <a:latin typeface="Cambria"/>
              </a:rPr>
              <a:t>10 ans</a:t>
            </a:r>
          </a:p>
        </p:txBody>
      </p:sp>
      <p:sp>
        <p:nvSpPr>
          <p:cNvPr id="7" name="TextBox 6"/>
          <p:cNvSpPr txBox="1"/>
          <p:nvPr/>
        </p:nvSpPr>
        <p:spPr>
          <a:xfrm>
            <a:off x="7132320" y="2267712"/>
            <a:ext cx="1773936" cy="685800"/>
          </a:xfrm>
          <a:prstGeom prst="rect">
            <a:avLst/>
          </a:prstGeom>
          <a:noFill/>
        </p:spPr>
        <p:txBody>
          <a:bodyPr wrap="square" lIns="0" rIns="0" tIns="0" bIns="0" anchor="t">
            <a:spAutoFit/>
          </a:bodyPr>
          <a:lstStyle/>
          <a:p>
            <a:pPr algn="l">
              <a:lnSpc>
                <a:spcPct val="110000"/>
              </a:lnSpc>
              <a:spcBef>
                <a:spcPts val="0"/>
              </a:spcBef>
              <a:spcAft>
                <a:spcPts val="0"/>
              </a:spcAft>
            </a:pPr>
            <a:r>
              <a:rPr sz="1200" b="0" i="0">
                <a:solidFill>
                  <a:srgbClr val="24312B"/>
                </a:solidFill>
                <a:latin typeface="Calibri"/>
              </a:rPr>
              <a:t>d'activité de l'atelier</a:t>
            </a:r>
          </a:p>
        </p:txBody>
      </p:sp>
      <p:sp>
        <p:nvSpPr>
          <p:cNvPr id="8" name="Rounded Rectangle 7"/>
          <p:cNvSpPr/>
          <p:nvPr/>
        </p:nvSpPr>
        <p:spPr>
          <a:xfrm>
            <a:off x="9336024" y="1371600"/>
            <a:ext cx="2231136" cy="1783080"/>
          </a:xfrm>
          <a:prstGeom prst="roundRect">
            <a:avLst>
              <a:gd name="adj" fmla="val 9000"/>
            </a:avLst>
          </a:prstGeom>
          <a:solidFill>
            <a:srgbClr val="F6F1E8"/>
          </a:solidFill>
          <a:ln>
            <a:noFill/>
          </a:ln>
          <a:effectLst>
            <a:outerShdw blurRad="127000" dist="38100" dir="5400000" rotWithShape="0">
              <a:srgbClr val="1A10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64624" y="1554480"/>
            <a:ext cx="1773936" cy="640080"/>
          </a:xfrm>
          <a:prstGeom prst="rect">
            <a:avLst/>
          </a:prstGeom>
          <a:noFill/>
        </p:spPr>
        <p:txBody>
          <a:bodyPr wrap="square" lIns="0" rIns="0" tIns="0" bIns="0" anchor="t">
            <a:spAutoFit/>
          </a:bodyPr>
          <a:lstStyle/>
          <a:p>
            <a:pPr algn="l">
              <a:lnSpc>
                <a:spcPct val="100000"/>
              </a:lnSpc>
              <a:spcBef>
                <a:spcPts val="0"/>
              </a:spcBef>
              <a:spcAft>
                <a:spcPts val="0"/>
              </a:spcAft>
            </a:pPr>
            <a:r>
              <a:rPr sz="2700" b="1" i="0">
                <a:solidFill>
                  <a:srgbClr val="B8863B"/>
                </a:solidFill>
                <a:latin typeface="Cambria"/>
              </a:rPr>
              <a:t>4</a:t>
            </a:r>
          </a:p>
        </p:txBody>
      </p:sp>
      <p:sp>
        <p:nvSpPr>
          <p:cNvPr id="10" name="TextBox 9"/>
          <p:cNvSpPr txBox="1"/>
          <p:nvPr/>
        </p:nvSpPr>
        <p:spPr>
          <a:xfrm>
            <a:off x="9564624" y="2267712"/>
            <a:ext cx="1773936" cy="685800"/>
          </a:xfrm>
          <a:prstGeom prst="rect">
            <a:avLst/>
          </a:prstGeom>
          <a:noFill/>
        </p:spPr>
        <p:txBody>
          <a:bodyPr wrap="square" lIns="0" rIns="0" tIns="0" bIns="0" anchor="t">
            <a:spAutoFit/>
          </a:bodyPr>
          <a:lstStyle/>
          <a:p>
            <a:pPr algn="l">
              <a:lnSpc>
                <a:spcPct val="110000"/>
              </a:lnSpc>
              <a:spcBef>
                <a:spcPts val="0"/>
              </a:spcBef>
              <a:spcAft>
                <a:spcPts val="0"/>
              </a:spcAft>
            </a:pPr>
            <a:r>
              <a:rPr sz="1200" b="0" i="0">
                <a:solidFill>
                  <a:srgbClr val="24312B"/>
                </a:solidFill>
                <a:latin typeface="Calibri"/>
              </a:rPr>
              <a:t>points de vente exploités</a:t>
            </a:r>
          </a:p>
        </p:txBody>
      </p:sp>
      <p:sp>
        <p:nvSpPr>
          <p:cNvPr id="11" name="Rounded Rectangle 10"/>
          <p:cNvSpPr/>
          <p:nvPr/>
        </p:nvSpPr>
        <p:spPr>
          <a:xfrm>
            <a:off x="6903720" y="3355848"/>
            <a:ext cx="2231136" cy="1783080"/>
          </a:xfrm>
          <a:prstGeom prst="roundRect">
            <a:avLst>
              <a:gd name="adj" fmla="val 9000"/>
            </a:avLst>
          </a:prstGeom>
          <a:solidFill>
            <a:srgbClr val="F6F1E8"/>
          </a:solidFill>
          <a:ln>
            <a:noFill/>
          </a:ln>
          <a:effectLst>
            <a:outerShdw blurRad="127000" dist="38100" dir="5400000" rotWithShape="0">
              <a:srgbClr val="1A10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0" y="3538728"/>
            <a:ext cx="1773936" cy="640080"/>
          </a:xfrm>
          <a:prstGeom prst="rect">
            <a:avLst/>
          </a:prstGeom>
          <a:noFill/>
        </p:spPr>
        <p:txBody>
          <a:bodyPr wrap="square" lIns="0" rIns="0" tIns="0" bIns="0" anchor="t">
            <a:spAutoFit/>
          </a:bodyPr>
          <a:lstStyle/>
          <a:p>
            <a:pPr algn="l">
              <a:lnSpc>
                <a:spcPct val="100000"/>
              </a:lnSpc>
              <a:spcBef>
                <a:spcPts val="0"/>
              </a:spcBef>
              <a:spcAft>
                <a:spcPts val="0"/>
              </a:spcAft>
            </a:pPr>
            <a:r>
              <a:rPr sz="2700" b="1" i="0">
                <a:solidFill>
                  <a:srgbClr val="B8863B"/>
                </a:solidFill>
                <a:latin typeface="Cambria"/>
              </a:rPr>
              <a:t>3 pays</a:t>
            </a:r>
          </a:p>
        </p:txBody>
      </p:sp>
      <p:sp>
        <p:nvSpPr>
          <p:cNvPr id="13" name="TextBox 12"/>
          <p:cNvSpPr txBox="1"/>
          <p:nvPr/>
        </p:nvSpPr>
        <p:spPr>
          <a:xfrm>
            <a:off x="7132320" y="4251960"/>
            <a:ext cx="1773936" cy="685800"/>
          </a:xfrm>
          <a:prstGeom prst="rect">
            <a:avLst/>
          </a:prstGeom>
          <a:noFill/>
        </p:spPr>
        <p:txBody>
          <a:bodyPr wrap="square" lIns="0" rIns="0" tIns="0" bIns="0" anchor="t">
            <a:spAutoFit/>
          </a:bodyPr>
          <a:lstStyle/>
          <a:p>
            <a:pPr algn="l">
              <a:lnSpc>
                <a:spcPct val="110000"/>
              </a:lnSpc>
              <a:spcBef>
                <a:spcPts val="0"/>
              </a:spcBef>
              <a:spcAft>
                <a:spcPts val="0"/>
              </a:spcAft>
            </a:pPr>
            <a:r>
              <a:rPr sz="1200" b="0" i="0">
                <a:solidFill>
                  <a:srgbClr val="24312B"/>
                </a:solidFill>
                <a:latin typeface="Calibri"/>
              </a:rPr>
              <a:t>Sénégal, Guinée, Gambie</a:t>
            </a:r>
          </a:p>
        </p:txBody>
      </p:sp>
      <p:sp>
        <p:nvSpPr>
          <p:cNvPr id="14" name="Rounded Rectangle 13"/>
          <p:cNvSpPr/>
          <p:nvPr/>
        </p:nvSpPr>
        <p:spPr>
          <a:xfrm>
            <a:off x="9336024" y="3355848"/>
            <a:ext cx="2231136" cy="1783080"/>
          </a:xfrm>
          <a:prstGeom prst="roundRect">
            <a:avLst>
              <a:gd name="adj" fmla="val 9000"/>
            </a:avLst>
          </a:prstGeom>
          <a:solidFill>
            <a:srgbClr val="F6F1E8"/>
          </a:solidFill>
          <a:ln>
            <a:noFill/>
          </a:ln>
          <a:effectLst>
            <a:outerShdw blurRad="127000" dist="38100" dir="5400000" rotWithShape="0">
              <a:srgbClr val="1A10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564624" y="3538728"/>
            <a:ext cx="1773936" cy="640080"/>
          </a:xfrm>
          <a:prstGeom prst="rect">
            <a:avLst/>
          </a:prstGeom>
          <a:noFill/>
        </p:spPr>
        <p:txBody>
          <a:bodyPr wrap="square" lIns="0" rIns="0" tIns="0" bIns="0" anchor="t">
            <a:spAutoFit/>
          </a:bodyPr>
          <a:lstStyle/>
          <a:p>
            <a:pPr algn="l">
              <a:lnSpc>
                <a:spcPct val="100000"/>
              </a:lnSpc>
              <a:spcBef>
                <a:spcPts val="0"/>
              </a:spcBef>
              <a:spcAft>
                <a:spcPts val="0"/>
              </a:spcAft>
            </a:pPr>
            <a:r>
              <a:rPr sz="2700" b="1" i="0">
                <a:solidFill>
                  <a:srgbClr val="B8863B"/>
                </a:solidFill>
                <a:latin typeface="Cambria"/>
              </a:rPr>
              <a:t>100%</a:t>
            </a:r>
          </a:p>
        </p:txBody>
      </p:sp>
      <p:sp>
        <p:nvSpPr>
          <p:cNvPr id="16" name="TextBox 15"/>
          <p:cNvSpPr txBox="1"/>
          <p:nvPr/>
        </p:nvSpPr>
        <p:spPr>
          <a:xfrm>
            <a:off x="9564624" y="4251960"/>
            <a:ext cx="1773936" cy="685800"/>
          </a:xfrm>
          <a:prstGeom prst="rect">
            <a:avLst/>
          </a:prstGeom>
          <a:noFill/>
        </p:spPr>
        <p:txBody>
          <a:bodyPr wrap="square" lIns="0" rIns="0" tIns="0" bIns="0" anchor="t">
            <a:spAutoFit/>
          </a:bodyPr>
          <a:lstStyle/>
          <a:p>
            <a:pPr algn="l">
              <a:lnSpc>
                <a:spcPct val="110000"/>
              </a:lnSpc>
              <a:spcBef>
                <a:spcPts val="0"/>
              </a:spcBef>
              <a:spcAft>
                <a:spcPts val="0"/>
              </a:spcAft>
            </a:pPr>
            <a:r>
              <a:rPr sz="1200" b="0" i="0">
                <a:solidFill>
                  <a:srgbClr val="24312B"/>
                </a:solidFill>
                <a:latin typeface="Calibri"/>
              </a:rPr>
              <a:t>gestion papier / orale</a:t>
            </a:r>
          </a:p>
        </p:txBody>
      </p:sp>
      <p:sp>
        <p:nvSpPr>
          <p:cNvPr id="17" name="TextBox 16"/>
          <p:cNvSpPr txBox="1"/>
          <p:nvPr/>
        </p:nvSpPr>
        <p:spPr>
          <a:xfrm>
            <a:off x="640080" y="5440680"/>
            <a:ext cx="10927080" cy="731520"/>
          </a:xfrm>
          <a:prstGeom prst="rect">
            <a:avLst/>
          </a:prstGeom>
          <a:noFill/>
        </p:spPr>
        <p:txBody>
          <a:bodyPr wrap="square" lIns="0" rIns="0" tIns="0" bIns="0" anchor="t">
            <a:spAutoFit/>
          </a:bodyPr>
          <a:lstStyle/>
          <a:p>
            <a:pPr algn="l">
              <a:lnSpc>
                <a:spcPct val="130000"/>
              </a:lnSpc>
              <a:spcBef>
                <a:spcPts val="0"/>
              </a:spcBef>
              <a:spcAft>
                <a:spcPts val="0"/>
              </a:spcAft>
            </a:pPr>
            <a:r>
              <a:rPr sz="1300" b="0" i="1">
                <a:solidFill>
                  <a:srgbClr val="68796F"/>
                </a:solidFill>
                <a:latin typeface="Calibri"/>
              </a:rPr>
              <a:t>Un cas représentatif d'un secteur qui compte plusieurs dizaines de milliers d'ateliers au Sénégal, du tailleur de quartier à la maison de couture multi-boutiques.</a:t>
            </a:r>
          </a:p>
        </p:txBody>
      </p:sp>
      <p:sp>
        <p:nvSpPr>
          <p:cNvPr id="18" name="TextBox 17"/>
          <p:cNvSpPr txBox="1"/>
          <p:nvPr/>
        </p:nvSpPr>
        <p:spPr>
          <a:xfrm>
            <a:off x="640080" y="6519672"/>
            <a:ext cx="7315200" cy="274320"/>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68796F"/>
                </a:solidFill>
                <a:latin typeface="Calibri"/>
              </a:rPr>
              <a:t>Kayñiawlu — Soutenance de mémoire</a:t>
            </a:r>
          </a:p>
        </p:txBody>
      </p:sp>
      <p:sp>
        <p:nvSpPr>
          <p:cNvPr id="19" name="TextBox 18"/>
          <p:cNvSpPr txBox="1"/>
          <p:nvPr/>
        </p:nvSpPr>
        <p:spPr>
          <a:xfrm>
            <a:off x="10180015" y="6519672"/>
            <a:ext cx="1371600" cy="274320"/>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8796F"/>
                </a:solidFill>
                <a:latin typeface="Calibri"/>
              </a:rPr>
              <a:t>4</a:t>
            </a:r>
          </a:p>
        </p:txBody>
      </p:sp>
    </p:spTree>
  </p:cSld>
  <p:clrMapOvr>
    <a:masterClrMapping/>
  </p:clrMapOvr>
  <p:transition spd="med">
    <p:fade/>
  </p:transition>
  <p:timing>
    <p:tnLst>
      <p:par>
        <p:cTn id="143" dur="indefinite" restart="never" nodeType="tmRoot">
          <p:childTnLst>
            <p:seq concurrent="1" nextAc="seek">
              <p:cTn id="144" dur="indefinite" nodeType="mainSeq">
                <p:childTnLst>
                  <p:par>
                    <p:cTn id="145" fill="hold">
                      <p:stCondLst>
                        <p:cond delay="0"/>
                      </p:stCondLst>
                      <p:childTnLst>
                        <p:par>
                          <p:cTn id="101" presetID="10" presetClass="entr" presetSubtype="0" fill="hold" grpId="0" nodeType="afterEffect">
                            <p:stCondLst>
                              <p:cond delay="0"/>
                            </p:stCondLst>
                            <p:childTnLst>
                              <p:set>
                                <p:cBhvr>
                                  <p:cTn id="102" dur="1" fill="hold">
                                    <p:stCondLst>
                                      <p:cond delay="0"/>
                                    </p:stCondLst>
                                  </p:cTn>
                                  <p:tgtEl>
                                    <p:spTgt spid="4"/>
                                  </p:tgtEl>
                                  <p:attrNameLst>
                                    <p:attrName>style.visibility</p:attrName>
                                  </p:attrNameLst>
                                </p:cBhvr>
                                <p:to>
                                  <p:strVal val="visible"/>
                                </p:to>
                              </p:set>
                              <p:animEffect transition="in" filter="fade">
                                <p:cBhvr>
                                  <p:cTn id="103" dur="420"/>
                                  <p:tgtEl>
                                    <p:spTgt spid="4"/>
                                  </p:tgtEl>
                                </p:cBhvr>
                              </p:animEffect>
                            </p:childTnLst>
                          </p:cTn>
                        </p:par>
                        <p:par>
                          <p:cTn id="104" presetID="10" presetClass="entr" presetSubtype="0" fill="hold" grpId="0" nodeType="afterEffect">
                            <p:stCondLst>
                              <p:cond delay="160"/>
                            </p:stCondLst>
                            <p:childTnLst>
                              <p:set>
                                <p:cBhvr>
                                  <p:cTn id="105" dur="1" fill="hold">
                                    <p:stCondLst>
                                      <p:cond delay="0"/>
                                    </p:stCondLst>
                                  </p:cTn>
                                  <p:tgtEl>
                                    <p:spTgt spid="5"/>
                                  </p:tgtEl>
                                  <p:attrNameLst>
                                    <p:attrName>style.visibility</p:attrName>
                                  </p:attrNameLst>
                                </p:cBhvr>
                                <p:to>
                                  <p:strVal val="visible"/>
                                </p:to>
                              </p:set>
                              <p:animEffect transition="in" filter="fade">
                                <p:cBhvr>
                                  <p:cTn id="106" dur="420"/>
                                  <p:tgtEl>
                                    <p:spTgt spid="5"/>
                                  </p:tgtEl>
                                </p:cBhvr>
                              </p:animEffect>
                            </p:childTnLst>
                          </p:cTn>
                        </p:par>
                        <p:par>
                          <p:cTn id="107" presetID="10" presetClass="entr" presetSubtype="0" fill="hold" grpId="0" nodeType="afterEffect">
                            <p:stCondLst>
                              <p:cond delay="160"/>
                            </p:stCondLst>
                            <p:childTnLst>
                              <p:set>
                                <p:cBhvr>
                                  <p:cTn id="108" dur="1" fill="hold">
                                    <p:stCondLst>
                                      <p:cond delay="0"/>
                                    </p:stCondLst>
                                  </p:cTn>
                                  <p:tgtEl>
                                    <p:spTgt spid="6"/>
                                  </p:tgtEl>
                                  <p:attrNameLst>
                                    <p:attrName>style.visibility</p:attrName>
                                  </p:attrNameLst>
                                </p:cBhvr>
                                <p:to>
                                  <p:strVal val="visible"/>
                                </p:to>
                              </p:set>
                              <p:animEffect transition="in" filter="fade">
                                <p:cBhvr>
                                  <p:cTn id="109" dur="420"/>
                                  <p:tgtEl>
                                    <p:spTgt spid="6"/>
                                  </p:tgtEl>
                                </p:cBhvr>
                              </p:animEffect>
                            </p:childTnLst>
                          </p:cTn>
                        </p:par>
                        <p:par>
                          <p:cTn id="110" presetID="10" presetClass="entr" presetSubtype="0" fill="hold" grpId="0" nodeType="afterEffect">
                            <p:stCondLst>
                              <p:cond delay="160"/>
                            </p:stCondLst>
                            <p:childTnLst>
                              <p:set>
                                <p:cBhvr>
                                  <p:cTn id="111" dur="1" fill="hold">
                                    <p:stCondLst>
                                      <p:cond delay="0"/>
                                    </p:stCondLst>
                                  </p:cTn>
                                  <p:tgtEl>
                                    <p:spTgt spid="7"/>
                                  </p:tgtEl>
                                  <p:attrNameLst>
                                    <p:attrName>style.visibility</p:attrName>
                                  </p:attrNameLst>
                                </p:cBhvr>
                                <p:to>
                                  <p:strVal val="visible"/>
                                </p:to>
                              </p:set>
                              <p:animEffect transition="in" filter="fade">
                                <p:cBhvr>
                                  <p:cTn id="112" dur="420"/>
                                  <p:tgtEl>
                                    <p:spTgt spid="7"/>
                                  </p:tgtEl>
                                </p:cBhvr>
                              </p:animEffect>
                            </p:childTnLst>
                          </p:cTn>
                        </p:par>
                        <p:par>
                          <p:cTn id="113" presetID="10" presetClass="entr" presetSubtype="0" fill="hold" grpId="0" nodeType="afterEffect">
                            <p:stCondLst>
                              <p:cond delay="320"/>
                            </p:stCondLst>
                            <p:childTnLst>
                              <p:set>
                                <p:cBhvr>
                                  <p:cTn id="114" dur="1" fill="hold">
                                    <p:stCondLst>
                                      <p:cond delay="0"/>
                                    </p:stCondLst>
                                  </p:cTn>
                                  <p:tgtEl>
                                    <p:spTgt spid="8"/>
                                  </p:tgtEl>
                                  <p:attrNameLst>
                                    <p:attrName>style.visibility</p:attrName>
                                  </p:attrNameLst>
                                </p:cBhvr>
                                <p:to>
                                  <p:strVal val="visible"/>
                                </p:to>
                              </p:set>
                              <p:animEffect transition="in" filter="fade">
                                <p:cBhvr>
                                  <p:cTn id="115" dur="420"/>
                                  <p:tgtEl>
                                    <p:spTgt spid="8"/>
                                  </p:tgtEl>
                                </p:cBhvr>
                              </p:animEffect>
                            </p:childTnLst>
                          </p:cTn>
                        </p:par>
                        <p:par>
                          <p:cTn id="116" presetID="10" presetClass="entr" presetSubtype="0" fill="hold" grpId="0" nodeType="afterEffect">
                            <p:stCondLst>
                              <p:cond delay="320"/>
                            </p:stCondLst>
                            <p:childTnLst>
                              <p:set>
                                <p:cBhvr>
                                  <p:cTn id="117" dur="1" fill="hold">
                                    <p:stCondLst>
                                      <p:cond delay="0"/>
                                    </p:stCondLst>
                                  </p:cTn>
                                  <p:tgtEl>
                                    <p:spTgt spid="9"/>
                                  </p:tgtEl>
                                  <p:attrNameLst>
                                    <p:attrName>style.visibility</p:attrName>
                                  </p:attrNameLst>
                                </p:cBhvr>
                                <p:to>
                                  <p:strVal val="visible"/>
                                </p:to>
                              </p:set>
                              <p:animEffect transition="in" filter="fade">
                                <p:cBhvr>
                                  <p:cTn id="118" dur="420"/>
                                  <p:tgtEl>
                                    <p:spTgt spid="9"/>
                                  </p:tgtEl>
                                </p:cBhvr>
                              </p:animEffect>
                            </p:childTnLst>
                          </p:cTn>
                        </p:par>
                        <p:par>
                          <p:cTn id="119" presetID="10" presetClass="entr" presetSubtype="0" fill="hold" grpId="0" nodeType="afterEffect">
                            <p:stCondLst>
                              <p:cond delay="320"/>
                            </p:stCondLst>
                            <p:childTnLst>
                              <p:set>
                                <p:cBhvr>
                                  <p:cTn id="120" dur="1" fill="hold">
                                    <p:stCondLst>
                                      <p:cond delay="0"/>
                                    </p:stCondLst>
                                  </p:cTn>
                                  <p:tgtEl>
                                    <p:spTgt spid="10"/>
                                  </p:tgtEl>
                                  <p:attrNameLst>
                                    <p:attrName>style.visibility</p:attrName>
                                  </p:attrNameLst>
                                </p:cBhvr>
                                <p:to>
                                  <p:strVal val="visible"/>
                                </p:to>
                              </p:set>
                              <p:animEffect transition="in" filter="fade">
                                <p:cBhvr>
                                  <p:cTn id="121" dur="420"/>
                                  <p:tgtEl>
                                    <p:spTgt spid="10"/>
                                  </p:tgtEl>
                                </p:cBhvr>
                              </p:animEffect>
                            </p:childTnLst>
                          </p:cTn>
                        </p:par>
                        <p:par>
                          <p:cTn id="122" presetID="10" presetClass="entr" presetSubtype="0" fill="hold" grpId="0" nodeType="afterEffect">
                            <p:stCondLst>
                              <p:cond delay="480"/>
                            </p:stCondLst>
                            <p:childTnLst>
                              <p:set>
                                <p:cBhvr>
                                  <p:cTn id="123" dur="1" fill="hold">
                                    <p:stCondLst>
                                      <p:cond delay="0"/>
                                    </p:stCondLst>
                                  </p:cTn>
                                  <p:tgtEl>
                                    <p:spTgt spid="11"/>
                                  </p:tgtEl>
                                  <p:attrNameLst>
                                    <p:attrName>style.visibility</p:attrName>
                                  </p:attrNameLst>
                                </p:cBhvr>
                                <p:to>
                                  <p:strVal val="visible"/>
                                </p:to>
                              </p:set>
                              <p:animEffect transition="in" filter="fade">
                                <p:cBhvr>
                                  <p:cTn id="124" dur="420"/>
                                  <p:tgtEl>
                                    <p:spTgt spid="11"/>
                                  </p:tgtEl>
                                </p:cBhvr>
                              </p:animEffect>
                            </p:childTnLst>
                          </p:cTn>
                        </p:par>
                        <p:par>
                          <p:cTn id="125" presetID="10" presetClass="entr" presetSubtype="0" fill="hold" grpId="0" nodeType="afterEffect">
                            <p:stCondLst>
                              <p:cond delay="480"/>
                            </p:stCondLst>
                            <p:childTnLst>
                              <p:set>
                                <p:cBhvr>
                                  <p:cTn id="126" dur="1" fill="hold">
                                    <p:stCondLst>
                                      <p:cond delay="0"/>
                                    </p:stCondLst>
                                  </p:cTn>
                                  <p:tgtEl>
                                    <p:spTgt spid="12"/>
                                  </p:tgtEl>
                                  <p:attrNameLst>
                                    <p:attrName>style.visibility</p:attrName>
                                  </p:attrNameLst>
                                </p:cBhvr>
                                <p:to>
                                  <p:strVal val="visible"/>
                                </p:to>
                              </p:set>
                              <p:animEffect transition="in" filter="fade">
                                <p:cBhvr>
                                  <p:cTn id="127" dur="420"/>
                                  <p:tgtEl>
                                    <p:spTgt spid="12"/>
                                  </p:tgtEl>
                                </p:cBhvr>
                              </p:animEffect>
                            </p:childTnLst>
                          </p:cTn>
                        </p:par>
                        <p:par>
                          <p:cTn id="128" presetID="10" presetClass="entr" presetSubtype="0" fill="hold" grpId="0" nodeType="afterEffect">
                            <p:stCondLst>
                              <p:cond delay="480"/>
                            </p:stCondLst>
                            <p:childTnLst>
                              <p:set>
                                <p:cBhvr>
                                  <p:cTn id="129" dur="1" fill="hold">
                                    <p:stCondLst>
                                      <p:cond delay="0"/>
                                    </p:stCondLst>
                                  </p:cTn>
                                  <p:tgtEl>
                                    <p:spTgt spid="13"/>
                                  </p:tgtEl>
                                  <p:attrNameLst>
                                    <p:attrName>style.visibility</p:attrName>
                                  </p:attrNameLst>
                                </p:cBhvr>
                                <p:to>
                                  <p:strVal val="visible"/>
                                </p:to>
                              </p:set>
                              <p:animEffect transition="in" filter="fade">
                                <p:cBhvr>
                                  <p:cTn id="130" dur="420"/>
                                  <p:tgtEl>
                                    <p:spTgt spid="13"/>
                                  </p:tgtEl>
                                </p:cBhvr>
                              </p:animEffect>
                            </p:childTnLst>
                          </p:cTn>
                        </p:par>
                        <p:par>
                          <p:cTn id="131" presetID="10" presetClass="entr" presetSubtype="0" fill="hold" grpId="0" nodeType="afterEffect">
                            <p:stCondLst>
                              <p:cond delay="640"/>
                            </p:stCondLst>
                            <p:childTnLst>
                              <p:set>
                                <p:cBhvr>
                                  <p:cTn id="132" dur="1" fill="hold">
                                    <p:stCondLst>
                                      <p:cond delay="0"/>
                                    </p:stCondLst>
                                  </p:cTn>
                                  <p:tgtEl>
                                    <p:spTgt spid="14"/>
                                  </p:tgtEl>
                                  <p:attrNameLst>
                                    <p:attrName>style.visibility</p:attrName>
                                  </p:attrNameLst>
                                </p:cBhvr>
                                <p:to>
                                  <p:strVal val="visible"/>
                                </p:to>
                              </p:set>
                              <p:animEffect transition="in" filter="fade">
                                <p:cBhvr>
                                  <p:cTn id="133" dur="420"/>
                                  <p:tgtEl>
                                    <p:spTgt spid="14"/>
                                  </p:tgtEl>
                                </p:cBhvr>
                              </p:animEffect>
                            </p:childTnLst>
                          </p:cTn>
                        </p:par>
                        <p:par>
                          <p:cTn id="134" presetID="10" presetClass="entr" presetSubtype="0" fill="hold" grpId="0" nodeType="afterEffect">
                            <p:stCondLst>
                              <p:cond delay="640"/>
                            </p:stCondLst>
                            <p:childTnLst>
                              <p:set>
                                <p:cBhvr>
                                  <p:cTn id="135" dur="1" fill="hold">
                                    <p:stCondLst>
                                      <p:cond delay="0"/>
                                    </p:stCondLst>
                                  </p:cTn>
                                  <p:tgtEl>
                                    <p:spTgt spid="15"/>
                                  </p:tgtEl>
                                  <p:attrNameLst>
                                    <p:attrName>style.visibility</p:attrName>
                                  </p:attrNameLst>
                                </p:cBhvr>
                                <p:to>
                                  <p:strVal val="visible"/>
                                </p:to>
                              </p:set>
                              <p:animEffect transition="in" filter="fade">
                                <p:cBhvr>
                                  <p:cTn id="136" dur="420"/>
                                  <p:tgtEl>
                                    <p:spTgt spid="15"/>
                                  </p:tgtEl>
                                </p:cBhvr>
                              </p:animEffect>
                            </p:childTnLst>
                          </p:cTn>
                        </p:par>
                        <p:par>
                          <p:cTn id="137" presetID="10" presetClass="entr" presetSubtype="0" fill="hold" grpId="0" nodeType="afterEffect">
                            <p:stCondLst>
                              <p:cond delay="640"/>
                            </p:stCondLst>
                            <p:childTnLst>
                              <p:set>
                                <p:cBhvr>
                                  <p:cTn id="138" dur="1" fill="hold">
                                    <p:stCondLst>
                                      <p:cond delay="0"/>
                                    </p:stCondLst>
                                  </p:cTn>
                                  <p:tgtEl>
                                    <p:spTgt spid="16"/>
                                  </p:tgtEl>
                                  <p:attrNameLst>
                                    <p:attrName>style.visibility</p:attrName>
                                  </p:attrNameLst>
                                </p:cBhvr>
                                <p:to>
                                  <p:strVal val="visible"/>
                                </p:to>
                              </p:set>
                              <p:animEffect transition="in" filter="fade">
                                <p:cBhvr>
                                  <p:cTn id="139" dur="420"/>
                                  <p:tgtEl>
                                    <p:spTgt spid="16"/>
                                  </p:tgtEl>
                                </p:cBhvr>
                              </p:animEffect>
                            </p:childTnLst>
                          </p:cTn>
                        </p:par>
                        <p:par>
                          <p:cTn id="140" presetID="10" presetClass="entr" presetSubtype="0" fill="hold" grpId="0" nodeType="afterEffect">
                            <p:stCondLst>
                              <p:cond delay="800"/>
                            </p:stCondLst>
                            <p:childTnLst>
                              <p:set>
                                <p:cBhvr>
                                  <p:cTn id="141" dur="1" fill="hold">
                                    <p:stCondLst>
                                      <p:cond delay="0"/>
                                    </p:stCondLst>
                                  </p:cTn>
                                  <p:tgtEl>
                                    <p:spTgt spid="17"/>
                                  </p:tgtEl>
                                  <p:attrNameLst>
                                    <p:attrName>style.visibility</p:attrName>
                                  </p:attrNameLst>
                                </p:cBhvr>
                                <p:to>
                                  <p:strVal val="visible"/>
                                </p:to>
                              </p:set>
                              <p:animEffect transition="in" filter="fade">
                                <p:cBhvr>
                                  <p:cTn id="142" dur="420"/>
                                  <p:tgtEl>
                                    <p:spTgt spid="17"/>
                                  </p:tgtEl>
                                </p:cBhvr>
                              </p:animEffect>
                            </p:childTnLst>
                          </p:cTn>
                        </p:par>
                      </p:childTnLst>
                    </p:cTn>
                  </p:par>
                </p:childTnLst>
              </p:cTn>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881360" cy="292608"/>
          </a:xfrm>
          <a:prstGeom prst="rect">
            <a:avLst/>
          </a:prstGeom>
          <a:noFill/>
        </p:spPr>
        <p:txBody>
          <a:bodyPr wrap="square" lIns="0" rIns="0" tIns="0" bIns="0" anchor="t">
            <a:spAutoFit/>
          </a:bodyPr>
          <a:lstStyle/>
          <a:p>
            <a:pPr algn="l">
              <a:lnSpc>
                <a:spcPct val="100000"/>
              </a:lnSpc>
              <a:spcBef>
                <a:spcPts val="0"/>
              </a:spcBef>
              <a:spcAft>
                <a:spcPts val="0"/>
              </a:spcAft>
            </a:pPr>
            <a:r>
              <a:rPr sz="1250" b="1" i="0">
                <a:solidFill>
                  <a:srgbClr val="B8863B"/>
                </a:solidFill>
                <a:latin typeface="Calibri"/>
              </a:rPr>
              <a:t>INTRODUCTION GÉNÉRALE · CONTEXTE</a:t>
            </a:r>
          </a:p>
        </p:txBody>
      </p:sp>
      <p:sp>
        <p:nvSpPr>
          <p:cNvPr id="3" name="TextBox 2"/>
          <p:cNvSpPr txBox="1"/>
          <p:nvPr/>
        </p:nvSpPr>
        <p:spPr>
          <a:xfrm>
            <a:off x="640080" y="786384"/>
            <a:ext cx="10881360" cy="777240"/>
          </a:xfrm>
          <a:prstGeom prst="rect">
            <a:avLst/>
          </a:prstGeom>
          <a:noFill/>
        </p:spPr>
        <p:txBody>
          <a:bodyPr wrap="square" lIns="0" rIns="0" tIns="0" bIns="0" anchor="t">
            <a:spAutoFit/>
          </a:bodyPr>
          <a:lstStyle/>
          <a:p>
            <a:pPr algn="l">
              <a:lnSpc>
                <a:spcPct val="102000"/>
              </a:lnSpc>
              <a:spcBef>
                <a:spcPts val="0"/>
              </a:spcBef>
              <a:spcAft>
                <a:spcPts val="0"/>
              </a:spcAft>
            </a:pPr>
            <a:r>
              <a:rPr sz="2700" b="1" i="0">
                <a:solidFill>
                  <a:srgbClr val="0F5B4C"/>
                </a:solidFill>
                <a:latin typeface="Cambria"/>
              </a:rPr>
              <a:t>Un processus de gestion entièrement manuel</a:t>
            </a:r>
          </a:p>
        </p:txBody>
      </p:sp>
      <p:sp>
        <p:nvSpPr>
          <p:cNvPr id="4" name="Oval 3"/>
          <p:cNvSpPr/>
          <p:nvPr/>
        </p:nvSpPr>
        <p:spPr>
          <a:xfrm>
            <a:off x="640080" y="1508760"/>
            <a:ext cx="384048" cy="384048"/>
          </a:xfrm>
          <a:prstGeom prst="ellipse">
            <a:avLst/>
          </a:prstGeom>
          <a:solidFill>
            <a:srgbClr val="0F5B4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E6BD7C"/>
                </a:solidFill>
                <a:latin typeface="Calibri"/>
              </a:rPr>
              <a:t>1</a:t>
            </a:r>
          </a:p>
        </p:txBody>
      </p:sp>
      <p:sp>
        <p:nvSpPr>
          <p:cNvPr id="5" name="TextBox 4"/>
          <p:cNvSpPr txBox="1"/>
          <p:nvPr/>
        </p:nvSpPr>
        <p:spPr>
          <a:xfrm>
            <a:off x="1188720" y="1490472"/>
            <a:ext cx="4572000" cy="685800"/>
          </a:xfrm>
          <a:prstGeom prst="rect">
            <a:avLst/>
          </a:prstGeom>
          <a:noFill/>
        </p:spPr>
        <p:txBody>
          <a:bodyPr wrap="square" lIns="0" rIns="0" tIns="0" bIns="0" anchor="t">
            <a:spAutoFit/>
          </a:bodyPr>
          <a:lstStyle/>
          <a:p>
            <a:pPr algn="l">
              <a:lnSpc>
                <a:spcPct val="115000"/>
              </a:lnSpc>
              <a:spcBef>
                <a:spcPts val="0"/>
              </a:spcBef>
              <a:spcAft>
                <a:spcPts val="0"/>
              </a:spcAft>
            </a:pPr>
            <a:r>
              <a:rPr sz="1300" b="0" i="0">
                <a:solidFill>
                  <a:srgbClr val="24312B"/>
                </a:solidFill>
                <a:latin typeface="Calibri"/>
              </a:rPr>
              <a:t>Prise de mesures au mètre ruban, consignées sur cahier ou fiche volante</a:t>
            </a:r>
          </a:p>
        </p:txBody>
      </p:sp>
      <p:sp>
        <p:nvSpPr>
          <p:cNvPr id="6" name="Oval 5"/>
          <p:cNvSpPr/>
          <p:nvPr/>
        </p:nvSpPr>
        <p:spPr>
          <a:xfrm>
            <a:off x="640080" y="2350008"/>
            <a:ext cx="384048" cy="384048"/>
          </a:xfrm>
          <a:prstGeom prst="ellipse">
            <a:avLst/>
          </a:prstGeom>
          <a:solidFill>
            <a:srgbClr val="0F5B4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E6BD7C"/>
                </a:solidFill>
                <a:latin typeface="Calibri"/>
              </a:rPr>
              <a:t>2</a:t>
            </a:r>
          </a:p>
        </p:txBody>
      </p:sp>
      <p:sp>
        <p:nvSpPr>
          <p:cNvPr id="7" name="TextBox 6"/>
          <p:cNvSpPr txBox="1"/>
          <p:nvPr/>
        </p:nvSpPr>
        <p:spPr>
          <a:xfrm>
            <a:off x="1188720" y="2331720"/>
            <a:ext cx="4572000" cy="685800"/>
          </a:xfrm>
          <a:prstGeom prst="rect">
            <a:avLst/>
          </a:prstGeom>
          <a:noFill/>
        </p:spPr>
        <p:txBody>
          <a:bodyPr wrap="square" lIns="0" rIns="0" tIns="0" bIns="0" anchor="t">
            <a:spAutoFit/>
          </a:bodyPr>
          <a:lstStyle/>
          <a:p>
            <a:pPr algn="l">
              <a:lnSpc>
                <a:spcPct val="115000"/>
              </a:lnSpc>
              <a:spcBef>
                <a:spcPts val="0"/>
              </a:spcBef>
              <a:spcAft>
                <a:spcPts val="0"/>
              </a:spcAft>
            </a:pPr>
            <a:r>
              <a:rPr sz="1300" b="0" i="0">
                <a:solidFill>
                  <a:srgbClr val="24312B"/>
                </a:solidFill>
                <a:latin typeface="Calibri"/>
              </a:rPr>
              <a:t>Commande notée dans un carnet papier, sans centralisation entre boutiques</a:t>
            </a:r>
          </a:p>
        </p:txBody>
      </p:sp>
      <p:sp>
        <p:nvSpPr>
          <p:cNvPr id="8" name="Oval 7"/>
          <p:cNvSpPr/>
          <p:nvPr/>
        </p:nvSpPr>
        <p:spPr>
          <a:xfrm>
            <a:off x="640080" y="3191256"/>
            <a:ext cx="384048" cy="384048"/>
          </a:xfrm>
          <a:prstGeom prst="ellipse">
            <a:avLst/>
          </a:prstGeom>
          <a:solidFill>
            <a:srgbClr val="0F5B4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E6BD7C"/>
                </a:solidFill>
                <a:latin typeface="Calibri"/>
              </a:rPr>
              <a:t>3</a:t>
            </a:r>
          </a:p>
        </p:txBody>
      </p:sp>
      <p:sp>
        <p:nvSpPr>
          <p:cNvPr id="9" name="TextBox 8"/>
          <p:cNvSpPr txBox="1"/>
          <p:nvPr/>
        </p:nvSpPr>
        <p:spPr>
          <a:xfrm>
            <a:off x="1188720" y="3172968"/>
            <a:ext cx="4572000" cy="685800"/>
          </a:xfrm>
          <a:prstGeom prst="rect">
            <a:avLst/>
          </a:prstGeom>
          <a:noFill/>
        </p:spPr>
        <p:txBody>
          <a:bodyPr wrap="square" lIns="0" rIns="0" tIns="0" bIns="0" anchor="t">
            <a:spAutoFit/>
          </a:bodyPr>
          <a:lstStyle/>
          <a:p>
            <a:pPr algn="l">
              <a:lnSpc>
                <a:spcPct val="115000"/>
              </a:lnSpc>
              <a:spcBef>
                <a:spcPts val="0"/>
              </a:spcBef>
              <a:spcAft>
                <a:spcPts val="0"/>
              </a:spcAft>
            </a:pPr>
            <a:r>
              <a:rPr sz="1300" b="0" i="0">
                <a:solidFill>
                  <a:srgbClr val="24312B"/>
                </a:solidFill>
                <a:latin typeface="Calibri"/>
              </a:rPr>
              <a:t>Suivi de l'avancement oral entre propriétaire et employés</a:t>
            </a:r>
          </a:p>
        </p:txBody>
      </p:sp>
      <p:sp>
        <p:nvSpPr>
          <p:cNvPr id="10" name="Oval 9"/>
          <p:cNvSpPr/>
          <p:nvPr/>
        </p:nvSpPr>
        <p:spPr>
          <a:xfrm>
            <a:off x="640080" y="4032504"/>
            <a:ext cx="384048" cy="384048"/>
          </a:xfrm>
          <a:prstGeom prst="ellipse">
            <a:avLst/>
          </a:prstGeom>
          <a:solidFill>
            <a:srgbClr val="0F5B4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E6BD7C"/>
                </a:solidFill>
                <a:latin typeface="Calibri"/>
              </a:rPr>
              <a:t>4</a:t>
            </a:r>
          </a:p>
        </p:txBody>
      </p:sp>
      <p:sp>
        <p:nvSpPr>
          <p:cNvPr id="11" name="TextBox 10"/>
          <p:cNvSpPr txBox="1"/>
          <p:nvPr/>
        </p:nvSpPr>
        <p:spPr>
          <a:xfrm>
            <a:off x="1188720" y="4014216"/>
            <a:ext cx="4572000" cy="685800"/>
          </a:xfrm>
          <a:prstGeom prst="rect">
            <a:avLst/>
          </a:prstGeom>
          <a:noFill/>
        </p:spPr>
        <p:txBody>
          <a:bodyPr wrap="square" lIns="0" rIns="0" tIns="0" bIns="0" anchor="t">
            <a:spAutoFit/>
          </a:bodyPr>
          <a:lstStyle/>
          <a:p>
            <a:pPr algn="l">
              <a:lnSpc>
                <a:spcPct val="115000"/>
              </a:lnSpc>
              <a:spcBef>
                <a:spcPts val="0"/>
              </a:spcBef>
              <a:spcAft>
                <a:spcPts val="0"/>
              </a:spcAft>
            </a:pPr>
            <a:r>
              <a:rPr sz="1300" b="0" i="0">
                <a:solidFill>
                  <a:srgbClr val="24312B"/>
                </a:solidFill>
                <a:latin typeface="Calibri"/>
              </a:rPr>
              <a:t>Relance du client basée sur la mémoire du couturier</a:t>
            </a:r>
          </a:p>
        </p:txBody>
      </p:sp>
      <p:sp>
        <p:nvSpPr>
          <p:cNvPr id="12" name="Oval 11"/>
          <p:cNvSpPr/>
          <p:nvPr/>
        </p:nvSpPr>
        <p:spPr>
          <a:xfrm>
            <a:off x="640080" y="4873752"/>
            <a:ext cx="384048" cy="384048"/>
          </a:xfrm>
          <a:prstGeom prst="ellipse">
            <a:avLst/>
          </a:prstGeom>
          <a:solidFill>
            <a:srgbClr val="0F5B4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E6BD7C"/>
                </a:solidFill>
                <a:latin typeface="Calibri"/>
              </a:rPr>
              <a:t>5</a:t>
            </a:r>
          </a:p>
        </p:txBody>
      </p:sp>
      <p:sp>
        <p:nvSpPr>
          <p:cNvPr id="13" name="TextBox 12"/>
          <p:cNvSpPr txBox="1"/>
          <p:nvPr/>
        </p:nvSpPr>
        <p:spPr>
          <a:xfrm>
            <a:off x="1188720" y="4855464"/>
            <a:ext cx="4572000" cy="685800"/>
          </a:xfrm>
          <a:prstGeom prst="rect">
            <a:avLst/>
          </a:prstGeom>
          <a:noFill/>
        </p:spPr>
        <p:txBody>
          <a:bodyPr wrap="square" lIns="0" rIns="0" tIns="0" bIns="0" anchor="t">
            <a:spAutoFit/>
          </a:bodyPr>
          <a:lstStyle/>
          <a:p>
            <a:pPr algn="l">
              <a:lnSpc>
                <a:spcPct val="115000"/>
              </a:lnSpc>
              <a:spcBef>
                <a:spcPts val="0"/>
              </a:spcBef>
              <a:spcAft>
                <a:spcPts val="0"/>
              </a:spcAft>
            </a:pPr>
            <a:r>
              <a:rPr sz="1300" b="0" i="0">
                <a:solidFill>
                  <a:srgbClr val="24312B"/>
                </a:solidFill>
                <a:latin typeface="Calibri"/>
              </a:rPr>
              <a:t>Encaissement en espèces, sans reçu systématique</a:t>
            </a:r>
          </a:p>
        </p:txBody>
      </p:sp>
      <p:pic>
        <p:nvPicPr>
          <p:cNvPr id="14" name="Picture 13" descr="fig01_bpmn_existant.png"/>
          <p:cNvPicPr>
            <a:picLocks noChangeAspect="1"/>
          </p:cNvPicPr>
          <p:nvPr/>
        </p:nvPicPr>
        <p:blipFill>
          <a:blip r:embed="rId2"/>
          <a:stretch>
            <a:fillRect/>
          </a:stretch>
        </p:blipFill>
        <p:spPr>
          <a:xfrm>
            <a:off x="5943600" y="1417320"/>
            <a:ext cx="5669280" cy="2932584"/>
          </a:xfrm>
          <a:prstGeom prst="rect">
            <a:avLst/>
          </a:prstGeom>
        </p:spPr>
      </p:pic>
      <p:sp>
        <p:nvSpPr>
          <p:cNvPr id="15" name="TextBox 14"/>
          <p:cNvSpPr txBox="1"/>
          <p:nvPr/>
        </p:nvSpPr>
        <p:spPr>
          <a:xfrm>
            <a:off x="5943600" y="6263640"/>
            <a:ext cx="5669280" cy="320040"/>
          </a:xfrm>
          <a:prstGeom prst="rect">
            <a:avLst/>
          </a:prstGeom>
          <a:noFill/>
        </p:spPr>
        <p:txBody>
          <a:bodyPr wrap="square" lIns="0" rIns="0" tIns="0" bIns="0" anchor="t">
            <a:spAutoFit/>
          </a:bodyPr>
          <a:lstStyle/>
          <a:p>
            <a:pPr algn="ctr">
              <a:lnSpc>
                <a:spcPct val="100000"/>
              </a:lnSpc>
              <a:spcBef>
                <a:spcPts val="0"/>
              </a:spcBef>
              <a:spcAft>
                <a:spcPts val="0"/>
              </a:spcAft>
            </a:pPr>
            <a:r>
              <a:rPr sz="1050" b="0" i="1">
                <a:solidFill>
                  <a:srgbClr val="68796F"/>
                </a:solidFill>
                <a:latin typeface="Calibri"/>
              </a:rPr>
              <a:t>Modélisation BPMN du processus existant</a:t>
            </a:r>
          </a:p>
        </p:txBody>
      </p:sp>
      <p:sp>
        <p:nvSpPr>
          <p:cNvPr id="16" name="TextBox 15"/>
          <p:cNvSpPr txBox="1"/>
          <p:nvPr/>
        </p:nvSpPr>
        <p:spPr>
          <a:xfrm>
            <a:off x="640080" y="6519672"/>
            <a:ext cx="7315200" cy="274320"/>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68796F"/>
                </a:solidFill>
                <a:latin typeface="Calibri"/>
              </a:rPr>
              <a:t>Kayñiawlu — Soutenance de mémoire</a:t>
            </a:r>
          </a:p>
        </p:txBody>
      </p:sp>
      <p:sp>
        <p:nvSpPr>
          <p:cNvPr id="17" name="TextBox 16"/>
          <p:cNvSpPr txBox="1"/>
          <p:nvPr/>
        </p:nvSpPr>
        <p:spPr>
          <a:xfrm>
            <a:off x="10180015" y="6519672"/>
            <a:ext cx="1371600" cy="274320"/>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8796F"/>
                </a:solidFill>
                <a:latin typeface="Calibri"/>
              </a:rPr>
              <a:t>5</a:t>
            </a:r>
          </a:p>
        </p:txBody>
      </p:sp>
    </p:spTree>
  </p:cSld>
  <p:clrMapOvr>
    <a:masterClrMapping/>
  </p:clrMapOvr>
  <p:transition spd="med">
    <p:fade/>
  </p:transition>
  <p:timing>
    <p:tnLst>
      <p:par>
        <p:cTn id="137" dur="indefinite" restart="never" nodeType="tmRoot">
          <p:childTnLst>
            <p:seq concurrent="1" nextAc="seek">
              <p:cTn id="138" dur="indefinite" nodeType="mainSeq">
                <p:childTnLst>
                  <p:par>
                    <p:cTn id="139" fill="hold">
                      <p:stCondLst>
                        <p:cond delay="0"/>
                      </p:stCondLst>
                      <p:childTnLst>
                        <p:par>
                          <p:cTn id="101" presetID="10" presetClass="entr" presetSubtype="0" fill="hold" grpId="0" nodeType="afterEffect">
                            <p:stCondLst>
                              <p:cond delay="0"/>
                            </p:stCondLst>
                            <p:childTnLst>
                              <p:set>
                                <p:cBhvr>
                                  <p:cTn id="102" dur="1" fill="hold">
                                    <p:stCondLst>
                                      <p:cond delay="0"/>
                                    </p:stCondLst>
                                  </p:cTn>
                                  <p:tgtEl>
                                    <p:spTgt spid="4"/>
                                  </p:tgtEl>
                                  <p:attrNameLst>
                                    <p:attrName>style.visibility</p:attrName>
                                  </p:attrNameLst>
                                </p:cBhvr>
                                <p:to>
                                  <p:strVal val="visible"/>
                                </p:to>
                              </p:set>
                              <p:animEffect transition="in" filter="fade">
                                <p:cBhvr>
                                  <p:cTn id="103" dur="420"/>
                                  <p:tgtEl>
                                    <p:spTgt spid="4"/>
                                  </p:tgtEl>
                                </p:cBhvr>
                              </p:animEffect>
                            </p:childTnLst>
                          </p:cTn>
                        </p:par>
                        <p:par>
                          <p:cTn id="104" presetID="10" presetClass="entr" presetSubtype="0" fill="hold" grpId="0" nodeType="afterEffect">
                            <p:stCondLst>
                              <p:cond delay="0"/>
                            </p:stCondLst>
                            <p:childTnLst>
                              <p:set>
                                <p:cBhvr>
                                  <p:cTn id="105" dur="1" fill="hold">
                                    <p:stCondLst>
                                      <p:cond delay="0"/>
                                    </p:stCondLst>
                                  </p:cTn>
                                  <p:tgtEl>
                                    <p:spTgt spid="5"/>
                                  </p:tgtEl>
                                  <p:attrNameLst>
                                    <p:attrName>style.visibility</p:attrName>
                                  </p:attrNameLst>
                                </p:cBhvr>
                                <p:to>
                                  <p:strVal val="visible"/>
                                </p:to>
                              </p:set>
                              <p:animEffect transition="in" filter="fade">
                                <p:cBhvr>
                                  <p:cTn id="106" dur="420"/>
                                  <p:tgtEl>
                                    <p:spTgt spid="5"/>
                                  </p:tgtEl>
                                </p:cBhvr>
                              </p:animEffect>
                            </p:childTnLst>
                          </p:cTn>
                        </p:par>
                        <p:par>
                          <p:cTn id="107" presetID="10" presetClass="entr" presetSubtype="0" fill="hold" grpId="0" nodeType="afterEffect">
                            <p:stCondLst>
                              <p:cond delay="160"/>
                            </p:stCondLst>
                            <p:childTnLst>
                              <p:set>
                                <p:cBhvr>
                                  <p:cTn id="108" dur="1" fill="hold">
                                    <p:stCondLst>
                                      <p:cond delay="0"/>
                                    </p:stCondLst>
                                  </p:cTn>
                                  <p:tgtEl>
                                    <p:spTgt spid="6"/>
                                  </p:tgtEl>
                                  <p:attrNameLst>
                                    <p:attrName>style.visibility</p:attrName>
                                  </p:attrNameLst>
                                </p:cBhvr>
                                <p:to>
                                  <p:strVal val="visible"/>
                                </p:to>
                              </p:set>
                              <p:animEffect transition="in" filter="fade">
                                <p:cBhvr>
                                  <p:cTn id="109" dur="420"/>
                                  <p:tgtEl>
                                    <p:spTgt spid="6"/>
                                  </p:tgtEl>
                                </p:cBhvr>
                              </p:animEffect>
                            </p:childTnLst>
                          </p:cTn>
                        </p:par>
                        <p:par>
                          <p:cTn id="110" presetID="10" presetClass="entr" presetSubtype="0" fill="hold" grpId="0" nodeType="afterEffect">
                            <p:stCondLst>
                              <p:cond delay="160"/>
                            </p:stCondLst>
                            <p:childTnLst>
                              <p:set>
                                <p:cBhvr>
                                  <p:cTn id="111" dur="1" fill="hold">
                                    <p:stCondLst>
                                      <p:cond delay="0"/>
                                    </p:stCondLst>
                                  </p:cTn>
                                  <p:tgtEl>
                                    <p:spTgt spid="7"/>
                                  </p:tgtEl>
                                  <p:attrNameLst>
                                    <p:attrName>style.visibility</p:attrName>
                                  </p:attrNameLst>
                                </p:cBhvr>
                                <p:to>
                                  <p:strVal val="visible"/>
                                </p:to>
                              </p:set>
                              <p:animEffect transition="in" filter="fade">
                                <p:cBhvr>
                                  <p:cTn id="112" dur="420"/>
                                  <p:tgtEl>
                                    <p:spTgt spid="7"/>
                                  </p:tgtEl>
                                </p:cBhvr>
                              </p:animEffect>
                            </p:childTnLst>
                          </p:cTn>
                        </p:par>
                        <p:par>
                          <p:cTn id="113" presetID="10" presetClass="entr" presetSubtype="0" fill="hold" grpId="0" nodeType="afterEffect">
                            <p:stCondLst>
                              <p:cond delay="320"/>
                            </p:stCondLst>
                            <p:childTnLst>
                              <p:set>
                                <p:cBhvr>
                                  <p:cTn id="114" dur="1" fill="hold">
                                    <p:stCondLst>
                                      <p:cond delay="0"/>
                                    </p:stCondLst>
                                  </p:cTn>
                                  <p:tgtEl>
                                    <p:spTgt spid="8"/>
                                  </p:tgtEl>
                                  <p:attrNameLst>
                                    <p:attrName>style.visibility</p:attrName>
                                  </p:attrNameLst>
                                </p:cBhvr>
                                <p:to>
                                  <p:strVal val="visible"/>
                                </p:to>
                              </p:set>
                              <p:animEffect transition="in" filter="fade">
                                <p:cBhvr>
                                  <p:cTn id="115" dur="420"/>
                                  <p:tgtEl>
                                    <p:spTgt spid="8"/>
                                  </p:tgtEl>
                                </p:cBhvr>
                              </p:animEffect>
                            </p:childTnLst>
                          </p:cTn>
                        </p:par>
                        <p:par>
                          <p:cTn id="116" presetID="10" presetClass="entr" presetSubtype="0" fill="hold" grpId="0" nodeType="afterEffect">
                            <p:stCondLst>
                              <p:cond delay="320"/>
                            </p:stCondLst>
                            <p:childTnLst>
                              <p:set>
                                <p:cBhvr>
                                  <p:cTn id="117" dur="1" fill="hold">
                                    <p:stCondLst>
                                      <p:cond delay="0"/>
                                    </p:stCondLst>
                                  </p:cTn>
                                  <p:tgtEl>
                                    <p:spTgt spid="9"/>
                                  </p:tgtEl>
                                  <p:attrNameLst>
                                    <p:attrName>style.visibility</p:attrName>
                                  </p:attrNameLst>
                                </p:cBhvr>
                                <p:to>
                                  <p:strVal val="visible"/>
                                </p:to>
                              </p:set>
                              <p:animEffect transition="in" filter="fade">
                                <p:cBhvr>
                                  <p:cTn id="118" dur="420"/>
                                  <p:tgtEl>
                                    <p:spTgt spid="9"/>
                                  </p:tgtEl>
                                </p:cBhvr>
                              </p:animEffect>
                            </p:childTnLst>
                          </p:cTn>
                        </p:par>
                        <p:par>
                          <p:cTn id="119" presetID="10" presetClass="entr" presetSubtype="0" fill="hold" grpId="0" nodeType="afterEffect">
                            <p:stCondLst>
                              <p:cond delay="480"/>
                            </p:stCondLst>
                            <p:childTnLst>
                              <p:set>
                                <p:cBhvr>
                                  <p:cTn id="120" dur="1" fill="hold">
                                    <p:stCondLst>
                                      <p:cond delay="0"/>
                                    </p:stCondLst>
                                  </p:cTn>
                                  <p:tgtEl>
                                    <p:spTgt spid="10"/>
                                  </p:tgtEl>
                                  <p:attrNameLst>
                                    <p:attrName>style.visibility</p:attrName>
                                  </p:attrNameLst>
                                </p:cBhvr>
                                <p:to>
                                  <p:strVal val="visible"/>
                                </p:to>
                              </p:set>
                              <p:animEffect transition="in" filter="fade">
                                <p:cBhvr>
                                  <p:cTn id="121" dur="420"/>
                                  <p:tgtEl>
                                    <p:spTgt spid="10"/>
                                  </p:tgtEl>
                                </p:cBhvr>
                              </p:animEffect>
                            </p:childTnLst>
                          </p:cTn>
                        </p:par>
                        <p:par>
                          <p:cTn id="122" presetID="10" presetClass="entr" presetSubtype="0" fill="hold" grpId="0" nodeType="afterEffect">
                            <p:stCondLst>
                              <p:cond delay="480"/>
                            </p:stCondLst>
                            <p:childTnLst>
                              <p:set>
                                <p:cBhvr>
                                  <p:cTn id="123" dur="1" fill="hold">
                                    <p:stCondLst>
                                      <p:cond delay="0"/>
                                    </p:stCondLst>
                                  </p:cTn>
                                  <p:tgtEl>
                                    <p:spTgt spid="11"/>
                                  </p:tgtEl>
                                  <p:attrNameLst>
                                    <p:attrName>style.visibility</p:attrName>
                                  </p:attrNameLst>
                                </p:cBhvr>
                                <p:to>
                                  <p:strVal val="visible"/>
                                </p:to>
                              </p:set>
                              <p:animEffect transition="in" filter="fade">
                                <p:cBhvr>
                                  <p:cTn id="124" dur="420"/>
                                  <p:tgtEl>
                                    <p:spTgt spid="11"/>
                                  </p:tgtEl>
                                </p:cBhvr>
                              </p:animEffect>
                            </p:childTnLst>
                          </p:cTn>
                        </p:par>
                        <p:par>
                          <p:cTn id="125" presetID="10" presetClass="entr" presetSubtype="0" fill="hold" grpId="0" nodeType="afterEffect">
                            <p:stCondLst>
                              <p:cond delay="640"/>
                            </p:stCondLst>
                            <p:childTnLst>
                              <p:set>
                                <p:cBhvr>
                                  <p:cTn id="126" dur="1" fill="hold">
                                    <p:stCondLst>
                                      <p:cond delay="0"/>
                                    </p:stCondLst>
                                  </p:cTn>
                                  <p:tgtEl>
                                    <p:spTgt spid="12"/>
                                  </p:tgtEl>
                                  <p:attrNameLst>
                                    <p:attrName>style.visibility</p:attrName>
                                  </p:attrNameLst>
                                </p:cBhvr>
                                <p:to>
                                  <p:strVal val="visible"/>
                                </p:to>
                              </p:set>
                              <p:animEffect transition="in" filter="fade">
                                <p:cBhvr>
                                  <p:cTn id="127" dur="420"/>
                                  <p:tgtEl>
                                    <p:spTgt spid="12"/>
                                  </p:tgtEl>
                                </p:cBhvr>
                              </p:animEffect>
                            </p:childTnLst>
                          </p:cTn>
                        </p:par>
                        <p:par>
                          <p:cTn id="128" presetID="10" presetClass="entr" presetSubtype="0" fill="hold" grpId="0" nodeType="afterEffect">
                            <p:stCondLst>
                              <p:cond delay="640"/>
                            </p:stCondLst>
                            <p:childTnLst>
                              <p:set>
                                <p:cBhvr>
                                  <p:cTn id="129" dur="1" fill="hold">
                                    <p:stCondLst>
                                      <p:cond delay="0"/>
                                    </p:stCondLst>
                                  </p:cTn>
                                  <p:tgtEl>
                                    <p:spTgt spid="13"/>
                                  </p:tgtEl>
                                  <p:attrNameLst>
                                    <p:attrName>style.visibility</p:attrName>
                                  </p:attrNameLst>
                                </p:cBhvr>
                                <p:to>
                                  <p:strVal val="visible"/>
                                </p:to>
                              </p:set>
                              <p:animEffect transition="in" filter="fade">
                                <p:cBhvr>
                                  <p:cTn id="130" dur="420"/>
                                  <p:tgtEl>
                                    <p:spTgt spid="13"/>
                                  </p:tgtEl>
                                </p:cBhvr>
                              </p:animEffect>
                            </p:childTnLst>
                          </p:cTn>
                        </p:par>
                        <p:par>
                          <p:cTn id="131" presetID="10" presetClass="entr" presetSubtype="0" fill="hold" grpId="0" nodeType="afterEffect">
                            <p:stCondLst>
                              <p:cond delay="800"/>
                            </p:stCondLst>
                            <p:childTnLst>
                              <p:set>
                                <p:cBhvr>
                                  <p:cTn id="132" dur="1" fill="hold">
                                    <p:stCondLst>
                                      <p:cond delay="0"/>
                                    </p:stCondLst>
                                  </p:cTn>
                                  <p:tgtEl>
                                    <p:spTgt spid="14"/>
                                  </p:tgtEl>
                                  <p:attrNameLst>
                                    <p:attrName>style.visibility</p:attrName>
                                  </p:attrNameLst>
                                </p:cBhvr>
                                <p:to>
                                  <p:strVal val="visible"/>
                                </p:to>
                              </p:set>
                              <p:animEffect transition="in" filter="fade">
                                <p:cBhvr>
                                  <p:cTn id="133" dur="420"/>
                                  <p:tgtEl>
                                    <p:spTgt spid="14"/>
                                  </p:tgtEl>
                                </p:cBhvr>
                              </p:animEffect>
                            </p:childTnLst>
                          </p:cTn>
                        </p:par>
                        <p:par>
                          <p:cTn id="134" presetID="10" presetClass="entr" presetSubtype="0" fill="hold" grpId="0" nodeType="afterEffect">
                            <p:stCondLst>
                              <p:cond delay="800"/>
                            </p:stCondLst>
                            <p:childTnLst>
                              <p:set>
                                <p:cBhvr>
                                  <p:cTn id="135" dur="1" fill="hold">
                                    <p:stCondLst>
                                      <p:cond delay="0"/>
                                    </p:stCondLst>
                                  </p:cTn>
                                  <p:tgtEl>
                                    <p:spTgt spid="15"/>
                                  </p:tgtEl>
                                  <p:attrNameLst>
                                    <p:attrName>style.visibility</p:attrName>
                                  </p:attrNameLst>
                                </p:cBhvr>
                                <p:to>
                                  <p:strVal val="visible"/>
                                </p:to>
                              </p:set>
                              <p:animEffect transition="in" filter="fade">
                                <p:cBhvr>
                                  <p:cTn id="136" dur="420"/>
                                  <p:tgtEl>
                                    <p:spTgt spid="15"/>
                                  </p:tgtEl>
                                </p:cBhvr>
                              </p:animEffect>
                            </p:childTnLst>
                          </p:cTn>
                        </p:par>
                      </p:childTnLst>
                    </p:cTn>
                  </p:par>
                </p:childTnLst>
              </p:cTn>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5B4C"/>
        </a:solidFill>
        <a:effectLst/>
      </p:bgPr>
    </p:bg>
    <p:spTree>
      <p:nvGrpSpPr>
        <p:cNvPr id="1" name=""/>
        <p:cNvGrpSpPr/>
        <p:nvPr/>
      </p:nvGrpSpPr>
      <p:grpSpPr/>
      <p:sp>
        <p:nvSpPr>
          <p:cNvPr id="2" name="TextBox 1"/>
          <p:cNvSpPr txBox="1"/>
          <p:nvPr/>
        </p:nvSpPr>
        <p:spPr>
          <a:xfrm>
            <a:off x="640080" y="457200"/>
            <a:ext cx="10881360" cy="292608"/>
          </a:xfrm>
          <a:prstGeom prst="rect">
            <a:avLst/>
          </a:prstGeom>
          <a:noFill/>
        </p:spPr>
        <p:txBody>
          <a:bodyPr wrap="square" lIns="0" rIns="0" tIns="0" bIns="0" anchor="t">
            <a:spAutoFit/>
          </a:bodyPr>
          <a:lstStyle/>
          <a:p>
            <a:pPr algn="l">
              <a:lnSpc>
                <a:spcPct val="100000"/>
              </a:lnSpc>
              <a:spcBef>
                <a:spcPts val="0"/>
              </a:spcBef>
              <a:spcAft>
                <a:spcPts val="0"/>
              </a:spcAft>
            </a:pPr>
            <a:r>
              <a:rPr sz="1250" b="1" i="0">
                <a:solidFill>
                  <a:srgbClr val="E6BD7C"/>
                </a:solidFill>
                <a:latin typeface="Calibri"/>
              </a:rPr>
              <a:t>INTRODUCTION GÉNÉRALE · CONTEXTE</a:t>
            </a:r>
          </a:p>
        </p:txBody>
      </p:sp>
      <p:sp>
        <p:nvSpPr>
          <p:cNvPr id="3" name="TextBox 2"/>
          <p:cNvSpPr txBox="1"/>
          <p:nvPr/>
        </p:nvSpPr>
        <p:spPr>
          <a:xfrm>
            <a:off x="640080" y="786384"/>
            <a:ext cx="10881360" cy="777240"/>
          </a:xfrm>
          <a:prstGeom prst="rect">
            <a:avLst/>
          </a:prstGeom>
          <a:noFill/>
        </p:spPr>
        <p:txBody>
          <a:bodyPr wrap="square" lIns="0" rIns="0" tIns="0" bIns="0" anchor="t">
            <a:spAutoFit/>
          </a:bodyPr>
          <a:lstStyle/>
          <a:p>
            <a:pPr algn="l">
              <a:lnSpc>
                <a:spcPct val="102000"/>
              </a:lnSpc>
              <a:spcBef>
                <a:spcPts val="0"/>
              </a:spcBef>
              <a:spcAft>
                <a:spcPts val="0"/>
              </a:spcAft>
            </a:pPr>
            <a:r>
              <a:rPr sz="2700" b="1" i="0">
                <a:solidFill>
                  <a:srgbClr val="FFFFFF"/>
                </a:solidFill>
                <a:latin typeface="Cambria"/>
              </a:rPr>
              <a:t>Des difficultés qui freinent l'atelier au quotidien</a:t>
            </a:r>
          </a:p>
        </p:txBody>
      </p:sp>
      <p:sp>
        <p:nvSpPr>
          <p:cNvPr id="4" name="Oval 3"/>
          <p:cNvSpPr/>
          <p:nvPr/>
        </p:nvSpPr>
        <p:spPr>
          <a:xfrm>
            <a:off x="731520" y="1554480"/>
            <a:ext cx="420624" cy="420624"/>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700" b="1">
                <a:solidFill>
                  <a:srgbClr val="FFFFFF"/>
                </a:solidFill>
                <a:latin typeface="Calibri"/>
              </a:rPr>
              <a:t>!</a:t>
            </a:r>
          </a:p>
        </p:txBody>
      </p:sp>
      <p:sp>
        <p:nvSpPr>
          <p:cNvPr id="5" name="TextBox 4"/>
          <p:cNvSpPr txBox="1"/>
          <p:nvPr/>
        </p:nvSpPr>
        <p:spPr>
          <a:xfrm>
            <a:off x="1417320" y="1508760"/>
            <a:ext cx="9326880" cy="365760"/>
          </a:xfrm>
          <a:prstGeom prst="rect">
            <a:avLst/>
          </a:prstGeom>
          <a:noFill/>
        </p:spPr>
        <p:txBody>
          <a:bodyPr wrap="square" lIns="0" rIns="0" tIns="0" bIns="0" anchor="t">
            <a:spAutoFit/>
          </a:bodyPr>
          <a:lstStyle/>
          <a:p>
            <a:pPr algn="l">
              <a:lnSpc>
                <a:spcPct val="100000"/>
              </a:lnSpc>
              <a:spcBef>
                <a:spcPts val="0"/>
              </a:spcBef>
              <a:spcAft>
                <a:spcPts val="0"/>
              </a:spcAft>
            </a:pPr>
            <a:r>
              <a:rPr sz="1550" b="1" i="0">
                <a:solidFill>
                  <a:srgbClr val="FFFFFF"/>
                </a:solidFill>
                <a:latin typeface="Calibri"/>
              </a:rPr>
              <a:t>Mesures perdues ou mal notées</a:t>
            </a:r>
          </a:p>
        </p:txBody>
      </p:sp>
      <p:sp>
        <p:nvSpPr>
          <p:cNvPr id="6" name="TextBox 5"/>
          <p:cNvSpPr txBox="1"/>
          <p:nvPr/>
        </p:nvSpPr>
        <p:spPr>
          <a:xfrm>
            <a:off x="1417320" y="1901952"/>
            <a:ext cx="9326880" cy="365760"/>
          </a:xfrm>
          <a:prstGeom prst="rect">
            <a:avLst/>
          </a:prstGeom>
          <a:noFill/>
        </p:spPr>
        <p:txBody>
          <a:bodyPr wrap="square" lIns="0" rIns="0" tIns="0" bIns="0" anchor="t">
            <a:spAutoFit/>
          </a:bodyPr>
          <a:lstStyle/>
          <a:p>
            <a:pPr algn="l">
              <a:lnSpc>
                <a:spcPct val="100000"/>
              </a:lnSpc>
              <a:spcBef>
                <a:spcPts val="0"/>
              </a:spcBef>
              <a:spcAft>
                <a:spcPts val="0"/>
              </a:spcAft>
            </a:pPr>
            <a:r>
              <a:rPr sz="1250" b="0" i="0">
                <a:solidFill>
                  <a:srgbClr val="A7BCB1"/>
                </a:solidFill>
                <a:latin typeface="Calibri"/>
              </a:rPr>
              <a:t>oblige à reconvoquer le client, dégrade la confiance</a:t>
            </a:r>
          </a:p>
        </p:txBody>
      </p:sp>
      <p:sp>
        <p:nvSpPr>
          <p:cNvPr id="7" name="Oval 6"/>
          <p:cNvSpPr/>
          <p:nvPr/>
        </p:nvSpPr>
        <p:spPr>
          <a:xfrm>
            <a:off x="731520" y="2487168"/>
            <a:ext cx="420624" cy="420624"/>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700" b="1">
                <a:solidFill>
                  <a:srgbClr val="FFFFFF"/>
                </a:solidFill>
                <a:latin typeface="Calibri"/>
              </a:rPr>
              <a:t>!</a:t>
            </a:r>
          </a:p>
        </p:txBody>
      </p:sp>
      <p:sp>
        <p:nvSpPr>
          <p:cNvPr id="8" name="TextBox 7"/>
          <p:cNvSpPr txBox="1"/>
          <p:nvPr/>
        </p:nvSpPr>
        <p:spPr>
          <a:xfrm>
            <a:off x="1417320" y="2441448"/>
            <a:ext cx="9326880" cy="365760"/>
          </a:xfrm>
          <a:prstGeom prst="rect">
            <a:avLst/>
          </a:prstGeom>
          <a:noFill/>
        </p:spPr>
        <p:txBody>
          <a:bodyPr wrap="square" lIns="0" rIns="0" tIns="0" bIns="0" anchor="t">
            <a:spAutoFit/>
          </a:bodyPr>
          <a:lstStyle/>
          <a:p>
            <a:pPr algn="l">
              <a:lnSpc>
                <a:spcPct val="100000"/>
              </a:lnSpc>
              <a:spcBef>
                <a:spcPts val="0"/>
              </a:spcBef>
              <a:spcAft>
                <a:spcPts val="0"/>
              </a:spcAft>
            </a:pPr>
            <a:r>
              <a:rPr sz="1550" b="1" i="0">
                <a:solidFill>
                  <a:srgbClr val="FFFFFF"/>
                </a:solidFill>
                <a:latin typeface="Calibri"/>
              </a:rPr>
              <a:t>Aucun rappel automatique</a:t>
            </a:r>
          </a:p>
        </p:txBody>
      </p:sp>
      <p:sp>
        <p:nvSpPr>
          <p:cNvPr id="9" name="TextBox 8"/>
          <p:cNvSpPr txBox="1"/>
          <p:nvPr/>
        </p:nvSpPr>
        <p:spPr>
          <a:xfrm>
            <a:off x="1417320" y="2834639"/>
            <a:ext cx="9326880" cy="365760"/>
          </a:xfrm>
          <a:prstGeom prst="rect">
            <a:avLst/>
          </a:prstGeom>
          <a:noFill/>
        </p:spPr>
        <p:txBody>
          <a:bodyPr wrap="square" lIns="0" rIns="0" tIns="0" bIns="0" anchor="t">
            <a:spAutoFit/>
          </a:bodyPr>
          <a:lstStyle/>
          <a:p>
            <a:pPr algn="l">
              <a:lnSpc>
                <a:spcPct val="100000"/>
              </a:lnSpc>
              <a:spcBef>
                <a:spcPts val="0"/>
              </a:spcBef>
              <a:spcAft>
                <a:spcPts val="0"/>
              </a:spcAft>
            </a:pPr>
            <a:r>
              <a:rPr sz="1250" b="0" i="0">
                <a:solidFill>
                  <a:srgbClr val="A7BCB1"/>
                </a:solidFill>
                <a:latin typeface="Calibri"/>
              </a:rPr>
              <a:t>retards de livraison fréquents, clients mécontents</a:t>
            </a:r>
          </a:p>
        </p:txBody>
      </p:sp>
      <p:sp>
        <p:nvSpPr>
          <p:cNvPr id="10" name="Oval 9"/>
          <p:cNvSpPr/>
          <p:nvPr/>
        </p:nvSpPr>
        <p:spPr>
          <a:xfrm>
            <a:off x="731520" y="3419856"/>
            <a:ext cx="420624" cy="420624"/>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700" b="1">
                <a:solidFill>
                  <a:srgbClr val="FFFFFF"/>
                </a:solidFill>
                <a:latin typeface="Calibri"/>
              </a:rPr>
              <a:t>!</a:t>
            </a:r>
          </a:p>
        </p:txBody>
      </p:sp>
      <p:sp>
        <p:nvSpPr>
          <p:cNvPr id="11" name="TextBox 10"/>
          <p:cNvSpPr txBox="1"/>
          <p:nvPr/>
        </p:nvSpPr>
        <p:spPr>
          <a:xfrm>
            <a:off x="1417320" y="3374136"/>
            <a:ext cx="9326880" cy="365760"/>
          </a:xfrm>
          <a:prstGeom prst="rect">
            <a:avLst/>
          </a:prstGeom>
          <a:noFill/>
        </p:spPr>
        <p:txBody>
          <a:bodyPr wrap="square" lIns="0" rIns="0" tIns="0" bIns="0" anchor="t">
            <a:spAutoFit/>
          </a:bodyPr>
          <a:lstStyle/>
          <a:p>
            <a:pPr algn="l">
              <a:lnSpc>
                <a:spcPct val="100000"/>
              </a:lnSpc>
              <a:spcBef>
                <a:spcPts val="0"/>
              </a:spcBef>
              <a:spcAft>
                <a:spcPts val="0"/>
              </a:spcAft>
            </a:pPr>
            <a:r>
              <a:rPr sz="1550" b="1" i="0">
                <a:solidFill>
                  <a:srgbClr val="FFFFFF"/>
                </a:solidFill>
                <a:latin typeface="Calibri"/>
              </a:rPr>
              <a:t>Aucune vue consolidée multi-PDV</a:t>
            </a:r>
          </a:p>
        </p:txBody>
      </p:sp>
      <p:sp>
        <p:nvSpPr>
          <p:cNvPr id="12" name="TextBox 11"/>
          <p:cNvSpPr txBox="1"/>
          <p:nvPr/>
        </p:nvSpPr>
        <p:spPr>
          <a:xfrm>
            <a:off x="1417320" y="3767328"/>
            <a:ext cx="9326880" cy="365760"/>
          </a:xfrm>
          <a:prstGeom prst="rect">
            <a:avLst/>
          </a:prstGeom>
          <a:noFill/>
        </p:spPr>
        <p:txBody>
          <a:bodyPr wrap="square" lIns="0" rIns="0" tIns="0" bIns="0" anchor="t">
            <a:spAutoFit/>
          </a:bodyPr>
          <a:lstStyle/>
          <a:p>
            <a:pPr algn="l">
              <a:lnSpc>
                <a:spcPct val="100000"/>
              </a:lnSpc>
              <a:spcBef>
                <a:spcPts val="0"/>
              </a:spcBef>
              <a:spcAft>
                <a:spcPts val="0"/>
              </a:spcAft>
            </a:pPr>
            <a:r>
              <a:rPr sz="1250" b="0" i="0">
                <a:solidFill>
                  <a:srgbClr val="A7BCB1"/>
                </a:solidFill>
                <a:latin typeface="Calibri"/>
              </a:rPr>
              <a:t>le propriétaire pilote à l'aveugle</a:t>
            </a:r>
          </a:p>
        </p:txBody>
      </p:sp>
      <p:sp>
        <p:nvSpPr>
          <p:cNvPr id="13" name="Oval 12"/>
          <p:cNvSpPr/>
          <p:nvPr/>
        </p:nvSpPr>
        <p:spPr>
          <a:xfrm>
            <a:off x="731520" y="4352544"/>
            <a:ext cx="420624" cy="420624"/>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700" b="1">
                <a:solidFill>
                  <a:srgbClr val="FFFFFF"/>
                </a:solidFill>
                <a:latin typeface="Calibri"/>
              </a:rPr>
              <a:t>!</a:t>
            </a:r>
          </a:p>
        </p:txBody>
      </p:sp>
      <p:sp>
        <p:nvSpPr>
          <p:cNvPr id="14" name="TextBox 13"/>
          <p:cNvSpPr txBox="1"/>
          <p:nvPr/>
        </p:nvSpPr>
        <p:spPr>
          <a:xfrm>
            <a:off x="1417320" y="4306824"/>
            <a:ext cx="9326880" cy="365760"/>
          </a:xfrm>
          <a:prstGeom prst="rect">
            <a:avLst/>
          </a:prstGeom>
          <a:noFill/>
        </p:spPr>
        <p:txBody>
          <a:bodyPr wrap="square" lIns="0" rIns="0" tIns="0" bIns="0" anchor="t">
            <a:spAutoFit/>
          </a:bodyPr>
          <a:lstStyle/>
          <a:p>
            <a:pPr algn="l">
              <a:lnSpc>
                <a:spcPct val="100000"/>
              </a:lnSpc>
              <a:spcBef>
                <a:spcPts val="0"/>
              </a:spcBef>
              <a:spcAft>
                <a:spcPts val="0"/>
              </a:spcAft>
            </a:pPr>
            <a:r>
              <a:rPr sz="1550" b="1" i="0">
                <a:solidFill>
                  <a:srgbClr val="FFFFFF"/>
                </a:solidFill>
                <a:latin typeface="Calibri"/>
              </a:rPr>
              <a:t>Accès employés non maîtrisés</a:t>
            </a:r>
          </a:p>
        </p:txBody>
      </p:sp>
      <p:sp>
        <p:nvSpPr>
          <p:cNvPr id="15" name="TextBox 14"/>
          <p:cNvSpPr txBox="1"/>
          <p:nvPr/>
        </p:nvSpPr>
        <p:spPr>
          <a:xfrm>
            <a:off x="1417320" y="4700016"/>
            <a:ext cx="9326880" cy="365760"/>
          </a:xfrm>
          <a:prstGeom prst="rect">
            <a:avLst/>
          </a:prstGeom>
          <a:noFill/>
        </p:spPr>
        <p:txBody>
          <a:bodyPr wrap="square" lIns="0" rIns="0" tIns="0" bIns="0" anchor="t">
            <a:spAutoFit/>
          </a:bodyPr>
          <a:lstStyle/>
          <a:p>
            <a:pPr algn="l">
              <a:lnSpc>
                <a:spcPct val="100000"/>
              </a:lnSpc>
              <a:spcBef>
                <a:spcPts val="0"/>
              </a:spcBef>
              <a:spcAft>
                <a:spcPts val="0"/>
              </a:spcAft>
            </a:pPr>
            <a:r>
              <a:rPr sz="1250" b="0" i="0">
                <a:solidFill>
                  <a:srgbClr val="A7BCB1"/>
                </a:solidFill>
                <a:latin typeface="Calibri"/>
              </a:rPr>
              <a:t>perte d'historique à chaque changement de boutique</a:t>
            </a:r>
          </a:p>
        </p:txBody>
      </p:sp>
      <p:sp>
        <p:nvSpPr>
          <p:cNvPr id="16" name="Oval 15"/>
          <p:cNvSpPr/>
          <p:nvPr/>
        </p:nvSpPr>
        <p:spPr>
          <a:xfrm>
            <a:off x="731520" y="5285231"/>
            <a:ext cx="420624" cy="420624"/>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700" b="1">
                <a:solidFill>
                  <a:srgbClr val="FFFFFF"/>
                </a:solidFill>
                <a:latin typeface="Calibri"/>
              </a:rPr>
              <a:t>!</a:t>
            </a:r>
          </a:p>
        </p:txBody>
      </p:sp>
      <p:sp>
        <p:nvSpPr>
          <p:cNvPr id="17" name="TextBox 16"/>
          <p:cNvSpPr txBox="1"/>
          <p:nvPr/>
        </p:nvSpPr>
        <p:spPr>
          <a:xfrm>
            <a:off x="1417320" y="5239512"/>
            <a:ext cx="9326880" cy="365760"/>
          </a:xfrm>
          <a:prstGeom prst="rect">
            <a:avLst/>
          </a:prstGeom>
          <a:noFill/>
        </p:spPr>
        <p:txBody>
          <a:bodyPr wrap="square" lIns="0" rIns="0" tIns="0" bIns="0" anchor="t">
            <a:spAutoFit/>
          </a:bodyPr>
          <a:lstStyle/>
          <a:p>
            <a:pPr algn="l">
              <a:lnSpc>
                <a:spcPct val="100000"/>
              </a:lnSpc>
              <a:spcBef>
                <a:spcPts val="0"/>
              </a:spcBef>
              <a:spcAft>
                <a:spcPts val="0"/>
              </a:spcAft>
            </a:pPr>
            <a:r>
              <a:rPr sz="1550" b="1" i="0">
                <a:solidFill>
                  <a:srgbClr val="FFFFFF"/>
                </a:solidFill>
                <a:latin typeface="Calibri"/>
              </a:rPr>
              <a:t>Aucune trace numérique</a:t>
            </a:r>
          </a:p>
        </p:txBody>
      </p:sp>
      <p:sp>
        <p:nvSpPr>
          <p:cNvPr id="18" name="TextBox 17"/>
          <p:cNvSpPr txBox="1"/>
          <p:nvPr/>
        </p:nvSpPr>
        <p:spPr>
          <a:xfrm>
            <a:off x="1417320" y="5632703"/>
            <a:ext cx="9326880" cy="365760"/>
          </a:xfrm>
          <a:prstGeom prst="rect">
            <a:avLst/>
          </a:prstGeom>
          <a:noFill/>
        </p:spPr>
        <p:txBody>
          <a:bodyPr wrap="square" lIns="0" rIns="0" tIns="0" bIns="0" anchor="t">
            <a:spAutoFit/>
          </a:bodyPr>
          <a:lstStyle/>
          <a:p>
            <a:pPr algn="l">
              <a:lnSpc>
                <a:spcPct val="100000"/>
              </a:lnSpc>
              <a:spcBef>
                <a:spcPts val="0"/>
              </a:spcBef>
              <a:spcAft>
                <a:spcPts val="0"/>
              </a:spcAft>
            </a:pPr>
            <a:r>
              <a:rPr sz="1250" b="0" i="0">
                <a:solidFill>
                  <a:srgbClr val="A7BCB1"/>
                </a:solidFill>
                <a:latin typeface="Calibri"/>
              </a:rPr>
              <a:t>ni statistiques, ni reçu, ni historique consultable</a:t>
            </a:r>
          </a:p>
        </p:txBody>
      </p:sp>
      <p:sp>
        <p:nvSpPr>
          <p:cNvPr id="19" name="TextBox 18"/>
          <p:cNvSpPr txBox="1"/>
          <p:nvPr/>
        </p:nvSpPr>
        <p:spPr>
          <a:xfrm>
            <a:off x="640080" y="6519672"/>
            <a:ext cx="7315200" cy="274320"/>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A7BCB1"/>
                </a:solidFill>
                <a:latin typeface="Calibri"/>
              </a:rPr>
              <a:t>Kayñiawlu — Soutenance de mémoire</a:t>
            </a:r>
          </a:p>
        </p:txBody>
      </p:sp>
      <p:sp>
        <p:nvSpPr>
          <p:cNvPr id="20" name="TextBox 19"/>
          <p:cNvSpPr txBox="1"/>
          <p:nvPr/>
        </p:nvSpPr>
        <p:spPr>
          <a:xfrm>
            <a:off x="10180015" y="6519672"/>
            <a:ext cx="1371600" cy="274320"/>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A7BCB1"/>
                </a:solidFill>
                <a:latin typeface="Calibri"/>
              </a:rPr>
              <a:t>6</a:t>
            </a:r>
          </a:p>
        </p:txBody>
      </p:sp>
    </p:spTree>
  </p:cSld>
  <p:clrMapOvr>
    <a:masterClrMapping/>
  </p:clrMapOvr>
  <p:transition spd="med">
    <p:fade/>
  </p:transition>
  <p:timing>
    <p:tnLst>
      <p:par>
        <p:cTn id="146" dur="indefinite" restart="never" nodeType="tmRoot">
          <p:childTnLst>
            <p:seq concurrent="1" nextAc="seek">
              <p:cTn id="147" dur="indefinite" nodeType="mainSeq">
                <p:childTnLst>
                  <p:par>
                    <p:cTn id="148" fill="hold">
                      <p:stCondLst>
                        <p:cond delay="0"/>
                      </p:stCondLst>
                      <p:childTnLst>
                        <p:par>
                          <p:cTn id="101" presetID="10" presetClass="entr" presetSubtype="0" fill="hold" grpId="0" nodeType="afterEffect">
                            <p:stCondLst>
                              <p:cond delay="0"/>
                            </p:stCondLst>
                            <p:childTnLst>
                              <p:set>
                                <p:cBhvr>
                                  <p:cTn id="102" dur="1" fill="hold">
                                    <p:stCondLst>
                                      <p:cond delay="0"/>
                                    </p:stCondLst>
                                  </p:cTn>
                                  <p:tgtEl>
                                    <p:spTgt spid="4"/>
                                  </p:tgtEl>
                                  <p:attrNameLst>
                                    <p:attrName>style.visibility</p:attrName>
                                  </p:attrNameLst>
                                </p:cBhvr>
                                <p:to>
                                  <p:strVal val="visible"/>
                                </p:to>
                              </p:set>
                              <p:animEffect transition="in" filter="fade">
                                <p:cBhvr>
                                  <p:cTn id="103" dur="420"/>
                                  <p:tgtEl>
                                    <p:spTgt spid="4"/>
                                  </p:tgtEl>
                                </p:cBhvr>
                              </p:animEffect>
                            </p:childTnLst>
                          </p:cTn>
                        </p:par>
                        <p:par>
                          <p:cTn id="104" presetID="10" presetClass="entr" presetSubtype="0" fill="hold" grpId="0" nodeType="afterEffect">
                            <p:stCondLst>
                              <p:cond delay="0"/>
                            </p:stCondLst>
                            <p:childTnLst>
                              <p:set>
                                <p:cBhvr>
                                  <p:cTn id="105" dur="1" fill="hold">
                                    <p:stCondLst>
                                      <p:cond delay="0"/>
                                    </p:stCondLst>
                                  </p:cTn>
                                  <p:tgtEl>
                                    <p:spTgt spid="5"/>
                                  </p:tgtEl>
                                  <p:attrNameLst>
                                    <p:attrName>style.visibility</p:attrName>
                                  </p:attrNameLst>
                                </p:cBhvr>
                                <p:to>
                                  <p:strVal val="visible"/>
                                </p:to>
                              </p:set>
                              <p:animEffect transition="in" filter="fade">
                                <p:cBhvr>
                                  <p:cTn id="106" dur="420"/>
                                  <p:tgtEl>
                                    <p:spTgt spid="5"/>
                                  </p:tgtEl>
                                </p:cBhvr>
                              </p:animEffect>
                            </p:childTnLst>
                          </p:cTn>
                        </p:par>
                        <p:par>
                          <p:cTn id="107" presetID="10" presetClass="entr" presetSubtype="0" fill="hold" grpId="0" nodeType="afterEffect">
                            <p:stCondLst>
                              <p:cond delay="0"/>
                            </p:stCondLst>
                            <p:childTnLst>
                              <p:set>
                                <p:cBhvr>
                                  <p:cTn id="108" dur="1" fill="hold">
                                    <p:stCondLst>
                                      <p:cond delay="0"/>
                                    </p:stCondLst>
                                  </p:cTn>
                                  <p:tgtEl>
                                    <p:spTgt spid="6"/>
                                  </p:tgtEl>
                                  <p:attrNameLst>
                                    <p:attrName>style.visibility</p:attrName>
                                  </p:attrNameLst>
                                </p:cBhvr>
                                <p:to>
                                  <p:strVal val="visible"/>
                                </p:to>
                              </p:set>
                              <p:animEffect transition="in" filter="fade">
                                <p:cBhvr>
                                  <p:cTn id="109" dur="420"/>
                                  <p:tgtEl>
                                    <p:spTgt spid="6"/>
                                  </p:tgtEl>
                                </p:cBhvr>
                              </p:animEffect>
                            </p:childTnLst>
                          </p:cTn>
                        </p:par>
                        <p:par>
                          <p:cTn id="110" presetID="10" presetClass="entr" presetSubtype="0" fill="hold" grpId="0" nodeType="afterEffect">
                            <p:stCondLst>
                              <p:cond delay="160"/>
                            </p:stCondLst>
                            <p:childTnLst>
                              <p:set>
                                <p:cBhvr>
                                  <p:cTn id="111" dur="1" fill="hold">
                                    <p:stCondLst>
                                      <p:cond delay="0"/>
                                    </p:stCondLst>
                                  </p:cTn>
                                  <p:tgtEl>
                                    <p:spTgt spid="7"/>
                                  </p:tgtEl>
                                  <p:attrNameLst>
                                    <p:attrName>style.visibility</p:attrName>
                                  </p:attrNameLst>
                                </p:cBhvr>
                                <p:to>
                                  <p:strVal val="visible"/>
                                </p:to>
                              </p:set>
                              <p:animEffect transition="in" filter="fade">
                                <p:cBhvr>
                                  <p:cTn id="112" dur="420"/>
                                  <p:tgtEl>
                                    <p:spTgt spid="7"/>
                                  </p:tgtEl>
                                </p:cBhvr>
                              </p:animEffect>
                            </p:childTnLst>
                          </p:cTn>
                        </p:par>
                        <p:par>
                          <p:cTn id="113" presetID="10" presetClass="entr" presetSubtype="0" fill="hold" grpId="0" nodeType="afterEffect">
                            <p:stCondLst>
                              <p:cond delay="160"/>
                            </p:stCondLst>
                            <p:childTnLst>
                              <p:set>
                                <p:cBhvr>
                                  <p:cTn id="114" dur="1" fill="hold">
                                    <p:stCondLst>
                                      <p:cond delay="0"/>
                                    </p:stCondLst>
                                  </p:cTn>
                                  <p:tgtEl>
                                    <p:spTgt spid="8"/>
                                  </p:tgtEl>
                                  <p:attrNameLst>
                                    <p:attrName>style.visibility</p:attrName>
                                  </p:attrNameLst>
                                </p:cBhvr>
                                <p:to>
                                  <p:strVal val="visible"/>
                                </p:to>
                              </p:set>
                              <p:animEffect transition="in" filter="fade">
                                <p:cBhvr>
                                  <p:cTn id="115" dur="420"/>
                                  <p:tgtEl>
                                    <p:spTgt spid="8"/>
                                  </p:tgtEl>
                                </p:cBhvr>
                              </p:animEffect>
                            </p:childTnLst>
                          </p:cTn>
                        </p:par>
                        <p:par>
                          <p:cTn id="116" presetID="10" presetClass="entr" presetSubtype="0" fill="hold" grpId="0" nodeType="afterEffect">
                            <p:stCondLst>
                              <p:cond delay="160"/>
                            </p:stCondLst>
                            <p:childTnLst>
                              <p:set>
                                <p:cBhvr>
                                  <p:cTn id="117" dur="1" fill="hold">
                                    <p:stCondLst>
                                      <p:cond delay="0"/>
                                    </p:stCondLst>
                                  </p:cTn>
                                  <p:tgtEl>
                                    <p:spTgt spid="9"/>
                                  </p:tgtEl>
                                  <p:attrNameLst>
                                    <p:attrName>style.visibility</p:attrName>
                                  </p:attrNameLst>
                                </p:cBhvr>
                                <p:to>
                                  <p:strVal val="visible"/>
                                </p:to>
                              </p:set>
                              <p:animEffect transition="in" filter="fade">
                                <p:cBhvr>
                                  <p:cTn id="118" dur="420"/>
                                  <p:tgtEl>
                                    <p:spTgt spid="9"/>
                                  </p:tgtEl>
                                </p:cBhvr>
                              </p:animEffect>
                            </p:childTnLst>
                          </p:cTn>
                        </p:par>
                        <p:par>
                          <p:cTn id="119" presetID="10" presetClass="entr" presetSubtype="0" fill="hold" grpId="0" nodeType="afterEffect">
                            <p:stCondLst>
                              <p:cond delay="320"/>
                            </p:stCondLst>
                            <p:childTnLst>
                              <p:set>
                                <p:cBhvr>
                                  <p:cTn id="120" dur="1" fill="hold">
                                    <p:stCondLst>
                                      <p:cond delay="0"/>
                                    </p:stCondLst>
                                  </p:cTn>
                                  <p:tgtEl>
                                    <p:spTgt spid="10"/>
                                  </p:tgtEl>
                                  <p:attrNameLst>
                                    <p:attrName>style.visibility</p:attrName>
                                  </p:attrNameLst>
                                </p:cBhvr>
                                <p:to>
                                  <p:strVal val="visible"/>
                                </p:to>
                              </p:set>
                              <p:animEffect transition="in" filter="fade">
                                <p:cBhvr>
                                  <p:cTn id="121" dur="420"/>
                                  <p:tgtEl>
                                    <p:spTgt spid="10"/>
                                  </p:tgtEl>
                                </p:cBhvr>
                              </p:animEffect>
                            </p:childTnLst>
                          </p:cTn>
                        </p:par>
                        <p:par>
                          <p:cTn id="122" presetID="10" presetClass="entr" presetSubtype="0" fill="hold" grpId="0" nodeType="afterEffect">
                            <p:stCondLst>
                              <p:cond delay="320"/>
                            </p:stCondLst>
                            <p:childTnLst>
                              <p:set>
                                <p:cBhvr>
                                  <p:cTn id="123" dur="1" fill="hold">
                                    <p:stCondLst>
                                      <p:cond delay="0"/>
                                    </p:stCondLst>
                                  </p:cTn>
                                  <p:tgtEl>
                                    <p:spTgt spid="11"/>
                                  </p:tgtEl>
                                  <p:attrNameLst>
                                    <p:attrName>style.visibility</p:attrName>
                                  </p:attrNameLst>
                                </p:cBhvr>
                                <p:to>
                                  <p:strVal val="visible"/>
                                </p:to>
                              </p:set>
                              <p:animEffect transition="in" filter="fade">
                                <p:cBhvr>
                                  <p:cTn id="124" dur="420"/>
                                  <p:tgtEl>
                                    <p:spTgt spid="11"/>
                                  </p:tgtEl>
                                </p:cBhvr>
                              </p:animEffect>
                            </p:childTnLst>
                          </p:cTn>
                        </p:par>
                        <p:par>
                          <p:cTn id="125" presetID="10" presetClass="entr" presetSubtype="0" fill="hold" grpId="0" nodeType="afterEffect">
                            <p:stCondLst>
                              <p:cond delay="320"/>
                            </p:stCondLst>
                            <p:childTnLst>
                              <p:set>
                                <p:cBhvr>
                                  <p:cTn id="126" dur="1" fill="hold">
                                    <p:stCondLst>
                                      <p:cond delay="0"/>
                                    </p:stCondLst>
                                  </p:cTn>
                                  <p:tgtEl>
                                    <p:spTgt spid="12"/>
                                  </p:tgtEl>
                                  <p:attrNameLst>
                                    <p:attrName>style.visibility</p:attrName>
                                  </p:attrNameLst>
                                </p:cBhvr>
                                <p:to>
                                  <p:strVal val="visible"/>
                                </p:to>
                              </p:set>
                              <p:animEffect transition="in" filter="fade">
                                <p:cBhvr>
                                  <p:cTn id="127" dur="420"/>
                                  <p:tgtEl>
                                    <p:spTgt spid="12"/>
                                  </p:tgtEl>
                                </p:cBhvr>
                              </p:animEffect>
                            </p:childTnLst>
                          </p:cTn>
                        </p:par>
                        <p:par>
                          <p:cTn id="128" presetID="10" presetClass="entr" presetSubtype="0" fill="hold" grpId="0" nodeType="afterEffect">
                            <p:stCondLst>
                              <p:cond delay="480"/>
                            </p:stCondLst>
                            <p:childTnLst>
                              <p:set>
                                <p:cBhvr>
                                  <p:cTn id="129" dur="1" fill="hold">
                                    <p:stCondLst>
                                      <p:cond delay="0"/>
                                    </p:stCondLst>
                                  </p:cTn>
                                  <p:tgtEl>
                                    <p:spTgt spid="13"/>
                                  </p:tgtEl>
                                  <p:attrNameLst>
                                    <p:attrName>style.visibility</p:attrName>
                                  </p:attrNameLst>
                                </p:cBhvr>
                                <p:to>
                                  <p:strVal val="visible"/>
                                </p:to>
                              </p:set>
                              <p:animEffect transition="in" filter="fade">
                                <p:cBhvr>
                                  <p:cTn id="130" dur="420"/>
                                  <p:tgtEl>
                                    <p:spTgt spid="13"/>
                                  </p:tgtEl>
                                </p:cBhvr>
                              </p:animEffect>
                            </p:childTnLst>
                          </p:cTn>
                        </p:par>
                        <p:par>
                          <p:cTn id="131" presetID="10" presetClass="entr" presetSubtype="0" fill="hold" grpId="0" nodeType="afterEffect">
                            <p:stCondLst>
                              <p:cond delay="480"/>
                            </p:stCondLst>
                            <p:childTnLst>
                              <p:set>
                                <p:cBhvr>
                                  <p:cTn id="132" dur="1" fill="hold">
                                    <p:stCondLst>
                                      <p:cond delay="0"/>
                                    </p:stCondLst>
                                  </p:cTn>
                                  <p:tgtEl>
                                    <p:spTgt spid="14"/>
                                  </p:tgtEl>
                                  <p:attrNameLst>
                                    <p:attrName>style.visibility</p:attrName>
                                  </p:attrNameLst>
                                </p:cBhvr>
                                <p:to>
                                  <p:strVal val="visible"/>
                                </p:to>
                              </p:set>
                              <p:animEffect transition="in" filter="fade">
                                <p:cBhvr>
                                  <p:cTn id="133" dur="420"/>
                                  <p:tgtEl>
                                    <p:spTgt spid="14"/>
                                  </p:tgtEl>
                                </p:cBhvr>
                              </p:animEffect>
                            </p:childTnLst>
                          </p:cTn>
                        </p:par>
                        <p:par>
                          <p:cTn id="134" presetID="10" presetClass="entr" presetSubtype="0" fill="hold" grpId="0" nodeType="afterEffect">
                            <p:stCondLst>
                              <p:cond delay="480"/>
                            </p:stCondLst>
                            <p:childTnLst>
                              <p:set>
                                <p:cBhvr>
                                  <p:cTn id="135" dur="1" fill="hold">
                                    <p:stCondLst>
                                      <p:cond delay="0"/>
                                    </p:stCondLst>
                                  </p:cTn>
                                  <p:tgtEl>
                                    <p:spTgt spid="15"/>
                                  </p:tgtEl>
                                  <p:attrNameLst>
                                    <p:attrName>style.visibility</p:attrName>
                                  </p:attrNameLst>
                                </p:cBhvr>
                                <p:to>
                                  <p:strVal val="visible"/>
                                </p:to>
                              </p:set>
                              <p:animEffect transition="in" filter="fade">
                                <p:cBhvr>
                                  <p:cTn id="136" dur="420"/>
                                  <p:tgtEl>
                                    <p:spTgt spid="15"/>
                                  </p:tgtEl>
                                </p:cBhvr>
                              </p:animEffect>
                            </p:childTnLst>
                          </p:cTn>
                        </p:par>
                        <p:par>
                          <p:cTn id="137" presetID="10" presetClass="entr" presetSubtype="0" fill="hold" grpId="0" nodeType="afterEffect">
                            <p:stCondLst>
                              <p:cond delay="640"/>
                            </p:stCondLst>
                            <p:childTnLst>
                              <p:set>
                                <p:cBhvr>
                                  <p:cTn id="138" dur="1" fill="hold">
                                    <p:stCondLst>
                                      <p:cond delay="0"/>
                                    </p:stCondLst>
                                  </p:cTn>
                                  <p:tgtEl>
                                    <p:spTgt spid="16"/>
                                  </p:tgtEl>
                                  <p:attrNameLst>
                                    <p:attrName>style.visibility</p:attrName>
                                  </p:attrNameLst>
                                </p:cBhvr>
                                <p:to>
                                  <p:strVal val="visible"/>
                                </p:to>
                              </p:set>
                              <p:animEffect transition="in" filter="fade">
                                <p:cBhvr>
                                  <p:cTn id="139" dur="420"/>
                                  <p:tgtEl>
                                    <p:spTgt spid="16"/>
                                  </p:tgtEl>
                                </p:cBhvr>
                              </p:animEffect>
                            </p:childTnLst>
                          </p:cTn>
                        </p:par>
                        <p:par>
                          <p:cTn id="140" presetID="10" presetClass="entr" presetSubtype="0" fill="hold" grpId="0" nodeType="afterEffect">
                            <p:stCondLst>
                              <p:cond delay="640"/>
                            </p:stCondLst>
                            <p:childTnLst>
                              <p:set>
                                <p:cBhvr>
                                  <p:cTn id="141" dur="1" fill="hold">
                                    <p:stCondLst>
                                      <p:cond delay="0"/>
                                    </p:stCondLst>
                                  </p:cTn>
                                  <p:tgtEl>
                                    <p:spTgt spid="17"/>
                                  </p:tgtEl>
                                  <p:attrNameLst>
                                    <p:attrName>style.visibility</p:attrName>
                                  </p:attrNameLst>
                                </p:cBhvr>
                                <p:to>
                                  <p:strVal val="visible"/>
                                </p:to>
                              </p:set>
                              <p:animEffect transition="in" filter="fade">
                                <p:cBhvr>
                                  <p:cTn id="142" dur="420"/>
                                  <p:tgtEl>
                                    <p:spTgt spid="17"/>
                                  </p:tgtEl>
                                </p:cBhvr>
                              </p:animEffect>
                            </p:childTnLst>
                          </p:cTn>
                        </p:par>
                        <p:par>
                          <p:cTn id="143" presetID="10" presetClass="entr" presetSubtype="0" fill="hold" grpId="0" nodeType="afterEffect">
                            <p:stCondLst>
                              <p:cond delay="640"/>
                            </p:stCondLst>
                            <p:childTnLst>
                              <p:set>
                                <p:cBhvr>
                                  <p:cTn id="144" dur="1" fill="hold">
                                    <p:stCondLst>
                                      <p:cond delay="0"/>
                                    </p:stCondLst>
                                  </p:cTn>
                                  <p:tgtEl>
                                    <p:spTgt spid="18"/>
                                  </p:tgtEl>
                                  <p:attrNameLst>
                                    <p:attrName>style.visibility</p:attrName>
                                  </p:attrNameLst>
                                </p:cBhvr>
                                <p:to>
                                  <p:strVal val="visible"/>
                                </p:to>
                              </p:set>
                              <p:animEffect transition="in" filter="fade">
                                <p:cBhvr>
                                  <p:cTn id="145" dur="420"/>
                                  <p:tgtEl>
                                    <p:spTgt spid="18"/>
                                  </p:tgtEl>
                                </p:cBhvr>
                              </p:animEffect>
                            </p:childTnLst>
                          </p:cTn>
                        </p:par>
                      </p:childTnLst>
                    </p:cTn>
                  </p:par>
                </p:childTnLst>
              </p:cTn>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2743200" cy="2743200"/>
          </a:xfrm>
          <a:prstGeom prst="rect">
            <a:avLst/>
          </a:prstGeom>
          <a:noFill/>
        </p:spPr>
        <p:txBody>
          <a:bodyPr wrap="square" lIns="0" rIns="0" tIns="0" bIns="0" anchor="t">
            <a:spAutoFit/>
          </a:bodyPr>
          <a:lstStyle/>
          <a:p>
            <a:pPr algn="l">
              <a:lnSpc>
                <a:spcPct val="100000"/>
              </a:lnSpc>
              <a:spcBef>
                <a:spcPts val="0"/>
              </a:spcBef>
              <a:spcAft>
                <a:spcPts val="0"/>
              </a:spcAft>
            </a:pPr>
            <a:r>
              <a:rPr sz="22000" b="1" i="0">
                <a:solidFill>
                  <a:srgbClr val="F6F1E8"/>
                </a:solidFill>
                <a:latin typeface="Cambria"/>
              </a:rPr>
              <a:t>“</a:t>
            </a:r>
          </a:p>
        </p:txBody>
      </p:sp>
      <p:sp>
        <p:nvSpPr>
          <p:cNvPr id="3" name="TextBox 2"/>
          <p:cNvSpPr txBox="1"/>
          <p:nvPr/>
        </p:nvSpPr>
        <p:spPr>
          <a:xfrm>
            <a:off x="822960" y="548640"/>
            <a:ext cx="10515600" cy="365760"/>
          </a:xfrm>
          <a:prstGeom prst="rect">
            <a:avLst/>
          </a:prstGeom>
          <a:noFill/>
        </p:spPr>
        <p:txBody>
          <a:bodyPr wrap="square" lIns="0" rIns="0" tIns="0" bIns="0" anchor="t">
            <a:spAutoFit/>
          </a:bodyPr>
          <a:lstStyle/>
          <a:p>
            <a:pPr algn="ctr">
              <a:lnSpc>
                <a:spcPct val="100000"/>
              </a:lnSpc>
              <a:spcBef>
                <a:spcPts val="0"/>
              </a:spcBef>
              <a:spcAft>
                <a:spcPts val="0"/>
              </a:spcAft>
            </a:pPr>
            <a:r>
              <a:rPr sz="1300" b="1" i="0">
                <a:solidFill>
                  <a:srgbClr val="B8863B"/>
                </a:solidFill>
                <a:latin typeface="Calibri"/>
              </a:rPr>
              <a:t>PROBLÉMATIQUE</a:t>
            </a:r>
          </a:p>
        </p:txBody>
      </p:sp>
      <p:sp>
        <p:nvSpPr>
          <p:cNvPr id="4" name="TextBox 3"/>
          <p:cNvSpPr txBox="1"/>
          <p:nvPr/>
        </p:nvSpPr>
        <p:spPr>
          <a:xfrm>
            <a:off x="1280160" y="1965960"/>
            <a:ext cx="9631375" cy="3291840"/>
          </a:xfrm>
          <a:prstGeom prst="rect">
            <a:avLst/>
          </a:prstGeom>
          <a:noFill/>
        </p:spPr>
        <p:txBody>
          <a:bodyPr wrap="square" lIns="0" rIns="0" tIns="0" bIns="0" anchor="ctr">
            <a:spAutoFit/>
          </a:bodyPr>
          <a:lstStyle/>
          <a:p>
            <a:pPr algn="ctr">
              <a:lnSpc>
                <a:spcPct val="135000"/>
              </a:lnSpc>
              <a:spcBef>
                <a:spcPts val="0"/>
              </a:spcBef>
              <a:spcAft>
                <a:spcPts val="0"/>
              </a:spcAft>
            </a:pPr>
            <a:r>
              <a:rPr sz="2500" b="1" i="1">
                <a:solidFill>
                  <a:srgbClr val="0F5B4C"/>
                </a:solidFill>
                <a:latin typeface="Cambria"/>
              </a:rPr>
              <a:t>Comment concevoir et réaliser une solution logicielle capable de numériser et de centraliser la gestion des clients, des mesures, des commandes et des équipes d'un atelier de couture, tout en respectant les contraintes du contexte sénégalais : connectivité intermittente, usage mobile prédominant, coût d'accès et diversité des modèles vestimentaires ?</a:t>
            </a:r>
          </a:p>
        </p:txBody>
      </p:sp>
      <p:sp>
        <p:nvSpPr>
          <p:cNvPr id="5" name="TextBox 4"/>
          <p:cNvSpPr txBox="1"/>
          <p:nvPr/>
        </p:nvSpPr>
        <p:spPr>
          <a:xfrm>
            <a:off x="640080" y="6519672"/>
            <a:ext cx="7315200" cy="274320"/>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68796F"/>
                </a:solidFill>
                <a:latin typeface="Calibri"/>
              </a:rPr>
              <a:t>Kayñiawlu — Soutenance de mémoire</a:t>
            </a:r>
          </a:p>
        </p:txBody>
      </p:sp>
      <p:sp>
        <p:nvSpPr>
          <p:cNvPr id="6" name="TextBox 5"/>
          <p:cNvSpPr txBox="1"/>
          <p:nvPr/>
        </p:nvSpPr>
        <p:spPr>
          <a:xfrm>
            <a:off x="10180015" y="6519672"/>
            <a:ext cx="1371600" cy="274320"/>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8796F"/>
                </a:solidFill>
                <a:latin typeface="Calibri"/>
              </a:rPr>
              <a:t>7</a:t>
            </a:r>
          </a:p>
        </p:txBody>
      </p:sp>
    </p:spTree>
  </p:cSld>
  <p:clrMapOvr>
    <a:masterClrMapping/>
  </p:clrMapOvr>
  <p:transition spd="slow">
    <p:fade/>
  </p:transition>
  <p:timing>
    <p:tnLst>
      <p:par>
        <p:cTn id="110" dur="indefinite" restart="never" nodeType="tmRoot">
          <p:childTnLst>
            <p:seq concurrent="1" nextAc="seek">
              <p:cTn id="111" dur="indefinite" nodeType="mainSeq">
                <p:childTnLst>
                  <p:par>
                    <p:cTn id="112" fill="hold">
                      <p:stCondLst>
                        <p:cond delay="0"/>
                      </p:stCondLst>
                      <p:childTnLst>
                        <p:par>
                          <p:cTn id="101" presetID="10" presetClass="entr" presetSubtype="0" fill="hold" grpId="0" nodeType="afterEffect">
                            <p:stCondLst>
                              <p:cond delay="0"/>
                            </p:stCondLst>
                            <p:childTnLst>
                              <p:set>
                                <p:cBhvr>
                                  <p:cTn id="102" dur="1" fill="hold">
                                    <p:stCondLst>
                                      <p:cond delay="0"/>
                                    </p:stCondLst>
                                  </p:cTn>
                                  <p:tgtEl>
                                    <p:spTgt spid="2"/>
                                  </p:tgtEl>
                                  <p:attrNameLst>
                                    <p:attrName>style.visibility</p:attrName>
                                  </p:attrNameLst>
                                </p:cBhvr>
                                <p:to>
                                  <p:strVal val="visible"/>
                                </p:to>
                              </p:set>
                              <p:animEffect transition="in" filter="fade">
                                <p:cBhvr>
                                  <p:cTn id="103" dur="600"/>
                                  <p:tgtEl>
                                    <p:spTgt spid="2"/>
                                  </p:tgtEl>
                                </p:cBhvr>
                              </p:animEffect>
                            </p:childTnLst>
                          </p:cTn>
                        </p:par>
                        <p:par>
                          <p:cTn id="104" presetID="10" presetClass="entr" presetSubtype="0" fill="hold" grpId="0" nodeType="afterEffect">
                            <p:stCondLst>
                              <p:cond delay="250"/>
                            </p:stCondLst>
                            <p:childTnLst>
                              <p:set>
                                <p:cBhvr>
                                  <p:cTn id="105" dur="1" fill="hold">
                                    <p:stCondLst>
                                      <p:cond delay="0"/>
                                    </p:stCondLst>
                                  </p:cTn>
                                  <p:tgtEl>
                                    <p:spTgt spid="3"/>
                                  </p:tgtEl>
                                  <p:attrNameLst>
                                    <p:attrName>style.visibility</p:attrName>
                                  </p:attrNameLst>
                                </p:cBhvr>
                                <p:to>
                                  <p:strVal val="visible"/>
                                </p:to>
                              </p:set>
                              <p:animEffect transition="in" filter="fade">
                                <p:cBhvr>
                                  <p:cTn id="106" dur="600"/>
                                  <p:tgtEl>
                                    <p:spTgt spid="3"/>
                                  </p:tgtEl>
                                </p:cBhvr>
                              </p:animEffect>
                            </p:childTnLst>
                          </p:cTn>
                        </p:par>
                        <p:par>
                          <p:cTn id="107" presetID="10" presetClass="entr" presetSubtype="0" fill="hold" grpId="0" nodeType="afterEffect">
                            <p:stCondLst>
                              <p:cond delay="500"/>
                            </p:stCondLst>
                            <p:childTnLst>
                              <p:set>
                                <p:cBhvr>
                                  <p:cTn id="108" dur="1" fill="hold">
                                    <p:stCondLst>
                                      <p:cond delay="0"/>
                                    </p:stCondLst>
                                  </p:cTn>
                                  <p:tgtEl>
                                    <p:spTgt spid="4"/>
                                  </p:tgtEl>
                                  <p:attrNameLst>
                                    <p:attrName>style.visibility</p:attrName>
                                  </p:attrNameLst>
                                </p:cBhvr>
                                <p:to>
                                  <p:strVal val="visible"/>
                                </p:to>
                              </p:set>
                              <p:animEffect transition="in" filter="fade">
                                <p:cBhvr>
                                  <p:cTn id="109" dur="600"/>
                                  <p:tgtEl>
                                    <p:spTgt spid="4"/>
                                  </p:tgtEl>
                                </p:cBhvr>
                              </p:animEffect>
                            </p:childTnLst>
                          </p:cTn>
                        </p:par>
                      </p:childTnLst>
                    </p:cTn>
                  </p:par>
                </p:childTnLst>
              </p:cTn>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881360" cy="292608"/>
          </a:xfrm>
          <a:prstGeom prst="rect">
            <a:avLst/>
          </a:prstGeom>
          <a:noFill/>
        </p:spPr>
        <p:txBody>
          <a:bodyPr wrap="square" lIns="0" rIns="0" tIns="0" bIns="0" anchor="t">
            <a:spAutoFit/>
          </a:bodyPr>
          <a:lstStyle/>
          <a:p>
            <a:pPr algn="l">
              <a:lnSpc>
                <a:spcPct val="100000"/>
              </a:lnSpc>
              <a:spcBef>
                <a:spcPts val="0"/>
              </a:spcBef>
              <a:spcAft>
                <a:spcPts val="0"/>
              </a:spcAft>
            </a:pPr>
            <a:r>
              <a:rPr sz="1250" b="1" i="0">
                <a:solidFill>
                  <a:srgbClr val="B8863B"/>
                </a:solidFill>
                <a:latin typeface="Calibri"/>
              </a:rPr>
              <a:t>INTRODUCTION GÉNÉRALE · PROBLÉMATIQUE</a:t>
            </a:r>
          </a:p>
        </p:txBody>
      </p:sp>
      <p:sp>
        <p:nvSpPr>
          <p:cNvPr id="3" name="TextBox 2"/>
          <p:cNvSpPr txBox="1"/>
          <p:nvPr/>
        </p:nvSpPr>
        <p:spPr>
          <a:xfrm>
            <a:off x="640080" y="786384"/>
            <a:ext cx="10881360" cy="777240"/>
          </a:xfrm>
          <a:prstGeom prst="rect">
            <a:avLst/>
          </a:prstGeom>
          <a:noFill/>
        </p:spPr>
        <p:txBody>
          <a:bodyPr wrap="square" lIns="0" rIns="0" tIns="0" bIns="0" anchor="t">
            <a:spAutoFit/>
          </a:bodyPr>
          <a:lstStyle/>
          <a:p>
            <a:pPr algn="l">
              <a:lnSpc>
                <a:spcPct val="102000"/>
              </a:lnSpc>
              <a:spcBef>
                <a:spcPts val="0"/>
              </a:spcBef>
              <a:spcAft>
                <a:spcPts val="0"/>
              </a:spcAft>
            </a:pPr>
            <a:r>
              <a:rPr sz="2700" b="1" i="0">
                <a:solidFill>
                  <a:srgbClr val="0F5B4C"/>
                </a:solidFill>
                <a:latin typeface="Cambria"/>
              </a:rPr>
              <a:t>Un processus numérisé, centralisé et mobile</a:t>
            </a:r>
          </a:p>
        </p:txBody>
      </p:sp>
      <p:sp>
        <p:nvSpPr>
          <p:cNvPr id="4" name="Rounded Rectangle 3"/>
          <p:cNvSpPr/>
          <p:nvPr/>
        </p:nvSpPr>
        <p:spPr>
          <a:xfrm>
            <a:off x="609447" y="1417320"/>
            <a:ext cx="2606040" cy="502920"/>
          </a:xfrm>
          <a:prstGeom prst="roundRect">
            <a:avLst>
              <a:gd name="adj" fmla="val 50000"/>
            </a:avLst>
          </a:prstGeom>
          <a:noFill/>
          <a:ln w="15875">
            <a:solidFill>
              <a:srgbClr val="B886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09447" y="1417320"/>
            <a:ext cx="2606040" cy="502920"/>
          </a:xfrm>
          <a:prstGeom prst="rect">
            <a:avLst/>
          </a:prstGeom>
          <a:noFill/>
        </p:spPr>
        <p:txBody>
          <a:bodyPr wrap="square" lIns="0" rIns="0" tIns="0" bIns="0" anchor="ctr">
            <a:spAutoFit/>
          </a:bodyPr>
          <a:lstStyle/>
          <a:p>
            <a:pPr algn="ctr">
              <a:lnSpc>
                <a:spcPct val="100000"/>
              </a:lnSpc>
              <a:spcBef>
                <a:spcPts val="0"/>
              </a:spcBef>
              <a:spcAft>
                <a:spcPts val="0"/>
              </a:spcAft>
            </a:pPr>
            <a:r>
              <a:rPr sz="1250" b="1" i="0">
                <a:solidFill>
                  <a:srgbClr val="0F5B4C"/>
                </a:solidFill>
                <a:latin typeface="Calibri"/>
              </a:rPr>
              <a:t>Mobile terrain</a:t>
            </a:r>
          </a:p>
        </p:txBody>
      </p:sp>
      <p:sp>
        <p:nvSpPr>
          <p:cNvPr id="6" name="Rounded Rectangle 5"/>
          <p:cNvSpPr/>
          <p:nvPr/>
        </p:nvSpPr>
        <p:spPr>
          <a:xfrm>
            <a:off x="3398367" y="1417320"/>
            <a:ext cx="2606040" cy="502920"/>
          </a:xfrm>
          <a:prstGeom prst="roundRect">
            <a:avLst>
              <a:gd name="adj" fmla="val 50000"/>
            </a:avLst>
          </a:prstGeom>
          <a:noFill/>
          <a:ln w="15875">
            <a:solidFill>
              <a:srgbClr val="B886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398367" y="1417320"/>
            <a:ext cx="2606040" cy="502920"/>
          </a:xfrm>
          <a:prstGeom prst="rect">
            <a:avLst/>
          </a:prstGeom>
          <a:noFill/>
        </p:spPr>
        <p:txBody>
          <a:bodyPr wrap="square" lIns="0" rIns="0" tIns="0" bIns="0" anchor="ctr">
            <a:spAutoFit/>
          </a:bodyPr>
          <a:lstStyle/>
          <a:p>
            <a:pPr algn="ctr">
              <a:lnSpc>
                <a:spcPct val="100000"/>
              </a:lnSpc>
              <a:spcBef>
                <a:spcPts val="0"/>
              </a:spcBef>
              <a:spcAft>
                <a:spcPts val="0"/>
              </a:spcAft>
            </a:pPr>
            <a:r>
              <a:rPr sz="1250" b="1" i="0">
                <a:solidFill>
                  <a:srgbClr val="0F5B4C"/>
                </a:solidFill>
                <a:latin typeface="Calibri"/>
              </a:rPr>
              <a:t>Backoffice web</a:t>
            </a:r>
          </a:p>
        </p:txBody>
      </p:sp>
      <p:sp>
        <p:nvSpPr>
          <p:cNvPr id="8" name="Rounded Rectangle 7"/>
          <p:cNvSpPr/>
          <p:nvPr/>
        </p:nvSpPr>
        <p:spPr>
          <a:xfrm>
            <a:off x="6187287" y="1417320"/>
            <a:ext cx="2606040" cy="502920"/>
          </a:xfrm>
          <a:prstGeom prst="roundRect">
            <a:avLst>
              <a:gd name="adj" fmla="val 50000"/>
            </a:avLst>
          </a:prstGeom>
          <a:noFill/>
          <a:ln w="15875">
            <a:solidFill>
              <a:srgbClr val="B886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87287" y="1417320"/>
            <a:ext cx="2606040" cy="502920"/>
          </a:xfrm>
          <a:prstGeom prst="rect">
            <a:avLst/>
          </a:prstGeom>
          <a:noFill/>
        </p:spPr>
        <p:txBody>
          <a:bodyPr wrap="square" lIns="0" rIns="0" tIns="0" bIns="0" anchor="ctr">
            <a:spAutoFit/>
          </a:bodyPr>
          <a:lstStyle/>
          <a:p>
            <a:pPr algn="ctr">
              <a:lnSpc>
                <a:spcPct val="100000"/>
              </a:lnSpc>
              <a:spcBef>
                <a:spcPts val="0"/>
              </a:spcBef>
              <a:spcAft>
                <a:spcPts val="0"/>
              </a:spcAft>
            </a:pPr>
            <a:r>
              <a:rPr sz="1250" b="1" i="0">
                <a:solidFill>
                  <a:srgbClr val="0F5B4C"/>
                </a:solidFill>
                <a:latin typeface="Calibri"/>
              </a:rPr>
              <a:t>Rappels automatiques</a:t>
            </a:r>
          </a:p>
        </p:txBody>
      </p:sp>
      <p:sp>
        <p:nvSpPr>
          <p:cNvPr id="10" name="Rounded Rectangle 9"/>
          <p:cNvSpPr/>
          <p:nvPr/>
        </p:nvSpPr>
        <p:spPr>
          <a:xfrm>
            <a:off x="8976207" y="1417320"/>
            <a:ext cx="2606040" cy="502920"/>
          </a:xfrm>
          <a:prstGeom prst="roundRect">
            <a:avLst>
              <a:gd name="adj" fmla="val 50000"/>
            </a:avLst>
          </a:prstGeom>
          <a:noFill/>
          <a:ln w="15875">
            <a:solidFill>
              <a:srgbClr val="B886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76207" y="1417320"/>
            <a:ext cx="2606040" cy="502920"/>
          </a:xfrm>
          <a:prstGeom prst="rect">
            <a:avLst/>
          </a:prstGeom>
          <a:noFill/>
        </p:spPr>
        <p:txBody>
          <a:bodyPr wrap="square" lIns="0" rIns="0" tIns="0" bIns="0" anchor="ctr">
            <a:spAutoFit/>
          </a:bodyPr>
          <a:lstStyle/>
          <a:p>
            <a:pPr algn="ctr">
              <a:lnSpc>
                <a:spcPct val="100000"/>
              </a:lnSpc>
              <a:spcBef>
                <a:spcPts val="0"/>
              </a:spcBef>
              <a:spcAft>
                <a:spcPts val="0"/>
              </a:spcAft>
            </a:pPr>
            <a:r>
              <a:rPr sz="1250" b="1" i="0">
                <a:solidFill>
                  <a:srgbClr val="0F5B4C"/>
                </a:solidFill>
                <a:latin typeface="Calibri"/>
              </a:rPr>
              <a:t>Superadmin plateforme</a:t>
            </a:r>
          </a:p>
        </p:txBody>
      </p:sp>
      <p:pic>
        <p:nvPicPr>
          <p:cNvPr id="12" name="Picture 11" descr="fig02_bpmn_nouveau.png"/>
          <p:cNvPicPr>
            <a:picLocks noChangeAspect="1"/>
          </p:cNvPicPr>
          <p:nvPr/>
        </p:nvPicPr>
        <p:blipFill>
          <a:blip r:embed="rId2"/>
          <a:stretch>
            <a:fillRect/>
          </a:stretch>
        </p:blipFill>
        <p:spPr>
          <a:xfrm>
            <a:off x="822960" y="2331720"/>
            <a:ext cx="10515600" cy="3916033"/>
          </a:xfrm>
          <a:prstGeom prst="rect">
            <a:avLst/>
          </a:prstGeom>
        </p:spPr>
      </p:pic>
      <p:sp>
        <p:nvSpPr>
          <p:cNvPr id="13" name="TextBox 12"/>
          <p:cNvSpPr txBox="1"/>
          <p:nvPr/>
        </p:nvSpPr>
        <p:spPr>
          <a:xfrm>
            <a:off x="640080" y="6519672"/>
            <a:ext cx="7315200" cy="274320"/>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68796F"/>
                </a:solidFill>
                <a:latin typeface="Calibri"/>
              </a:rPr>
              <a:t>Kayñiawlu — Soutenance de mémoire</a:t>
            </a:r>
          </a:p>
        </p:txBody>
      </p:sp>
      <p:sp>
        <p:nvSpPr>
          <p:cNvPr id="14" name="TextBox 13"/>
          <p:cNvSpPr txBox="1"/>
          <p:nvPr/>
        </p:nvSpPr>
        <p:spPr>
          <a:xfrm>
            <a:off x="10180015" y="6519672"/>
            <a:ext cx="1371600" cy="274320"/>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8796F"/>
                </a:solidFill>
                <a:latin typeface="Calibri"/>
              </a:rPr>
              <a:t>8</a:t>
            </a:r>
          </a:p>
        </p:txBody>
      </p:sp>
    </p:spTree>
  </p:cSld>
  <p:clrMapOvr>
    <a:masterClrMapping/>
  </p:clrMapOvr>
  <p:transition spd="med">
    <p:fade/>
  </p:transition>
  <p:timing>
    <p:tnLst>
      <p:par>
        <p:cTn id="128" dur="indefinite" restart="never" nodeType="tmRoot">
          <p:childTnLst>
            <p:seq concurrent="1" nextAc="seek">
              <p:cTn id="129" dur="indefinite" nodeType="mainSeq">
                <p:childTnLst>
                  <p:par>
                    <p:cTn id="130" fill="hold">
                      <p:stCondLst>
                        <p:cond delay="0"/>
                      </p:stCondLst>
                      <p:childTnLst>
                        <p:par>
                          <p:cTn id="101" presetID="10" presetClass="entr" presetSubtype="0" fill="hold" grpId="0" nodeType="afterEffect">
                            <p:stCondLst>
                              <p:cond delay="0"/>
                            </p:stCondLst>
                            <p:childTnLst>
                              <p:set>
                                <p:cBhvr>
                                  <p:cTn id="102" dur="1" fill="hold">
                                    <p:stCondLst>
                                      <p:cond delay="0"/>
                                    </p:stCondLst>
                                  </p:cTn>
                                  <p:tgtEl>
                                    <p:spTgt spid="4"/>
                                  </p:tgtEl>
                                  <p:attrNameLst>
                                    <p:attrName>style.visibility</p:attrName>
                                  </p:attrNameLst>
                                </p:cBhvr>
                                <p:to>
                                  <p:strVal val="visible"/>
                                </p:to>
                              </p:set>
                              <p:animEffect transition="in" filter="fade">
                                <p:cBhvr>
                                  <p:cTn id="103" dur="420"/>
                                  <p:tgtEl>
                                    <p:spTgt spid="4"/>
                                  </p:tgtEl>
                                </p:cBhvr>
                              </p:animEffect>
                            </p:childTnLst>
                          </p:cTn>
                        </p:par>
                        <p:par>
                          <p:cTn id="104" presetID="10" presetClass="entr" presetSubtype="0" fill="hold" grpId="0" nodeType="afterEffect">
                            <p:stCondLst>
                              <p:cond delay="0"/>
                            </p:stCondLst>
                            <p:childTnLst>
                              <p:set>
                                <p:cBhvr>
                                  <p:cTn id="105" dur="1" fill="hold">
                                    <p:stCondLst>
                                      <p:cond delay="0"/>
                                    </p:stCondLst>
                                  </p:cTn>
                                  <p:tgtEl>
                                    <p:spTgt spid="5"/>
                                  </p:tgtEl>
                                  <p:attrNameLst>
                                    <p:attrName>style.visibility</p:attrName>
                                  </p:attrNameLst>
                                </p:cBhvr>
                                <p:to>
                                  <p:strVal val="visible"/>
                                </p:to>
                              </p:set>
                              <p:animEffect transition="in" filter="fade">
                                <p:cBhvr>
                                  <p:cTn id="106" dur="420"/>
                                  <p:tgtEl>
                                    <p:spTgt spid="5"/>
                                  </p:tgtEl>
                                </p:cBhvr>
                              </p:animEffect>
                            </p:childTnLst>
                          </p:cTn>
                        </p:par>
                        <p:par>
                          <p:cTn id="107" presetID="10" presetClass="entr" presetSubtype="0" fill="hold" grpId="0" nodeType="afterEffect">
                            <p:stCondLst>
                              <p:cond delay="160"/>
                            </p:stCondLst>
                            <p:childTnLst>
                              <p:set>
                                <p:cBhvr>
                                  <p:cTn id="108" dur="1" fill="hold">
                                    <p:stCondLst>
                                      <p:cond delay="0"/>
                                    </p:stCondLst>
                                  </p:cTn>
                                  <p:tgtEl>
                                    <p:spTgt spid="6"/>
                                  </p:tgtEl>
                                  <p:attrNameLst>
                                    <p:attrName>style.visibility</p:attrName>
                                  </p:attrNameLst>
                                </p:cBhvr>
                                <p:to>
                                  <p:strVal val="visible"/>
                                </p:to>
                              </p:set>
                              <p:animEffect transition="in" filter="fade">
                                <p:cBhvr>
                                  <p:cTn id="109" dur="420"/>
                                  <p:tgtEl>
                                    <p:spTgt spid="6"/>
                                  </p:tgtEl>
                                </p:cBhvr>
                              </p:animEffect>
                            </p:childTnLst>
                          </p:cTn>
                        </p:par>
                        <p:par>
                          <p:cTn id="110" presetID="10" presetClass="entr" presetSubtype="0" fill="hold" grpId="0" nodeType="afterEffect">
                            <p:stCondLst>
                              <p:cond delay="160"/>
                            </p:stCondLst>
                            <p:childTnLst>
                              <p:set>
                                <p:cBhvr>
                                  <p:cTn id="111" dur="1" fill="hold">
                                    <p:stCondLst>
                                      <p:cond delay="0"/>
                                    </p:stCondLst>
                                  </p:cTn>
                                  <p:tgtEl>
                                    <p:spTgt spid="7"/>
                                  </p:tgtEl>
                                  <p:attrNameLst>
                                    <p:attrName>style.visibility</p:attrName>
                                  </p:attrNameLst>
                                </p:cBhvr>
                                <p:to>
                                  <p:strVal val="visible"/>
                                </p:to>
                              </p:set>
                              <p:animEffect transition="in" filter="fade">
                                <p:cBhvr>
                                  <p:cTn id="112" dur="420"/>
                                  <p:tgtEl>
                                    <p:spTgt spid="7"/>
                                  </p:tgtEl>
                                </p:cBhvr>
                              </p:animEffect>
                            </p:childTnLst>
                          </p:cTn>
                        </p:par>
                        <p:par>
                          <p:cTn id="113" presetID="10" presetClass="entr" presetSubtype="0" fill="hold" grpId="0" nodeType="afterEffect">
                            <p:stCondLst>
                              <p:cond delay="320"/>
                            </p:stCondLst>
                            <p:childTnLst>
                              <p:set>
                                <p:cBhvr>
                                  <p:cTn id="114" dur="1" fill="hold">
                                    <p:stCondLst>
                                      <p:cond delay="0"/>
                                    </p:stCondLst>
                                  </p:cTn>
                                  <p:tgtEl>
                                    <p:spTgt spid="8"/>
                                  </p:tgtEl>
                                  <p:attrNameLst>
                                    <p:attrName>style.visibility</p:attrName>
                                  </p:attrNameLst>
                                </p:cBhvr>
                                <p:to>
                                  <p:strVal val="visible"/>
                                </p:to>
                              </p:set>
                              <p:animEffect transition="in" filter="fade">
                                <p:cBhvr>
                                  <p:cTn id="115" dur="420"/>
                                  <p:tgtEl>
                                    <p:spTgt spid="8"/>
                                  </p:tgtEl>
                                </p:cBhvr>
                              </p:animEffect>
                            </p:childTnLst>
                          </p:cTn>
                        </p:par>
                        <p:par>
                          <p:cTn id="116" presetID="10" presetClass="entr" presetSubtype="0" fill="hold" grpId="0" nodeType="afterEffect">
                            <p:stCondLst>
                              <p:cond delay="320"/>
                            </p:stCondLst>
                            <p:childTnLst>
                              <p:set>
                                <p:cBhvr>
                                  <p:cTn id="117" dur="1" fill="hold">
                                    <p:stCondLst>
                                      <p:cond delay="0"/>
                                    </p:stCondLst>
                                  </p:cTn>
                                  <p:tgtEl>
                                    <p:spTgt spid="9"/>
                                  </p:tgtEl>
                                  <p:attrNameLst>
                                    <p:attrName>style.visibility</p:attrName>
                                  </p:attrNameLst>
                                </p:cBhvr>
                                <p:to>
                                  <p:strVal val="visible"/>
                                </p:to>
                              </p:set>
                              <p:animEffect transition="in" filter="fade">
                                <p:cBhvr>
                                  <p:cTn id="118" dur="420"/>
                                  <p:tgtEl>
                                    <p:spTgt spid="9"/>
                                  </p:tgtEl>
                                </p:cBhvr>
                              </p:animEffect>
                            </p:childTnLst>
                          </p:cTn>
                        </p:par>
                        <p:par>
                          <p:cTn id="119" presetID="10" presetClass="entr" presetSubtype="0" fill="hold" grpId="0" nodeType="afterEffect">
                            <p:stCondLst>
                              <p:cond delay="480"/>
                            </p:stCondLst>
                            <p:childTnLst>
                              <p:set>
                                <p:cBhvr>
                                  <p:cTn id="120" dur="1" fill="hold">
                                    <p:stCondLst>
                                      <p:cond delay="0"/>
                                    </p:stCondLst>
                                  </p:cTn>
                                  <p:tgtEl>
                                    <p:spTgt spid="10"/>
                                  </p:tgtEl>
                                  <p:attrNameLst>
                                    <p:attrName>style.visibility</p:attrName>
                                  </p:attrNameLst>
                                </p:cBhvr>
                                <p:to>
                                  <p:strVal val="visible"/>
                                </p:to>
                              </p:set>
                              <p:animEffect transition="in" filter="fade">
                                <p:cBhvr>
                                  <p:cTn id="121" dur="420"/>
                                  <p:tgtEl>
                                    <p:spTgt spid="10"/>
                                  </p:tgtEl>
                                </p:cBhvr>
                              </p:animEffect>
                            </p:childTnLst>
                          </p:cTn>
                        </p:par>
                        <p:par>
                          <p:cTn id="122" presetID="10" presetClass="entr" presetSubtype="0" fill="hold" grpId="0" nodeType="afterEffect">
                            <p:stCondLst>
                              <p:cond delay="480"/>
                            </p:stCondLst>
                            <p:childTnLst>
                              <p:set>
                                <p:cBhvr>
                                  <p:cTn id="123" dur="1" fill="hold">
                                    <p:stCondLst>
                                      <p:cond delay="0"/>
                                    </p:stCondLst>
                                  </p:cTn>
                                  <p:tgtEl>
                                    <p:spTgt spid="11"/>
                                  </p:tgtEl>
                                  <p:attrNameLst>
                                    <p:attrName>style.visibility</p:attrName>
                                  </p:attrNameLst>
                                </p:cBhvr>
                                <p:to>
                                  <p:strVal val="visible"/>
                                </p:to>
                              </p:set>
                              <p:animEffect transition="in" filter="fade">
                                <p:cBhvr>
                                  <p:cTn id="124" dur="420"/>
                                  <p:tgtEl>
                                    <p:spTgt spid="11"/>
                                  </p:tgtEl>
                                </p:cBhvr>
                              </p:animEffect>
                            </p:childTnLst>
                          </p:cTn>
                        </p:par>
                        <p:par>
                          <p:cTn id="125" presetID="10" presetClass="entr" presetSubtype="0" fill="hold" grpId="0" nodeType="afterEffect">
                            <p:stCondLst>
                              <p:cond delay="640"/>
                            </p:stCondLst>
                            <p:childTnLst>
                              <p:set>
                                <p:cBhvr>
                                  <p:cTn id="126" dur="1" fill="hold">
                                    <p:stCondLst>
                                      <p:cond delay="0"/>
                                    </p:stCondLst>
                                  </p:cTn>
                                  <p:tgtEl>
                                    <p:spTgt spid="12"/>
                                  </p:tgtEl>
                                  <p:attrNameLst>
                                    <p:attrName>style.visibility</p:attrName>
                                  </p:attrNameLst>
                                </p:cBhvr>
                                <p:to>
                                  <p:strVal val="visible"/>
                                </p:to>
                              </p:set>
                              <p:animEffect transition="in" filter="fade">
                                <p:cBhvr>
                                  <p:cTn id="127" dur="420"/>
                                  <p:tgtEl>
                                    <p:spTgt spid="12"/>
                                  </p:tgtEl>
                                </p:cBhvr>
                              </p:animEffect>
                            </p:childTnLst>
                          </p:cTn>
                        </p:par>
                      </p:childTnLst>
                    </p:cTn>
                  </p:par>
                </p:childTnLst>
              </p:cTn>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881360" cy="292608"/>
          </a:xfrm>
          <a:prstGeom prst="rect">
            <a:avLst/>
          </a:prstGeom>
          <a:noFill/>
        </p:spPr>
        <p:txBody>
          <a:bodyPr wrap="square" lIns="0" rIns="0" tIns="0" bIns="0" anchor="t">
            <a:spAutoFit/>
          </a:bodyPr>
          <a:lstStyle/>
          <a:p>
            <a:pPr algn="l">
              <a:lnSpc>
                <a:spcPct val="100000"/>
              </a:lnSpc>
              <a:spcBef>
                <a:spcPts val="0"/>
              </a:spcBef>
              <a:spcAft>
                <a:spcPts val="0"/>
              </a:spcAft>
            </a:pPr>
            <a:r>
              <a:rPr sz="1250" b="1" i="0">
                <a:solidFill>
                  <a:srgbClr val="B8863B"/>
                </a:solidFill>
                <a:latin typeface="Calibri"/>
              </a:rPr>
              <a:t>INTRODUCTION GÉNÉRALE · OBJECTIFS</a:t>
            </a:r>
          </a:p>
        </p:txBody>
      </p:sp>
      <p:sp>
        <p:nvSpPr>
          <p:cNvPr id="3" name="TextBox 2"/>
          <p:cNvSpPr txBox="1"/>
          <p:nvPr/>
        </p:nvSpPr>
        <p:spPr>
          <a:xfrm>
            <a:off x="640080" y="786384"/>
            <a:ext cx="10881360" cy="777240"/>
          </a:xfrm>
          <a:prstGeom prst="rect">
            <a:avLst/>
          </a:prstGeom>
          <a:noFill/>
        </p:spPr>
        <p:txBody>
          <a:bodyPr wrap="square" lIns="0" rIns="0" tIns="0" bIns="0" anchor="t">
            <a:spAutoFit/>
          </a:bodyPr>
          <a:lstStyle/>
          <a:p>
            <a:pPr algn="l">
              <a:lnSpc>
                <a:spcPct val="102000"/>
              </a:lnSpc>
              <a:spcBef>
                <a:spcPts val="0"/>
              </a:spcBef>
              <a:spcAft>
                <a:spcPts val="0"/>
              </a:spcAft>
            </a:pPr>
            <a:r>
              <a:rPr sz="2700" b="1" i="0">
                <a:solidFill>
                  <a:srgbClr val="0F5B4C"/>
                </a:solidFill>
                <a:latin typeface="Cambria"/>
              </a:rPr>
              <a:t>Objectif général et priorisation</a:t>
            </a:r>
          </a:p>
        </p:txBody>
      </p:sp>
      <p:sp>
        <p:nvSpPr>
          <p:cNvPr id="4" name="Rounded Rectangle 3"/>
          <p:cNvSpPr/>
          <p:nvPr/>
        </p:nvSpPr>
        <p:spPr>
          <a:xfrm>
            <a:off x="640080" y="1417320"/>
            <a:ext cx="5943600" cy="2834640"/>
          </a:xfrm>
          <a:prstGeom prst="roundRect">
            <a:avLst>
              <a:gd name="adj" fmla="val 6000"/>
            </a:avLst>
          </a:prstGeom>
          <a:solidFill>
            <a:srgbClr val="F6F1E8"/>
          </a:solidFill>
          <a:ln>
            <a:noFill/>
          </a:ln>
          <a:effectLst>
            <a:outerShdw blurRad="127000" dist="38100" dir="5400000" rotWithShape="0">
              <a:srgbClr val="1A10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691640"/>
            <a:ext cx="5303520" cy="365760"/>
          </a:xfrm>
          <a:prstGeom prst="rect">
            <a:avLst/>
          </a:prstGeom>
          <a:noFill/>
        </p:spPr>
        <p:txBody>
          <a:bodyPr wrap="square" lIns="0" rIns="0" tIns="0" bIns="0" anchor="t">
            <a:spAutoFit/>
          </a:bodyPr>
          <a:lstStyle/>
          <a:p>
            <a:pPr algn="l">
              <a:lnSpc>
                <a:spcPct val="100000"/>
              </a:lnSpc>
              <a:spcBef>
                <a:spcPts val="0"/>
              </a:spcBef>
              <a:spcAft>
                <a:spcPts val="0"/>
              </a:spcAft>
            </a:pPr>
            <a:r>
              <a:rPr sz="1200" b="1" i="0">
                <a:solidFill>
                  <a:srgbClr val="B8863B"/>
                </a:solidFill>
                <a:latin typeface="Calibri"/>
              </a:rPr>
              <a:t>OBJECTIF GÉNÉRAL</a:t>
            </a:r>
          </a:p>
        </p:txBody>
      </p:sp>
      <p:sp>
        <p:nvSpPr>
          <p:cNvPr id="6" name="TextBox 5"/>
          <p:cNvSpPr txBox="1"/>
          <p:nvPr/>
        </p:nvSpPr>
        <p:spPr>
          <a:xfrm>
            <a:off x="960120" y="2103120"/>
            <a:ext cx="5303520" cy="1965960"/>
          </a:xfrm>
          <a:prstGeom prst="rect">
            <a:avLst/>
          </a:prstGeom>
          <a:noFill/>
        </p:spPr>
        <p:txBody>
          <a:bodyPr wrap="square" lIns="0" rIns="0" tIns="0" bIns="0" anchor="t">
            <a:spAutoFit/>
          </a:bodyPr>
          <a:lstStyle/>
          <a:p>
            <a:pPr algn="l">
              <a:lnSpc>
                <a:spcPct val="130000"/>
              </a:lnSpc>
              <a:spcBef>
                <a:spcPts val="0"/>
              </a:spcBef>
              <a:spcAft>
                <a:spcPts val="0"/>
              </a:spcAft>
            </a:pPr>
            <a:r>
              <a:rPr sz="1400" b="0" i="0">
                <a:solidFill>
                  <a:srgbClr val="24312B"/>
                </a:solidFill>
                <a:latin typeface="Calibri"/>
              </a:rPr>
              <a:t>Concevoir et réaliser une solution SaaS de gestion pour les couturiers du Sénégal, permettant de numériser et de centraliser la gestion des clients, des fiches de mesures, des commandes, des points de vente et des équipes d'un atelier de couture.</a:t>
            </a:r>
          </a:p>
        </p:txBody>
      </p:sp>
      <p:sp>
        <p:nvSpPr>
          <p:cNvPr id="7" name="TextBox 6"/>
          <p:cNvSpPr txBox="1"/>
          <p:nvPr/>
        </p:nvSpPr>
        <p:spPr>
          <a:xfrm>
            <a:off x="6903720" y="1417320"/>
            <a:ext cx="4663440" cy="365760"/>
          </a:xfrm>
          <a:prstGeom prst="rect">
            <a:avLst/>
          </a:prstGeom>
          <a:noFill/>
        </p:spPr>
        <p:txBody>
          <a:bodyPr wrap="square" lIns="0" rIns="0" tIns="0" bIns="0" anchor="t">
            <a:spAutoFit/>
          </a:bodyPr>
          <a:lstStyle/>
          <a:p>
            <a:pPr algn="l">
              <a:lnSpc>
                <a:spcPct val="100000"/>
              </a:lnSpc>
              <a:spcBef>
                <a:spcPts val="0"/>
              </a:spcBef>
              <a:spcAft>
                <a:spcPts val="0"/>
              </a:spcAft>
            </a:pPr>
            <a:r>
              <a:rPr sz="1200" b="1" i="0">
                <a:solidFill>
                  <a:srgbClr val="B8863B"/>
                </a:solidFill>
                <a:latin typeface="Calibri"/>
              </a:rPr>
              <a:t>CRITÈRES DE PRIORISATION</a:t>
            </a:r>
          </a:p>
        </p:txBody>
      </p:sp>
      <p:sp>
        <p:nvSpPr>
          <p:cNvPr id="8" name="Oval 7"/>
          <p:cNvSpPr/>
          <p:nvPr/>
        </p:nvSpPr>
        <p:spPr>
          <a:xfrm>
            <a:off x="6903720" y="1874519"/>
            <a:ext cx="384048" cy="384048"/>
          </a:xfrm>
          <a:prstGeom prst="ellipse">
            <a:avLst/>
          </a:prstGeom>
          <a:solidFill>
            <a:srgbClr val="0F5B4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E6BD7C"/>
                </a:solidFill>
                <a:latin typeface="Calibri"/>
              </a:rPr>
              <a:t>✓</a:t>
            </a:r>
          </a:p>
        </p:txBody>
      </p:sp>
      <p:sp>
        <p:nvSpPr>
          <p:cNvPr id="9" name="TextBox 8"/>
          <p:cNvSpPr txBox="1"/>
          <p:nvPr/>
        </p:nvSpPr>
        <p:spPr>
          <a:xfrm>
            <a:off x="7452360" y="1847088"/>
            <a:ext cx="4114800" cy="320040"/>
          </a:xfrm>
          <a:prstGeom prst="rect">
            <a:avLst/>
          </a:prstGeom>
          <a:noFill/>
        </p:spPr>
        <p:txBody>
          <a:bodyPr wrap="square" lIns="0" rIns="0" tIns="0" bIns="0" anchor="t">
            <a:spAutoFit/>
          </a:bodyPr>
          <a:lstStyle/>
          <a:p>
            <a:pPr algn="l">
              <a:lnSpc>
                <a:spcPct val="100000"/>
              </a:lnSpc>
              <a:spcBef>
                <a:spcPts val="0"/>
              </a:spcBef>
              <a:spcAft>
                <a:spcPts val="0"/>
              </a:spcAft>
            </a:pPr>
            <a:r>
              <a:rPr sz="1450" b="1" i="0">
                <a:solidFill>
                  <a:srgbClr val="0F5B4C"/>
                </a:solidFill>
                <a:latin typeface="Calibri"/>
              </a:rPr>
              <a:t>Impact</a:t>
            </a:r>
          </a:p>
        </p:txBody>
      </p:sp>
      <p:sp>
        <p:nvSpPr>
          <p:cNvPr id="10" name="TextBox 9"/>
          <p:cNvSpPr txBox="1"/>
          <p:nvPr/>
        </p:nvSpPr>
        <p:spPr>
          <a:xfrm>
            <a:off x="7452360" y="2194560"/>
            <a:ext cx="4114800" cy="1005840"/>
          </a:xfrm>
          <a:prstGeom prst="rect">
            <a:avLst/>
          </a:prstGeom>
          <a:noFill/>
        </p:spPr>
        <p:txBody>
          <a:bodyPr wrap="square" lIns="0" rIns="0" tIns="0" bIns="0" anchor="t">
            <a:spAutoFit/>
          </a:bodyPr>
          <a:lstStyle/>
          <a:p>
            <a:pPr algn="l">
              <a:lnSpc>
                <a:spcPct val="125000"/>
              </a:lnSpc>
              <a:spcBef>
                <a:spcPts val="0"/>
              </a:spcBef>
              <a:spcAft>
                <a:spcPts val="0"/>
              </a:spcAft>
            </a:pPr>
            <a:r>
              <a:rPr sz="1200" b="0" i="0">
                <a:solidFill>
                  <a:srgbClr val="68796F"/>
                </a:solidFill>
                <a:latin typeface="Calibri"/>
              </a:rPr>
              <a:t>Répondre en priorité aux difficultés les plus critiques : pertes de mesures, retards non anticipés, absence de vision consolidée.</a:t>
            </a:r>
          </a:p>
        </p:txBody>
      </p:sp>
      <p:sp>
        <p:nvSpPr>
          <p:cNvPr id="11" name="Oval 10"/>
          <p:cNvSpPr/>
          <p:nvPr/>
        </p:nvSpPr>
        <p:spPr>
          <a:xfrm>
            <a:off x="6903720" y="3291839"/>
            <a:ext cx="384048" cy="384048"/>
          </a:xfrm>
          <a:prstGeom prst="ellipse">
            <a:avLst/>
          </a:prstGeom>
          <a:solidFill>
            <a:srgbClr val="0F5B4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E6BD7C"/>
                </a:solidFill>
                <a:latin typeface="Calibri"/>
              </a:rPr>
              <a:t>✓</a:t>
            </a:r>
          </a:p>
        </p:txBody>
      </p:sp>
      <p:sp>
        <p:nvSpPr>
          <p:cNvPr id="12" name="TextBox 11"/>
          <p:cNvSpPr txBox="1"/>
          <p:nvPr/>
        </p:nvSpPr>
        <p:spPr>
          <a:xfrm>
            <a:off x="7452360" y="3264408"/>
            <a:ext cx="4114800" cy="320040"/>
          </a:xfrm>
          <a:prstGeom prst="rect">
            <a:avLst/>
          </a:prstGeom>
          <a:noFill/>
        </p:spPr>
        <p:txBody>
          <a:bodyPr wrap="square" lIns="0" rIns="0" tIns="0" bIns="0" anchor="t">
            <a:spAutoFit/>
          </a:bodyPr>
          <a:lstStyle/>
          <a:p>
            <a:pPr algn="l">
              <a:lnSpc>
                <a:spcPct val="100000"/>
              </a:lnSpc>
              <a:spcBef>
                <a:spcPts val="0"/>
              </a:spcBef>
              <a:spcAft>
                <a:spcPts val="0"/>
              </a:spcAft>
            </a:pPr>
            <a:r>
              <a:rPr sz="1450" b="1" i="0">
                <a:solidFill>
                  <a:srgbClr val="0F5B4C"/>
                </a:solidFill>
                <a:latin typeface="Calibri"/>
              </a:rPr>
              <a:t>Faisabilité</a:t>
            </a:r>
          </a:p>
        </p:txBody>
      </p:sp>
      <p:sp>
        <p:nvSpPr>
          <p:cNvPr id="13" name="TextBox 12"/>
          <p:cNvSpPr txBox="1"/>
          <p:nvPr/>
        </p:nvSpPr>
        <p:spPr>
          <a:xfrm>
            <a:off x="7452360" y="3611879"/>
            <a:ext cx="4114800" cy="1005840"/>
          </a:xfrm>
          <a:prstGeom prst="rect">
            <a:avLst/>
          </a:prstGeom>
          <a:noFill/>
        </p:spPr>
        <p:txBody>
          <a:bodyPr wrap="square" lIns="0" rIns="0" tIns="0" bIns="0" anchor="t">
            <a:spAutoFit/>
          </a:bodyPr>
          <a:lstStyle/>
          <a:p>
            <a:pPr algn="l">
              <a:lnSpc>
                <a:spcPct val="125000"/>
              </a:lnSpc>
              <a:spcBef>
                <a:spcPts val="0"/>
              </a:spcBef>
              <a:spcAft>
                <a:spcPts val="0"/>
              </a:spcAft>
            </a:pPr>
            <a:r>
              <a:rPr sz="1200" b="0" i="0">
                <a:solidFill>
                  <a:srgbClr val="68796F"/>
                </a:solidFill>
                <a:latin typeface="Calibri"/>
              </a:rPr>
              <a:t>Retenir les fonctionnalités atteignables en trois mois, sans dépendance à des services tiers externes (paiement mobile, SMS, stores).</a:t>
            </a:r>
          </a:p>
        </p:txBody>
      </p:sp>
      <p:sp>
        <p:nvSpPr>
          <p:cNvPr id="14" name="TextBox 13"/>
          <p:cNvSpPr txBox="1"/>
          <p:nvPr/>
        </p:nvSpPr>
        <p:spPr>
          <a:xfrm>
            <a:off x="640080" y="6519672"/>
            <a:ext cx="7315200" cy="274320"/>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68796F"/>
                </a:solidFill>
                <a:latin typeface="Calibri"/>
              </a:rPr>
              <a:t>Kayñiawlu — Soutenance de mémoire</a:t>
            </a:r>
          </a:p>
        </p:txBody>
      </p:sp>
      <p:sp>
        <p:nvSpPr>
          <p:cNvPr id="15" name="TextBox 14"/>
          <p:cNvSpPr txBox="1"/>
          <p:nvPr/>
        </p:nvSpPr>
        <p:spPr>
          <a:xfrm>
            <a:off x="10180015" y="6519672"/>
            <a:ext cx="1371600" cy="274320"/>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8796F"/>
                </a:solidFill>
                <a:latin typeface="Calibri"/>
              </a:rPr>
              <a:t>9</a:t>
            </a:r>
          </a:p>
        </p:txBody>
      </p:sp>
    </p:spTree>
  </p:cSld>
  <p:clrMapOvr>
    <a:masterClrMapping/>
  </p:clrMapOvr>
  <p:transition spd="med">
    <p:fade/>
  </p:transition>
  <p:timing>
    <p:tnLst>
      <p:par>
        <p:cTn id="131" dur="indefinite" restart="never" nodeType="tmRoot">
          <p:childTnLst>
            <p:seq concurrent="1" nextAc="seek">
              <p:cTn id="132" dur="indefinite" nodeType="mainSeq">
                <p:childTnLst>
                  <p:par>
                    <p:cTn id="133" fill="hold">
                      <p:stCondLst>
                        <p:cond delay="0"/>
                      </p:stCondLst>
                      <p:childTnLst>
                        <p:par>
                          <p:cTn id="101" presetID="10" presetClass="entr" presetSubtype="0" fill="hold" grpId="0" nodeType="afterEffect">
                            <p:stCondLst>
                              <p:cond delay="0"/>
                            </p:stCondLst>
                            <p:childTnLst>
                              <p:set>
                                <p:cBhvr>
                                  <p:cTn id="102" dur="1" fill="hold">
                                    <p:stCondLst>
                                      <p:cond delay="0"/>
                                    </p:stCondLst>
                                  </p:cTn>
                                  <p:tgtEl>
                                    <p:spTgt spid="4"/>
                                  </p:tgtEl>
                                  <p:attrNameLst>
                                    <p:attrName>style.visibility</p:attrName>
                                  </p:attrNameLst>
                                </p:cBhvr>
                                <p:to>
                                  <p:strVal val="visible"/>
                                </p:to>
                              </p:set>
                              <p:animEffect transition="in" filter="fade">
                                <p:cBhvr>
                                  <p:cTn id="103" dur="420"/>
                                  <p:tgtEl>
                                    <p:spTgt spid="4"/>
                                  </p:tgtEl>
                                </p:cBhvr>
                              </p:animEffect>
                            </p:childTnLst>
                          </p:cTn>
                        </p:par>
                        <p:par>
                          <p:cTn id="104" presetID="10" presetClass="entr" presetSubtype="0" fill="hold" grpId="0" nodeType="afterEffect">
                            <p:stCondLst>
                              <p:cond delay="0"/>
                            </p:stCondLst>
                            <p:childTnLst>
                              <p:set>
                                <p:cBhvr>
                                  <p:cTn id="105" dur="1" fill="hold">
                                    <p:stCondLst>
                                      <p:cond delay="0"/>
                                    </p:stCondLst>
                                  </p:cTn>
                                  <p:tgtEl>
                                    <p:spTgt spid="5"/>
                                  </p:tgtEl>
                                  <p:attrNameLst>
                                    <p:attrName>style.visibility</p:attrName>
                                  </p:attrNameLst>
                                </p:cBhvr>
                                <p:to>
                                  <p:strVal val="visible"/>
                                </p:to>
                              </p:set>
                              <p:animEffect transition="in" filter="fade">
                                <p:cBhvr>
                                  <p:cTn id="106" dur="420"/>
                                  <p:tgtEl>
                                    <p:spTgt spid="5"/>
                                  </p:tgtEl>
                                </p:cBhvr>
                              </p:animEffect>
                            </p:childTnLst>
                          </p:cTn>
                        </p:par>
                        <p:par>
                          <p:cTn id="107" presetID="10" presetClass="entr" presetSubtype="0" fill="hold" grpId="0" nodeType="afterEffect">
                            <p:stCondLst>
                              <p:cond delay="0"/>
                            </p:stCondLst>
                            <p:childTnLst>
                              <p:set>
                                <p:cBhvr>
                                  <p:cTn id="108" dur="1" fill="hold">
                                    <p:stCondLst>
                                      <p:cond delay="0"/>
                                    </p:stCondLst>
                                  </p:cTn>
                                  <p:tgtEl>
                                    <p:spTgt spid="6"/>
                                  </p:tgtEl>
                                  <p:attrNameLst>
                                    <p:attrName>style.visibility</p:attrName>
                                  </p:attrNameLst>
                                </p:cBhvr>
                                <p:to>
                                  <p:strVal val="visible"/>
                                </p:to>
                              </p:set>
                              <p:animEffect transition="in" filter="fade">
                                <p:cBhvr>
                                  <p:cTn id="109" dur="420"/>
                                  <p:tgtEl>
                                    <p:spTgt spid="6"/>
                                  </p:tgtEl>
                                </p:cBhvr>
                              </p:animEffect>
                            </p:childTnLst>
                          </p:cTn>
                        </p:par>
                        <p:par>
                          <p:cTn id="110" presetID="10" presetClass="entr" presetSubtype="0" fill="hold" grpId="0" nodeType="afterEffect">
                            <p:stCondLst>
                              <p:cond delay="160"/>
                            </p:stCondLst>
                            <p:childTnLst>
                              <p:set>
                                <p:cBhvr>
                                  <p:cTn id="111" dur="1" fill="hold">
                                    <p:stCondLst>
                                      <p:cond delay="0"/>
                                    </p:stCondLst>
                                  </p:cTn>
                                  <p:tgtEl>
                                    <p:spTgt spid="7"/>
                                  </p:tgtEl>
                                  <p:attrNameLst>
                                    <p:attrName>style.visibility</p:attrName>
                                  </p:attrNameLst>
                                </p:cBhvr>
                                <p:to>
                                  <p:strVal val="visible"/>
                                </p:to>
                              </p:set>
                              <p:animEffect transition="in" filter="fade">
                                <p:cBhvr>
                                  <p:cTn id="112" dur="420"/>
                                  <p:tgtEl>
                                    <p:spTgt spid="7"/>
                                  </p:tgtEl>
                                </p:cBhvr>
                              </p:animEffect>
                            </p:childTnLst>
                          </p:cTn>
                        </p:par>
                        <p:par>
                          <p:cTn id="113" presetID="10" presetClass="entr" presetSubtype="0" fill="hold" grpId="0" nodeType="afterEffect">
                            <p:stCondLst>
                              <p:cond delay="320"/>
                            </p:stCondLst>
                            <p:childTnLst>
                              <p:set>
                                <p:cBhvr>
                                  <p:cTn id="114" dur="1" fill="hold">
                                    <p:stCondLst>
                                      <p:cond delay="0"/>
                                    </p:stCondLst>
                                  </p:cTn>
                                  <p:tgtEl>
                                    <p:spTgt spid="8"/>
                                  </p:tgtEl>
                                  <p:attrNameLst>
                                    <p:attrName>style.visibility</p:attrName>
                                  </p:attrNameLst>
                                </p:cBhvr>
                                <p:to>
                                  <p:strVal val="visible"/>
                                </p:to>
                              </p:set>
                              <p:animEffect transition="in" filter="fade">
                                <p:cBhvr>
                                  <p:cTn id="115" dur="420"/>
                                  <p:tgtEl>
                                    <p:spTgt spid="8"/>
                                  </p:tgtEl>
                                </p:cBhvr>
                              </p:animEffect>
                            </p:childTnLst>
                          </p:cTn>
                        </p:par>
                        <p:par>
                          <p:cTn id="116" presetID="10" presetClass="entr" presetSubtype="0" fill="hold" grpId="0" nodeType="afterEffect">
                            <p:stCondLst>
                              <p:cond delay="320"/>
                            </p:stCondLst>
                            <p:childTnLst>
                              <p:set>
                                <p:cBhvr>
                                  <p:cTn id="117" dur="1" fill="hold">
                                    <p:stCondLst>
                                      <p:cond delay="0"/>
                                    </p:stCondLst>
                                  </p:cTn>
                                  <p:tgtEl>
                                    <p:spTgt spid="9"/>
                                  </p:tgtEl>
                                  <p:attrNameLst>
                                    <p:attrName>style.visibility</p:attrName>
                                  </p:attrNameLst>
                                </p:cBhvr>
                                <p:to>
                                  <p:strVal val="visible"/>
                                </p:to>
                              </p:set>
                              <p:animEffect transition="in" filter="fade">
                                <p:cBhvr>
                                  <p:cTn id="118" dur="420"/>
                                  <p:tgtEl>
                                    <p:spTgt spid="9"/>
                                  </p:tgtEl>
                                </p:cBhvr>
                              </p:animEffect>
                            </p:childTnLst>
                          </p:cTn>
                        </p:par>
                        <p:par>
                          <p:cTn id="119" presetID="10" presetClass="entr" presetSubtype="0" fill="hold" grpId="0" nodeType="afterEffect">
                            <p:stCondLst>
                              <p:cond delay="320"/>
                            </p:stCondLst>
                            <p:childTnLst>
                              <p:set>
                                <p:cBhvr>
                                  <p:cTn id="120" dur="1" fill="hold">
                                    <p:stCondLst>
                                      <p:cond delay="0"/>
                                    </p:stCondLst>
                                  </p:cTn>
                                  <p:tgtEl>
                                    <p:spTgt spid="10"/>
                                  </p:tgtEl>
                                  <p:attrNameLst>
                                    <p:attrName>style.visibility</p:attrName>
                                  </p:attrNameLst>
                                </p:cBhvr>
                                <p:to>
                                  <p:strVal val="visible"/>
                                </p:to>
                              </p:set>
                              <p:animEffect transition="in" filter="fade">
                                <p:cBhvr>
                                  <p:cTn id="121" dur="420"/>
                                  <p:tgtEl>
                                    <p:spTgt spid="10"/>
                                  </p:tgtEl>
                                </p:cBhvr>
                              </p:animEffect>
                            </p:childTnLst>
                          </p:cTn>
                        </p:par>
                        <p:par>
                          <p:cTn id="122" presetID="10" presetClass="entr" presetSubtype="0" fill="hold" grpId="0" nodeType="afterEffect">
                            <p:stCondLst>
                              <p:cond delay="480"/>
                            </p:stCondLst>
                            <p:childTnLst>
                              <p:set>
                                <p:cBhvr>
                                  <p:cTn id="123" dur="1" fill="hold">
                                    <p:stCondLst>
                                      <p:cond delay="0"/>
                                    </p:stCondLst>
                                  </p:cTn>
                                  <p:tgtEl>
                                    <p:spTgt spid="11"/>
                                  </p:tgtEl>
                                  <p:attrNameLst>
                                    <p:attrName>style.visibility</p:attrName>
                                  </p:attrNameLst>
                                </p:cBhvr>
                                <p:to>
                                  <p:strVal val="visible"/>
                                </p:to>
                              </p:set>
                              <p:animEffect transition="in" filter="fade">
                                <p:cBhvr>
                                  <p:cTn id="124" dur="420"/>
                                  <p:tgtEl>
                                    <p:spTgt spid="11"/>
                                  </p:tgtEl>
                                </p:cBhvr>
                              </p:animEffect>
                            </p:childTnLst>
                          </p:cTn>
                        </p:par>
                        <p:par>
                          <p:cTn id="125" presetID="10" presetClass="entr" presetSubtype="0" fill="hold" grpId="0" nodeType="afterEffect">
                            <p:stCondLst>
                              <p:cond delay="480"/>
                            </p:stCondLst>
                            <p:childTnLst>
                              <p:set>
                                <p:cBhvr>
                                  <p:cTn id="126" dur="1" fill="hold">
                                    <p:stCondLst>
                                      <p:cond delay="0"/>
                                    </p:stCondLst>
                                  </p:cTn>
                                  <p:tgtEl>
                                    <p:spTgt spid="12"/>
                                  </p:tgtEl>
                                  <p:attrNameLst>
                                    <p:attrName>style.visibility</p:attrName>
                                  </p:attrNameLst>
                                </p:cBhvr>
                                <p:to>
                                  <p:strVal val="visible"/>
                                </p:to>
                              </p:set>
                              <p:animEffect transition="in" filter="fade">
                                <p:cBhvr>
                                  <p:cTn id="127" dur="420"/>
                                  <p:tgtEl>
                                    <p:spTgt spid="12"/>
                                  </p:tgtEl>
                                </p:cBhvr>
                              </p:animEffect>
                            </p:childTnLst>
                          </p:cTn>
                        </p:par>
                        <p:par>
                          <p:cTn id="128" presetID="10" presetClass="entr" presetSubtype="0" fill="hold" grpId="0" nodeType="afterEffect">
                            <p:stCondLst>
                              <p:cond delay="480"/>
                            </p:stCondLst>
                            <p:childTnLst>
                              <p:set>
                                <p:cBhvr>
                                  <p:cTn id="129" dur="1" fill="hold">
                                    <p:stCondLst>
                                      <p:cond delay="0"/>
                                    </p:stCondLst>
                                  </p:cTn>
                                  <p:tgtEl>
                                    <p:spTgt spid="13"/>
                                  </p:tgtEl>
                                  <p:attrNameLst>
                                    <p:attrName>style.visibility</p:attrName>
                                  </p:attrNameLst>
                                </p:cBhvr>
                                <p:to>
                                  <p:strVal val="visible"/>
                                </p:to>
                              </p:set>
                              <p:animEffect transition="in" filter="fade">
                                <p:cBhvr>
                                  <p:cTn id="130" dur="420"/>
                                  <p:tgtEl>
                                    <p:spTgt spid="13"/>
                                  </p:tgtEl>
                                </p:cBhvr>
                              </p:animEffect>
                            </p:childTnLst>
                          </p:cTn>
                        </p:par>
                      </p:childTnLst>
                    </p:cTn>
                  </p:par>
                </p:childTnLst>
              </p:cTn>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5B4C"/>
        </a:solidFill>
        <a:effectLst/>
      </p:bgPr>
    </p:bg>
    <p:spTree>
      <p:nvGrpSpPr>
        <p:cNvPr id="1" name=""/>
        <p:cNvGrpSpPr/>
        <p:nvPr/>
      </p:nvGrpSpPr>
      <p:grpSpPr/>
      <p:sp>
        <p:nvSpPr>
          <p:cNvPr id="2" name="TextBox 1"/>
          <p:cNvSpPr txBox="1"/>
          <p:nvPr/>
        </p:nvSpPr>
        <p:spPr>
          <a:xfrm>
            <a:off x="640080" y="457200"/>
            <a:ext cx="10881360" cy="292608"/>
          </a:xfrm>
          <a:prstGeom prst="rect">
            <a:avLst/>
          </a:prstGeom>
          <a:noFill/>
        </p:spPr>
        <p:txBody>
          <a:bodyPr wrap="square" lIns="0" rIns="0" tIns="0" bIns="0" anchor="t">
            <a:spAutoFit/>
          </a:bodyPr>
          <a:lstStyle/>
          <a:p>
            <a:pPr algn="l">
              <a:lnSpc>
                <a:spcPct val="100000"/>
              </a:lnSpc>
              <a:spcBef>
                <a:spcPts val="0"/>
              </a:spcBef>
              <a:spcAft>
                <a:spcPts val="0"/>
              </a:spcAft>
            </a:pPr>
            <a:r>
              <a:rPr sz="1250" b="1" i="0">
                <a:solidFill>
                  <a:srgbClr val="E6BD7C"/>
                </a:solidFill>
                <a:latin typeface="Calibri"/>
              </a:rPr>
              <a:t>INTRODUCTION GÉNÉRALE · INTÉRÊTS DU SUJET</a:t>
            </a:r>
          </a:p>
        </p:txBody>
      </p:sp>
      <p:sp>
        <p:nvSpPr>
          <p:cNvPr id="3" name="TextBox 2"/>
          <p:cNvSpPr txBox="1"/>
          <p:nvPr/>
        </p:nvSpPr>
        <p:spPr>
          <a:xfrm>
            <a:off x="640080" y="786384"/>
            <a:ext cx="10881360" cy="777240"/>
          </a:xfrm>
          <a:prstGeom prst="rect">
            <a:avLst/>
          </a:prstGeom>
          <a:noFill/>
        </p:spPr>
        <p:txBody>
          <a:bodyPr wrap="square" lIns="0" rIns="0" tIns="0" bIns="0" anchor="t">
            <a:spAutoFit/>
          </a:bodyPr>
          <a:lstStyle/>
          <a:p>
            <a:pPr algn="l">
              <a:lnSpc>
                <a:spcPct val="102000"/>
              </a:lnSpc>
              <a:spcBef>
                <a:spcPts val="0"/>
              </a:spcBef>
              <a:spcAft>
                <a:spcPts val="0"/>
              </a:spcAft>
            </a:pPr>
            <a:r>
              <a:rPr sz="2700" b="1" i="0">
                <a:solidFill>
                  <a:srgbClr val="FFFFFF"/>
                </a:solidFill>
                <a:latin typeface="Cambria"/>
              </a:rPr>
              <a:t>Pourquoi ce sujet compte</a:t>
            </a:r>
          </a:p>
        </p:txBody>
      </p:sp>
      <p:sp>
        <p:nvSpPr>
          <p:cNvPr id="4" name="Rounded Rectangle 3"/>
          <p:cNvSpPr/>
          <p:nvPr/>
        </p:nvSpPr>
        <p:spPr>
          <a:xfrm>
            <a:off x="777240" y="1600200"/>
            <a:ext cx="3429000" cy="4297680"/>
          </a:xfrm>
          <a:prstGeom prst="roundRect">
            <a:avLst>
              <a:gd name="adj" fmla="val 6000"/>
            </a:avLst>
          </a:prstGeom>
          <a:solidFill>
            <a:srgbClr val="1B7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97280" y="1920240"/>
            <a:ext cx="502920" cy="502920"/>
          </a:xfrm>
          <a:prstGeom prst="ellipse">
            <a:avLst/>
          </a:prstGeom>
          <a:solidFill>
            <a:srgbClr val="B8863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0F5B4C"/>
                </a:solidFill>
                <a:latin typeface="Calibri"/>
              </a:rPr>
              <a:t>★</a:t>
            </a:r>
          </a:p>
        </p:txBody>
      </p:sp>
      <p:sp>
        <p:nvSpPr>
          <p:cNvPr id="6" name="TextBox 5"/>
          <p:cNvSpPr txBox="1"/>
          <p:nvPr/>
        </p:nvSpPr>
        <p:spPr>
          <a:xfrm>
            <a:off x="1097280" y="2606040"/>
            <a:ext cx="2788920" cy="548640"/>
          </a:xfrm>
          <a:prstGeom prst="rect">
            <a:avLst/>
          </a:prstGeom>
          <a:noFill/>
        </p:spPr>
        <p:txBody>
          <a:bodyPr wrap="square" lIns="0" rIns="0" tIns="0" bIns="0" anchor="t">
            <a:spAutoFit/>
          </a:bodyPr>
          <a:lstStyle/>
          <a:p>
            <a:pPr algn="l">
              <a:lnSpc>
                <a:spcPct val="100000"/>
              </a:lnSpc>
              <a:spcBef>
                <a:spcPts val="0"/>
              </a:spcBef>
              <a:spcAft>
                <a:spcPts val="0"/>
              </a:spcAft>
            </a:pPr>
            <a:r>
              <a:rPr sz="1700" b="1" i="0">
                <a:solidFill>
                  <a:srgbClr val="FFFFFF"/>
                </a:solidFill>
                <a:latin typeface="Cambria"/>
              </a:rPr>
              <a:t>Pour l'atelier</a:t>
            </a:r>
          </a:p>
        </p:txBody>
      </p:sp>
      <p:sp>
        <p:nvSpPr>
          <p:cNvPr id="7" name="TextBox 6"/>
          <p:cNvSpPr txBox="1"/>
          <p:nvPr/>
        </p:nvSpPr>
        <p:spPr>
          <a:xfrm>
            <a:off x="1097280" y="3154680"/>
            <a:ext cx="2788920" cy="2560320"/>
          </a:xfrm>
          <a:prstGeom prst="rect">
            <a:avLst/>
          </a:prstGeom>
          <a:noFill/>
        </p:spPr>
        <p:txBody>
          <a:bodyPr wrap="square" lIns="0" rIns="0" tIns="0" bIns="0" anchor="t">
            <a:spAutoFit/>
          </a:bodyPr>
          <a:lstStyle/>
          <a:p>
            <a:pPr algn="l">
              <a:lnSpc>
                <a:spcPct val="135000"/>
              </a:lnSpc>
              <a:spcBef>
                <a:spcPts val="0"/>
              </a:spcBef>
              <a:spcAft>
                <a:spcPts val="0"/>
              </a:spcAft>
            </a:pPr>
            <a:r>
              <a:rPr sz="1250" b="0" i="0">
                <a:solidFill>
                  <a:srgbClr val="A7BCB1"/>
                </a:solidFill>
                <a:latin typeface="Calibri"/>
              </a:rPr>
              <a:t>Moins de temps administratif, moins d'erreurs de mesures, meilleur respect des délais et connaissance réelle du chiffre d'affaires.</a:t>
            </a:r>
          </a:p>
        </p:txBody>
      </p:sp>
      <p:sp>
        <p:nvSpPr>
          <p:cNvPr id="8" name="Rounded Rectangle 7"/>
          <p:cNvSpPr/>
          <p:nvPr/>
        </p:nvSpPr>
        <p:spPr>
          <a:xfrm>
            <a:off x="4526279" y="1600200"/>
            <a:ext cx="3429000" cy="4297680"/>
          </a:xfrm>
          <a:prstGeom prst="roundRect">
            <a:avLst>
              <a:gd name="adj" fmla="val 6000"/>
            </a:avLst>
          </a:prstGeom>
          <a:solidFill>
            <a:srgbClr val="1B7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846319" y="1920240"/>
            <a:ext cx="502920" cy="502920"/>
          </a:xfrm>
          <a:prstGeom prst="ellipse">
            <a:avLst/>
          </a:prstGeom>
          <a:solidFill>
            <a:srgbClr val="B8863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0F5B4C"/>
                </a:solidFill>
                <a:latin typeface="Calibri"/>
              </a:rPr>
              <a:t>★</a:t>
            </a:r>
          </a:p>
        </p:txBody>
      </p:sp>
      <p:sp>
        <p:nvSpPr>
          <p:cNvPr id="10" name="TextBox 9"/>
          <p:cNvSpPr txBox="1"/>
          <p:nvPr/>
        </p:nvSpPr>
        <p:spPr>
          <a:xfrm>
            <a:off x="4846319" y="2606040"/>
            <a:ext cx="2788920" cy="548640"/>
          </a:xfrm>
          <a:prstGeom prst="rect">
            <a:avLst/>
          </a:prstGeom>
          <a:noFill/>
        </p:spPr>
        <p:txBody>
          <a:bodyPr wrap="square" lIns="0" rIns="0" tIns="0" bIns="0" anchor="t">
            <a:spAutoFit/>
          </a:bodyPr>
          <a:lstStyle/>
          <a:p>
            <a:pPr algn="l">
              <a:lnSpc>
                <a:spcPct val="100000"/>
              </a:lnSpc>
              <a:spcBef>
                <a:spcPts val="0"/>
              </a:spcBef>
              <a:spcAft>
                <a:spcPts val="0"/>
              </a:spcAft>
            </a:pPr>
            <a:r>
              <a:rPr sz="1700" b="1" i="0">
                <a:solidFill>
                  <a:srgbClr val="FFFFFF"/>
                </a:solidFill>
                <a:latin typeface="Cambria"/>
              </a:rPr>
              <a:t>Pour le secteur</a:t>
            </a:r>
          </a:p>
        </p:txBody>
      </p:sp>
      <p:sp>
        <p:nvSpPr>
          <p:cNvPr id="11" name="TextBox 10"/>
          <p:cNvSpPr txBox="1"/>
          <p:nvPr/>
        </p:nvSpPr>
        <p:spPr>
          <a:xfrm>
            <a:off x="4846319" y="3154680"/>
            <a:ext cx="2788920" cy="2560320"/>
          </a:xfrm>
          <a:prstGeom prst="rect">
            <a:avLst/>
          </a:prstGeom>
          <a:noFill/>
        </p:spPr>
        <p:txBody>
          <a:bodyPr wrap="square" lIns="0" rIns="0" tIns="0" bIns="0" anchor="t">
            <a:spAutoFit/>
          </a:bodyPr>
          <a:lstStyle/>
          <a:p>
            <a:pPr algn="l">
              <a:lnSpc>
                <a:spcPct val="135000"/>
              </a:lnSpc>
              <a:spcBef>
                <a:spcPts val="0"/>
              </a:spcBef>
              <a:spcAft>
                <a:spcPts val="0"/>
              </a:spcAft>
            </a:pPr>
            <a:r>
              <a:rPr sz="1250" b="0" i="0">
                <a:solidFill>
                  <a:srgbClr val="A7BCB1"/>
                </a:solidFill>
                <a:latin typeface="Calibri"/>
              </a:rPr>
              <a:t>Structuration d'une filière artisanale clé de l'économie sénégalaise, plus attractive pour de jeunes couturiers formés.</a:t>
            </a:r>
          </a:p>
        </p:txBody>
      </p:sp>
      <p:sp>
        <p:nvSpPr>
          <p:cNvPr id="12" name="Rounded Rectangle 11"/>
          <p:cNvSpPr/>
          <p:nvPr/>
        </p:nvSpPr>
        <p:spPr>
          <a:xfrm>
            <a:off x="8275319" y="1600200"/>
            <a:ext cx="3429000" cy="4297680"/>
          </a:xfrm>
          <a:prstGeom prst="roundRect">
            <a:avLst>
              <a:gd name="adj" fmla="val 6000"/>
            </a:avLst>
          </a:prstGeom>
          <a:solidFill>
            <a:srgbClr val="1B7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595359" y="1920240"/>
            <a:ext cx="502920" cy="502920"/>
          </a:xfrm>
          <a:prstGeom prst="ellipse">
            <a:avLst/>
          </a:prstGeom>
          <a:solidFill>
            <a:srgbClr val="B8863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0F5B4C"/>
                </a:solidFill>
                <a:latin typeface="Calibri"/>
              </a:rPr>
              <a:t>★</a:t>
            </a:r>
          </a:p>
        </p:txBody>
      </p:sp>
      <p:sp>
        <p:nvSpPr>
          <p:cNvPr id="14" name="TextBox 13"/>
          <p:cNvSpPr txBox="1"/>
          <p:nvPr/>
        </p:nvSpPr>
        <p:spPr>
          <a:xfrm>
            <a:off x="8595359" y="2606040"/>
            <a:ext cx="2788920" cy="548640"/>
          </a:xfrm>
          <a:prstGeom prst="rect">
            <a:avLst/>
          </a:prstGeom>
          <a:noFill/>
        </p:spPr>
        <p:txBody>
          <a:bodyPr wrap="square" lIns="0" rIns="0" tIns="0" bIns="0" anchor="t">
            <a:spAutoFit/>
          </a:bodyPr>
          <a:lstStyle/>
          <a:p>
            <a:pPr algn="l">
              <a:lnSpc>
                <a:spcPct val="100000"/>
              </a:lnSpc>
              <a:spcBef>
                <a:spcPts val="0"/>
              </a:spcBef>
              <a:spcAft>
                <a:spcPts val="0"/>
              </a:spcAft>
            </a:pPr>
            <a:r>
              <a:rPr sz="1700" b="1" i="0">
                <a:solidFill>
                  <a:srgbClr val="FFFFFF"/>
                </a:solidFill>
                <a:latin typeface="Cambria"/>
              </a:rPr>
              <a:t>Pour l'étudiant</a:t>
            </a:r>
          </a:p>
        </p:txBody>
      </p:sp>
      <p:sp>
        <p:nvSpPr>
          <p:cNvPr id="15" name="TextBox 14"/>
          <p:cNvSpPr txBox="1"/>
          <p:nvPr/>
        </p:nvSpPr>
        <p:spPr>
          <a:xfrm>
            <a:off x="8595359" y="3154680"/>
            <a:ext cx="2788920" cy="2560320"/>
          </a:xfrm>
          <a:prstGeom prst="rect">
            <a:avLst/>
          </a:prstGeom>
          <a:noFill/>
        </p:spPr>
        <p:txBody>
          <a:bodyPr wrap="square" lIns="0" rIns="0" tIns="0" bIns="0" anchor="t">
            <a:spAutoFit/>
          </a:bodyPr>
          <a:lstStyle/>
          <a:p>
            <a:pPr algn="l">
              <a:lnSpc>
                <a:spcPct val="135000"/>
              </a:lnSpc>
              <a:spcBef>
                <a:spcPts val="0"/>
              </a:spcBef>
              <a:spcAft>
                <a:spcPts val="0"/>
              </a:spcAft>
            </a:pPr>
            <a:r>
              <a:rPr sz="1250" b="0" i="0">
                <a:solidFill>
                  <a:srgbClr val="A7BCB1"/>
                </a:solidFill>
                <a:latin typeface="Calibri"/>
              </a:rPr>
              <a:t>Mise en pratique d'une architecture multi-tenant complète : API GraphQL/REST, backoffice Next.js, mobile Flutter offline-first.</a:t>
            </a:r>
          </a:p>
        </p:txBody>
      </p:sp>
      <p:sp>
        <p:nvSpPr>
          <p:cNvPr id="16" name="TextBox 15"/>
          <p:cNvSpPr txBox="1"/>
          <p:nvPr/>
        </p:nvSpPr>
        <p:spPr>
          <a:xfrm>
            <a:off x="640080" y="6519672"/>
            <a:ext cx="7315200" cy="274320"/>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A7BCB1"/>
                </a:solidFill>
                <a:latin typeface="Calibri"/>
              </a:rPr>
              <a:t>Kayñiawlu — Soutenance de mémoire</a:t>
            </a:r>
          </a:p>
        </p:txBody>
      </p:sp>
      <p:sp>
        <p:nvSpPr>
          <p:cNvPr id="17" name="TextBox 16"/>
          <p:cNvSpPr txBox="1"/>
          <p:nvPr/>
        </p:nvSpPr>
        <p:spPr>
          <a:xfrm>
            <a:off x="10180015" y="6519672"/>
            <a:ext cx="1371600" cy="274320"/>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A7BCB1"/>
                </a:solidFill>
                <a:latin typeface="Calibri"/>
              </a:rPr>
              <a:t>10</a:t>
            </a:r>
          </a:p>
        </p:txBody>
      </p:sp>
    </p:spTree>
  </p:cSld>
  <p:clrMapOvr>
    <a:masterClrMapping/>
  </p:clrMapOvr>
  <p:transition spd="med">
    <p:fade/>
  </p:transition>
  <p:timing>
    <p:tnLst>
      <p:par>
        <p:cTn id="137" dur="indefinite" restart="never" nodeType="tmRoot">
          <p:childTnLst>
            <p:seq concurrent="1" nextAc="seek">
              <p:cTn id="138" dur="indefinite" nodeType="mainSeq">
                <p:childTnLst>
                  <p:par>
                    <p:cTn id="139" fill="hold">
                      <p:stCondLst>
                        <p:cond delay="0"/>
                      </p:stCondLst>
                      <p:childTnLst>
                        <p:par>
                          <p:cTn id="101" presetID="10" presetClass="entr" presetSubtype="0" fill="hold" grpId="0" nodeType="afterEffect">
                            <p:stCondLst>
                              <p:cond delay="0"/>
                            </p:stCondLst>
                            <p:childTnLst>
                              <p:set>
                                <p:cBhvr>
                                  <p:cTn id="102" dur="1" fill="hold">
                                    <p:stCondLst>
                                      <p:cond delay="0"/>
                                    </p:stCondLst>
                                  </p:cTn>
                                  <p:tgtEl>
                                    <p:spTgt spid="4"/>
                                  </p:tgtEl>
                                  <p:attrNameLst>
                                    <p:attrName>style.visibility</p:attrName>
                                  </p:attrNameLst>
                                </p:cBhvr>
                                <p:to>
                                  <p:strVal val="visible"/>
                                </p:to>
                              </p:set>
                              <p:animEffect transition="in" filter="fade">
                                <p:cBhvr>
                                  <p:cTn id="103" dur="420"/>
                                  <p:tgtEl>
                                    <p:spTgt spid="4"/>
                                  </p:tgtEl>
                                </p:cBhvr>
                              </p:animEffect>
                            </p:childTnLst>
                          </p:cTn>
                        </p:par>
                        <p:par>
                          <p:cTn id="104" presetID="10" presetClass="entr" presetSubtype="0" fill="hold" grpId="0" nodeType="afterEffect">
                            <p:stCondLst>
                              <p:cond delay="0"/>
                            </p:stCondLst>
                            <p:childTnLst>
                              <p:set>
                                <p:cBhvr>
                                  <p:cTn id="105" dur="1" fill="hold">
                                    <p:stCondLst>
                                      <p:cond delay="0"/>
                                    </p:stCondLst>
                                  </p:cTn>
                                  <p:tgtEl>
                                    <p:spTgt spid="5"/>
                                  </p:tgtEl>
                                  <p:attrNameLst>
                                    <p:attrName>style.visibility</p:attrName>
                                  </p:attrNameLst>
                                </p:cBhvr>
                                <p:to>
                                  <p:strVal val="visible"/>
                                </p:to>
                              </p:set>
                              <p:animEffect transition="in" filter="fade">
                                <p:cBhvr>
                                  <p:cTn id="106" dur="420"/>
                                  <p:tgtEl>
                                    <p:spTgt spid="5"/>
                                  </p:tgtEl>
                                </p:cBhvr>
                              </p:animEffect>
                            </p:childTnLst>
                          </p:cTn>
                        </p:par>
                        <p:par>
                          <p:cTn id="107" presetID="10" presetClass="entr" presetSubtype="0" fill="hold" grpId="0" nodeType="afterEffect">
                            <p:stCondLst>
                              <p:cond delay="0"/>
                            </p:stCondLst>
                            <p:childTnLst>
                              <p:set>
                                <p:cBhvr>
                                  <p:cTn id="108" dur="1" fill="hold">
                                    <p:stCondLst>
                                      <p:cond delay="0"/>
                                    </p:stCondLst>
                                  </p:cTn>
                                  <p:tgtEl>
                                    <p:spTgt spid="6"/>
                                  </p:tgtEl>
                                  <p:attrNameLst>
                                    <p:attrName>style.visibility</p:attrName>
                                  </p:attrNameLst>
                                </p:cBhvr>
                                <p:to>
                                  <p:strVal val="visible"/>
                                </p:to>
                              </p:set>
                              <p:animEffect transition="in" filter="fade">
                                <p:cBhvr>
                                  <p:cTn id="109" dur="420"/>
                                  <p:tgtEl>
                                    <p:spTgt spid="6"/>
                                  </p:tgtEl>
                                </p:cBhvr>
                              </p:animEffect>
                            </p:childTnLst>
                          </p:cTn>
                        </p:par>
                        <p:par>
                          <p:cTn id="110" presetID="10" presetClass="entr" presetSubtype="0" fill="hold" grpId="0" nodeType="afterEffect">
                            <p:stCondLst>
                              <p:cond delay="0"/>
                            </p:stCondLst>
                            <p:childTnLst>
                              <p:set>
                                <p:cBhvr>
                                  <p:cTn id="111" dur="1" fill="hold">
                                    <p:stCondLst>
                                      <p:cond delay="0"/>
                                    </p:stCondLst>
                                  </p:cTn>
                                  <p:tgtEl>
                                    <p:spTgt spid="7"/>
                                  </p:tgtEl>
                                  <p:attrNameLst>
                                    <p:attrName>style.visibility</p:attrName>
                                  </p:attrNameLst>
                                </p:cBhvr>
                                <p:to>
                                  <p:strVal val="visible"/>
                                </p:to>
                              </p:set>
                              <p:animEffect transition="in" filter="fade">
                                <p:cBhvr>
                                  <p:cTn id="112" dur="420"/>
                                  <p:tgtEl>
                                    <p:spTgt spid="7"/>
                                  </p:tgtEl>
                                </p:cBhvr>
                              </p:animEffect>
                            </p:childTnLst>
                          </p:cTn>
                        </p:par>
                        <p:par>
                          <p:cTn id="113" presetID="10" presetClass="entr" presetSubtype="0" fill="hold" grpId="0" nodeType="afterEffect">
                            <p:stCondLst>
                              <p:cond delay="220"/>
                            </p:stCondLst>
                            <p:childTnLst>
                              <p:set>
                                <p:cBhvr>
                                  <p:cTn id="114" dur="1" fill="hold">
                                    <p:stCondLst>
                                      <p:cond delay="0"/>
                                    </p:stCondLst>
                                  </p:cTn>
                                  <p:tgtEl>
                                    <p:spTgt spid="8"/>
                                  </p:tgtEl>
                                  <p:attrNameLst>
                                    <p:attrName>style.visibility</p:attrName>
                                  </p:attrNameLst>
                                </p:cBhvr>
                                <p:to>
                                  <p:strVal val="visible"/>
                                </p:to>
                              </p:set>
                              <p:animEffect transition="in" filter="fade">
                                <p:cBhvr>
                                  <p:cTn id="115" dur="420"/>
                                  <p:tgtEl>
                                    <p:spTgt spid="8"/>
                                  </p:tgtEl>
                                </p:cBhvr>
                              </p:animEffect>
                            </p:childTnLst>
                          </p:cTn>
                        </p:par>
                        <p:par>
                          <p:cTn id="116" presetID="10" presetClass="entr" presetSubtype="0" fill="hold" grpId="0" nodeType="afterEffect">
                            <p:stCondLst>
                              <p:cond delay="220"/>
                            </p:stCondLst>
                            <p:childTnLst>
                              <p:set>
                                <p:cBhvr>
                                  <p:cTn id="117" dur="1" fill="hold">
                                    <p:stCondLst>
                                      <p:cond delay="0"/>
                                    </p:stCondLst>
                                  </p:cTn>
                                  <p:tgtEl>
                                    <p:spTgt spid="9"/>
                                  </p:tgtEl>
                                  <p:attrNameLst>
                                    <p:attrName>style.visibility</p:attrName>
                                  </p:attrNameLst>
                                </p:cBhvr>
                                <p:to>
                                  <p:strVal val="visible"/>
                                </p:to>
                              </p:set>
                              <p:animEffect transition="in" filter="fade">
                                <p:cBhvr>
                                  <p:cTn id="118" dur="420"/>
                                  <p:tgtEl>
                                    <p:spTgt spid="9"/>
                                  </p:tgtEl>
                                </p:cBhvr>
                              </p:animEffect>
                            </p:childTnLst>
                          </p:cTn>
                        </p:par>
                        <p:par>
                          <p:cTn id="119" presetID="10" presetClass="entr" presetSubtype="0" fill="hold" grpId="0" nodeType="afterEffect">
                            <p:stCondLst>
                              <p:cond delay="220"/>
                            </p:stCondLst>
                            <p:childTnLst>
                              <p:set>
                                <p:cBhvr>
                                  <p:cTn id="120" dur="1" fill="hold">
                                    <p:stCondLst>
                                      <p:cond delay="0"/>
                                    </p:stCondLst>
                                  </p:cTn>
                                  <p:tgtEl>
                                    <p:spTgt spid="10"/>
                                  </p:tgtEl>
                                  <p:attrNameLst>
                                    <p:attrName>style.visibility</p:attrName>
                                  </p:attrNameLst>
                                </p:cBhvr>
                                <p:to>
                                  <p:strVal val="visible"/>
                                </p:to>
                              </p:set>
                              <p:animEffect transition="in" filter="fade">
                                <p:cBhvr>
                                  <p:cTn id="121" dur="420"/>
                                  <p:tgtEl>
                                    <p:spTgt spid="10"/>
                                  </p:tgtEl>
                                </p:cBhvr>
                              </p:animEffect>
                            </p:childTnLst>
                          </p:cTn>
                        </p:par>
                        <p:par>
                          <p:cTn id="122" presetID="10" presetClass="entr" presetSubtype="0" fill="hold" grpId="0" nodeType="afterEffect">
                            <p:stCondLst>
                              <p:cond delay="220"/>
                            </p:stCondLst>
                            <p:childTnLst>
                              <p:set>
                                <p:cBhvr>
                                  <p:cTn id="123" dur="1" fill="hold">
                                    <p:stCondLst>
                                      <p:cond delay="0"/>
                                    </p:stCondLst>
                                  </p:cTn>
                                  <p:tgtEl>
                                    <p:spTgt spid="11"/>
                                  </p:tgtEl>
                                  <p:attrNameLst>
                                    <p:attrName>style.visibility</p:attrName>
                                  </p:attrNameLst>
                                </p:cBhvr>
                                <p:to>
                                  <p:strVal val="visible"/>
                                </p:to>
                              </p:set>
                              <p:animEffect transition="in" filter="fade">
                                <p:cBhvr>
                                  <p:cTn id="124" dur="420"/>
                                  <p:tgtEl>
                                    <p:spTgt spid="11"/>
                                  </p:tgtEl>
                                </p:cBhvr>
                              </p:animEffect>
                            </p:childTnLst>
                          </p:cTn>
                        </p:par>
                        <p:par>
                          <p:cTn id="125" presetID="10" presetClass="entr" presetSubtype="0" fill="hold" grpId="0" nodeType="afterEffect">
                            <p:stCondLst>
                              <p:cond delay="440"/>
                            </p:stCondLst>
                            <p:childTnLst>
                              <p:set>
                                <p:cBhvr>
                                  <p:cTn id="126" dur="1" fill="hold">
                                    <p:stCondLst>
                                      <p:cond delay="0"/>
                                    </p:stCondLst>
                                  </p:cTn>
                                  <p:tgtEl>
                                    <p:spTgt spid="12"/>
                                  </p:tgtEl>
                                  <p:attrNameLst>
                                    <p:attrName>style.visibility</p:attrName>
                                  </p:attrNameLst>
                                </p:cBhvr>
                                <p:to>
                                  <p:strVal val="visible"/>
                                </p:to>
                              </p:set>
                              <p:animEffect transition="in" filter="fade">
                                <p:cBhvr>
                                  <p:cTn id="127" dur="420"/>
                                  <p:tgtEl>
                                    <p:spTgt spid="12"/>
                                  </p:tgtEl>
                                </p:cBhvr>
                              </p:animEffect>
                            </p:childTnLst>
                          </p:cTn>
                        </p:par>
                        <p:par>
                          <p:cTn id="128" presetID="10" presetClass="entr" presetSubtype="0" fill="hold" grpId="0" nodeType="afterEffect">
                            <p:stCondLst>
                              <p:cond delay="440"/>
                            </p:stCondLst>
                            <p:childTnLst>
                              <p:set>
                                <p:cBhvr>
                                  <p:cTn id="129" dur="1" fill="hold">
                                    <p:stCondLst>
                                      <p:cond delay="0"/>
                                    </p:stCondLst>
                                  </p:cTn>
                                  <p:tgtEl>
                                    <p:spTgt spid="13"/>
                                  </p:tgtEl>
                                  <p:attrNameLst>
                                    <p:attrName>style.visibility</p:attrName>
                                  </p:attrNameLst>
                                </p:cBhvr>
                                <p:to>
                                  <p:strVal val="visible"/>
                                </p:to>
                              </p:set>
                              <p:animEffect transition="in" filter="fade">
                                <p:cBhvr>
                                  <p:cTn id="130" dur="420"/>
                                  <p:tgtEl>
                                    <p:spTgt spid="13"/>
                                  </p:tgtEl>
                                </p:cBhvr>
                              </p:animEffect>
                            </p:childTnLst>
                          </p:cTn>
                        </p:par>
                        <p:par>
                          <p:cTn id="131" presetID="10" presetClass="entr" presetSubtype="0" fill="hold" grpId="0" nodeType="afterEffect">
                            <p:stCondLst>
                              <p:cond delay="440"/>
                            </p:stCondLst>
                            <p:childTnLst>
                              <p:set>
                                <p:cBhvr>
                                  <p:cTn id="132" dur="1" fill="hold">
                                    <p:stCondLst>
                                      <p:cond delay="0"/>
                                    </p:stCondLst>
                                  </p:cTn>
                                  <p:tgtEl>
                                    <p:spTgt spid="14"/>
                                  </p:tgtEl>
                                  <p:attrNameLst>
                                    <p:attrName>style.visibility</p:attrName>
                                  </p:attrNameLst>
                                </p:cBhvr>
                                <p:to>
                                  <p:strVal val="visible"/>
                                </p:to>
                              </p:set>
                              <p:animEffect transition="in" filter="fade">
                                <p:cBhvr>
                                  <p:cTn id="133" dur="420"/>
                                  <p:tgtEl>
                                    <p:spTgt spid="14"/>
                                  </p:tgtEl>
                                </p:cBhvr>
                              </p:animEffect>
                            </p:childTnLst>
                          </p:cTn>
                        </p:par>
                        <p:par>
                          <p:cTn id="134" presetID="10" presetClass="entr" presetSubtype="0" fill="hold" grpId="0" nodeType="afterEffect">
                            <p:stCondLst>
                              <p:cond delay="440"/>
                            </p:stCondLst>
                            <p:childTnLst>
                              <p:set>
                                <p:cBhvr>
                                  <p:cTn id="135" dur="1" fill="hold">
                                    <p:stCondLst>
                                      <p:cond delay="0"/>
                                    </p:stCondLst>
                                  </p:cTn>
                                  <p:tgtEl>
                                    <p:spTgt spid="15"/>
                                  </p:tgtEl>
                                  <p:attrNameLst>
                                    <p:attrName>style.visibility</p:attrName>
                                  </p:attrNameLst>
                                </p:cBhvr>
                                <p:to>
                                  <p:strVal val="visible"/>
                                </p:to>
                              </p:set>
                              <p:animEffect transition="in" filter="fade">
                                <p:cBhvr>
                                  <p:cTn id="136" dur="420"/>
                                  <p:tgtEl>
                                    <p:spTgt spid="15"/>
                                  </p:tgtEl>
                                </p:cBhvr>
                              </p:animEffect>
                            </p:childTnLst>
                          </p:cTn>
                        </p:par>
                      </p:childTnLst>
                    </p:cTn>
                  </p:par>
                </p:childTnLst>
              </p:cTn>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5B4C"/>
        </a:solidFill>
        <a:effectLst/>
      </p:bgPr>
    </p:bg>
    <p:spTree>
      <p:nvGrpSpPr>
        <p:cNvPr id="1" name=""/>
        <p:cNvGrpSpPr/>
        <p:nvPr/>
      </p:nvGrpSpPr>
      <p:grpSpPr/>
      <p:sp>
        <p:nvSpPr>
          <p:cNvPr id="2" name="TextBox 1"/>
          <p:cNvSpPr txBox="1"/>
          <p:nvPr/>
        </p:nvSpPr>
        <p:spPr>
          <a:xfrm>
            <a:off x="777240" y="502920"/>
            <a:ext cx="4114800" cy="1828800"/>
          </a:xfrm>
          <a:prstGeom prst="rect">
            <a:avLst/>
          </a:prstGeom>
          <a:noFill/>
        </p:spPr>
        <p:txBody>
          <a:bodyPr wrap="square" lIns="0" rIns="0" tIns="0" bIns="0" anchor="t">
            <a:spAutoFit/>
          </a:bodyPr>
          <a:lstStyle/>
          <a:p>
            <a:pPr algn="l">
              <a:lnSpc>
                <a:spcPct val="100000"/>
              </a:lnSpc>
              <a:spcBef>
                <a:spcPts val="0"/>
              </a:spcBef>
              <a:spcAft>
                <a:spcPts val="0"/>
              </a:spcAft>
            </a:pPr>
            <a:r>
              <a:rPr sz="14000" b="1" i="0">
                <a:solidFill>
                  <a:srgbClr val="1B7A66"/>
                </a:solidFill>
                <a:latin typeface="Cambria"/>
              </a:rPr>
              <a:t>02</a:t>
            </a:r>
          </a:p>
        </p:txBody>
      </p:sp>
      <p:sp>
        <p:nvSpPr>
          <p:cNvPr id="3" name="TextBox 2"/>
          <p:cNvSpPr txBox="1"/>
          <p:nvPr/>
        </p:nvSpPr>
        <p:spPr>
          <a:xfrm>
            <a:off x="868680" y="2880360"/>
            <a:ext cx="10058400" cy="1005840"/>
          </a:xfrm>
          <a:prstGeom prst="rect">
            <a:avLst/>
          </a:prstGeom>
          <a:noFill/>
        </p:spPr>
        <p:txBody>
          <a:bodyPr wrap="square" lIns="0" rIns="0" tIns="0" bIns="0" anchor="t">
            <a:spAutoFit/>
          </a:bodyPr>
          <a:lstStyle/>
          <a:p>
            <a:pPr algn="l">
              <a:lnSpc>
                <a:spcPct val="100000"/>
              </a:lnSpc>
              <a:spcBef>
                <a:spcPts val="0"/>
              </a:spcBef>
              <a:spcAft>
                <a:spcPts val="0"/>
              </a:spcAft>
            </a:pPr>
            <a:r>
              <a:rPr sz="4200" b="1" i="0">
                <a:solidFill>
                  <a:srgbClr val="FFFFFF"/>
                </a:solidFill>
                <a:latin typeface="Cambria"/>
              </a:rPr>
              <a:t>Travaux similaires</a:t>
            </a:r>
          </a:p>
        </p:txBody>
      </p:sp>
      <p:sp>
        <p:nvSpPr>
          <p:cNvPr id="4" name="TextBox 3"/>
          <p:cNvSpPr txBox="1"/>
          <p:nvPr/>
        </p:nvSpPr>
        <p:spPr>
          <a:xfrm>
            <a:off x="868680" y="3794760"/>
            <a:ext cx="10058400" cy="548640"/>
          </a:xfrm>
          <a:prstGeom prst="rect">
            <a:avLst/>
          </a:prstGeom>
          <a:noFill/>
        </p:spPr>
        <p:txBody>
          <a:bodyPr wrap="square" lIns="0" rIns="0" tIns="0" bIns="0" anchor="t">
            <a:spAutoFit/>
          </a:bodyPr>
          <a:lstStyle/>
          <a:p>
            <a:pPr algn="l">
              <a:lnSpc>
                <a:spcPct val="100000"/>
              </a:lnSpc>
              <a:spcBef>
                <a:spcPts val="0"/>
              </a:spcBef>
              <a:spcAft>
                <a:spcPts val="0"/>
              </a:spcAft>
            </a:pPr>
            <a:r>
              <a:rPr sz="1700" b="0" i="1">
                <a:solidFill>
                  <a:srgbClr val="E6BD7C"/>
                </a:solidFill>
                <a:latin typeface="Calibri"/>
              </a:rPr>
              <a:t>Analyse comparative de 12 solutions existantes</a:t>
            </a:r>
          </a:p>
        </p:txBody>
      </p:sp>
      <p:sp>
        <p:nvSpPr>
          <p:cNvPr id="5" name="TextBox 4"/>
          <p:cNvSpPr txBox="1"/>
          <p:nvPr/>
        </p:nvSpPr>
        <p:spPr>
          <a:xfrm>
            <a:off x="868680" y="6263640"/>
            <a:ext cx="10058400" cy="320040"/>
          </a:xfrm>
          <a:prstGeom prst="rect">
            <a:avLst/>
          </a:prstGeom>
          <a:noFill/>
        </p:spPr>
        <p:txBody>
          <a:bodyPr wrap="square" lIns="0" rIns="0" tIns="0" bIns="0" anchor="t">
            <a:spAutoFit/>
          </a:bodyPr>
          <a:lstStyle/>
          <a:p>
            <a:pPr algn="l">
              <a:lnSpc>
                <a:spcPct val="100000"/>
              </a:lnSpc>
              <a:spcBef>
                <a:spcPts val="0"/>
              </a:spcBef>
              <a:spcAft>
                <a:spcPts val="0"/>
              </a:spcAft>
            </a:pPr>
            <a:r>
              <a:rPr sz="1050" b="0" i="0">
                <a:solidFill>
                  <a:srgbClr val="A7BCB1"/>
                </a:solidFill>
                <a:latin typeface="Calibri"/>
              </a:rPr>
              <a:t>Kayñiawlu · Soutenance de mémoire — Adorand Jacques Merveille DEMBI</a:t>
            </a:r>
          </a:p>
        </p:txBody>
      </p:sp>
    </p:spTree>
  </p:cSld>
  <p:clrMapOvr>
    <a:masterClrMapping/>
  </p:clrMapOvr>
  <p:transition spd="med">
    <p:fade/>
  </p:transition>
  <p:timing>
    <p:tnLst>
      <p:par>
        <p:cTn id="113" dur="indefinite" restart="never" nodeType="tmRoot">
          <p:childTnLst>
            <p:seq concurrent="1" nextAc="seek">
              <p:cTn id="114" dur="indefinite" nodeType="mainSeq">
                <p:childTnLst>
                  <p:par>
                    <p:cTn id="115" fill="hold">
                      <p:stCondLst>
                        <p:cond delay="0"/>
                      </p:stCondLst>
                      <p:childTnLst>
                        <p:par>
                          <p:cTn id="101" presetID="10" presetClass="entr" presetSubtype="0" fill="hold" grpId="0" nodeType="afterEffect">
                            <p:stCondLst>
                              <p:cond delay="0"/>
                            </p:stCondLst>
                            <p:childTnLst>
                              <p:set>
                                <p:cBhvr>
                                  <p:cTn id="102" dur="1" fill="hold">
                                    <p:stCondLst>
                                      <p:cond delay="0"/>
                                    </p:stCondLst>
                                  </p:cTn>
                                  <p:tgtEl>
                                    <p:spTgt spid="2"/>
                                  </p:tgtEl>
                                  <p:attrNameLst>
                                    <p:attrName>style.visibility</p:attrName>
                                  </p:attrNameLst>
                                </p:cBhvr>
                                <p:to>
                                  <p:strVal val="visible"/>
                                </p:to>
                              </p:set>
                              <p:animEffect transition="in" filter="fade">
                                <p:cBhvr>
                                  <p:cTn id="103" dur="500"/>
                                  <p:tgtEl>
                                    <p:spTgt spid="2"/>
                                  </p:tgtEl>
                                </p:cBhvr>
                              </p:animEffect>
                            </p:childTnLst>
                          </p:cTn>
                        </p:par>
                        <p:par>
                          <p:cTn id="104" presetID="10" presetClass="entr" presetSubtype="0" fill="hold" grpId="0" nodeType="afterEffect">
                            <p:stCondLst>
                              <p:cond delay="220"/>
                            </p:stCondLst>
                            <p:childTnLst>
                              <p:set>
                                <p:cBhvr>
                                  <p:cTn id="105" dur="1" fill="hold">
                                    <p:stCondLst>
                                      <p:cond delay="0"/>
                                    </p:stCondLst>
                                  </p:cTn>
                                  <p:tgtEl>
                                    <p:spTgt spid="3"/>
                                  </p:tgtEl>
                                  <p:attrNameLst>
                                    <p:attrName>style.visibility</p:attrName>
                                  </p:attrNameLst>
                                </p:cBhvr>
                                <p:to>
                                  <p:strVal val="visible"/>
                                </p:to>
                              </p:set>
                              <p:animEffect transition="in" filter="fade">
                                <p:cBhvr>
                                  <p:cTn id="106" dur="500"/>
                                  <p:tgtEl>
                                    <p:spTgt spid="3"/>
                                  </p:tgtEl>
                                </p:cBhvr>
                              </p:animEffect>
                            </p:childTnLst>
                          </p:cTn>
                        </p:par>
                        <p:par>
                          <p:cTn id="107" presetID="10" presetClass="entr" presetSubtype="0" fill="hold" grpId="0" nodeType="afterEffect">
                            <p:stCondLst>
                              <p:cond delay="440"/>
                            </p:stCondLst>
                            <p:childTnLst>
                              <p:set>
                                <p:cBhvr>
                                  <p:cTn id="108" dur="1" fill="hold">
                                    <p:stCondLst>
                                      <p:cond delay="0"/>
                                    </p:stCondLst>
                                  </p:cTn>
                                  <p:tgtEl>
                                    <p:spTgt spid="4"/>
                                  </p:tgtEl>
                                  <p:attrNameLst>
                                    <p:attrName>style.visibility</p:attrName>
                                  </p:attrNameLst>
                                </p:cBhvr>
                                <p:to>
                                  <p:strVal val="visible"/>
                                </p:to>
                              </p:set>
                              <p:animEffect transition="in" filter="fade">
                                <p:cBhvr>
                                  <p:cTn id="109" dur="500"/>
                                  <p:tgtEl>
                                    <p:spTgt spid="4"/>
                                  </p:tgtEl>
                                </p:cBhvr>
                              </p:animEffect>
                            </p:childTnLst>
                          </p:cTn>
                        </p:par>
                        <p:par>
                          <p:cTn id="110" presetID="10" presetClass="entr" presetSubtype="0" fill="hold" grpId="0" nodeType="afterEffect">
                            <p:stCondLst>
                              <p:cond delay="660"/>
                            </p:stCondLst>
                            <p:childTnLst>
                              <p:set>
                                <p:cBhvr>
                                  <p:cTn id="111" dur="1" fill="hold">
                                    <p:stCondLst>
                                      <p:cond delay="0"/>
                                    </p:stCondLst>
                                  </p:cTn>
                                  <p:tgtEl>
                                    <p:spTgt spid="5"/>
                                  </p:tgtEl>
                                  <p:attrNameLst>
                                    <p:attrName>style.visibility</p:attrName>
                                  </p:attrNameLst>
                                </p:cBhvr>
                                <p:to>
                                  <p:strVal val="visible"/>
                                </p:to>
                              </p:set>
                              <p:animEffect transition="in" filter="fade">
                                <p:cBhvr>
                                  <p:cTn id="112" dur="500"/>
                                  <p:tgtEl>
                                    <p:spTgt spid="5"/>
                                  </p:tgtEl>
                                </p:cBhvr>
                              </p:animEffect>
                            </p:childTnLst>
                          </p:cTn>
                        </p:par>
                      </p:childTnLst>
                    </p:cTn>
                  </p:par>
                </p:childTnLst>
              </p:cTn>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881360" cy="292608"/>
          </a:xfrm>
          <a:prstGeom prst="rect">
            <a:avLst/>
          </a:prstGeom>
          <a:noFill/>
        </p:spPr>
        <p:txBody>
          <a:bodyPr wrap="square" lIns="0" rIns="0" tIns="0" bIns="0" anchor="t">
            <a:spAutoFit/>
          </a:bodyPr>
          <a:lstStyle/>
          <a:p>
            <a:pPr algn="l">
              <a:lnSpc>
                <a:spcPct val="100000"/>
              </a:lnSpc>
              <a:spcBef>
                <a:spcPts val="0"/>
              </a:spcBef>
              <a:spcAft>
                <a:spcPts val="0"/>
              </a:spcAft>
            </a:pPr>
            <a:r>
              <a:rPr sz="1250" b="1" i="0">
                <a:solidFill>
                  <a:srgbClr val="B8863B"/>
                </a:solidFill>
                <a:latin typeface="Calibri"/>
              </a:rPr>
              <a:t>TRAVAUX SIMILAIRES</a:t>
            </a:r>
          </a:p>
        </p:txBody>
      </p:sp>
      <p:sp>
        <p:nvSpPr>
          <p:cNvPr id="3" name="TextBox 2"/>
          <p:cNvSpPr txBox="1"/>
          <p:nvPr/>
        </p:nvSpPr>
        <p:spPr>
          <a:xfrm>
            <a:off x="640080" y="786384"/>
            <a:ext cx="10881360" cy="777240"/>
          </a:xfrm>
          <a:prstGeom prst="rect">
            <a:avLst/>
          </a:prstGeom>
          <a:noFill/>
        </p:spPr>
        <p:txBody>
          <a:bodyPr wrap="square" lIns="0" rIns="0" tIns="0" bIns="0" anchor="t">
            <a:spAutoFit/>
          </a:bodyPr>
          <a:lstStyle/>
          <a:p>
            <a:pPr algn="l">
              <a:lnSpc>
                <a:spcPct val="102000"/>
              </a:lnSpc>
              <a:spcBef>
                <a:spcPts val="0"/>
              </a:spcBef>
              <a:spcAft>
                <a:spcPts val="0"/>
              </a:spcAft>
            </a:pPr>
            <a:r>
              <a:rPr sz="2700" b="1" i="0">
                <a:solidFill>
                  <a:srgbClr val="0F5B4C"/>
                </a:solidFill>
                <a:latin typeface="Cambria"/>
              </a:rPr>
              <a:t>Une revue documentaire de 12 solutions (avril – juin 2026)</a:t>
            </a:r>
          </a:p>
        </p:txBody>
      </p:sp>
      <p:sp>
        <p:nvSpPr>
          <p:cNvPr id="4" name="Rounded Rectangle 3"/>
          <p:cNvSpPr/>
          <p:nvPr/>
        </p:nvSpPr>
        <p:spPr>
          <a:xfrm>
            <a:off x="640080" y="1417320"/>
            <a:ext cx="2743200" cy="1371600"/>
          </a:xfrm>
          <a:prstGeom prst="roundRect">
            <a:avLst>
              <a:gd name="adj" fmla="val 9000"/>
            </a:avLst>
          </a:prstGeom>
          <a:solidFill>
            <a:srgbClr val="F6F1E8"/>
          </a:solidFill>
          <a:ln>
            <a:noFill/>
          </a:ln>
          <a:effectLst>
            <a:outerShdw blurRad="127000" dist="38100" dir="5400000" rotWithShape="0">
              <a:srgbClr val="1A10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554480"/>
            <a:ext cx="2286000" cy="685800"/>
          </a:xfrm>
          <a:prstGeom prst="rect">
            <a:avLst/>
          </a:prstGeom>
          <a:noFill/>
        </p:spPr>
        <p:txBody>
          <a:bodyPr wrap="square" lIns="0" rIns="0" tIns="0" bIns="0" anchor="t">
            <a:spAutoFit/>
          </a:bodyPr>
          <a:lstStyle/>
          <a:p>
            <a:pPr algn="l">
              <a:lnSpc>
                <a:spcPct val="100000"/>
              </a:lnSpc>
              <a:spcBef>
                <a:spcPts val="0"/>
              </a:spcBef>
              <a:spcAft>
                <a:spcPts val="0"/>
              </a:spcAft>
            </a:pPr>
            <a:r>
              <a:rPr sz="3400" b="1" i="0">
                <a:solidFill>
                  <a:srgbClr val="B8863B"/>
                </a:solidFill>
                <a:latin typeface="Cambria"/>
              </a:rPr>
              <a:t>6</a:t>
            </a:r>
          </a:p>
        </p:txBody>
      </p:sp>
      <p:sp>
        <p:nvSpPr>
          <p:cNvPr id="6" name="TextBox 5"/>
          <p:cNvSpPr txBox="1"/>
          <p:nvPr/>
        </p:nvSpPr>
        <p:spPr>
          <a:xfrm>
            <a:off x="868680" y="2212848"/>
            <a:ext cx="2286000" cy="502920"/>
          </a:xfrm>
          <a:prstGeom prst="rect">
            <a:avLst/>
          </a:prstGeom>
          <a:noFill/>
        </p:spPr>
        <p:txBody>
          <a:bodyPr wrap="square" lIns="0" rIns="0" tIns="0" bIns="0" anchor="t">
            <a:spAutoFit/>
          </a:bodyPr>
          <a:lstStyle/>
          <a:p>
            <a:pPr algn="l">
              <a:lnSpc>
                <a:spcPct val="110000"/>
              </a:lnSpc>
              <a:spcBef>
                <a:spcPts val="0"/>
              </a:spcBef>
              <a:spcAft>
                <a:spcPts val="0"/>
              </a:spcAft>
            </a:pPr>
            <a:r>
              <a:rPr sz="1200" b="0" i="0">
                <a:solidFill>
                  <a:srgbClr val="24312B"/>
                </a:solidFill>
                <a:latin typeface="Calibri"/>
              </a:rPr>
              <a:t>solutions ouest-africaines</a:t>
            </a:r>
          </a:p>
        </p:txBody>
      </p:sp>
      <p:sp>
        <p:nvSpPr>
          <p:cNvPr id="7" name="Rounded Rectangle 6"/>
          <p:cNvSpPr/>
          <p:nvPr/>
        </p:nvSpPr>
        <p:spPr>
          <a:xfrm>
            <a:off x="3657600" y="1417320"/>
            <a:ext cx="2743200" cy="1371600"/>
          </a:xfrm>
          <a:prstGeom prst="roundRect">
            <a:avLst>
              <a:gd name="adj" fmla="val 9000"/>
            </a:avLst>
          </a:prstGeom>
          <a:solidFill>
            <a:srgbClr val="F6F1E8"/>
          </a:solidFill>
          <a:ln>
            <a:noFill/>
          </a:ln>
          <a:effectLst>
            <a:outerShdw blurRad="127000" dist="38100" dir="5400000" rotWithShape="0">
              <a:srgbClr val="1A10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886200" y="1554480"/>
            <a:ext cx="2286000" cy="685800"/>
          </a:xfrm>
          <a:prstGeom prst="rect">
            <a:avLst/>
          </a:prstGeom>
          <a:noFill/>
        </p:spPr>
        <p:txBody>
          <a:bodyPr wrap="square" lIns="0" rIns="0" tIns="0" bIns="0" anchor="t">
            <a:spAutoFit/>
          </a:bodyPr>
          <a:lstStyle/>
          <a:p>
            <a:pPr algn="l">
              <a:lnSpc>
                <a:spcPct val="100000"/>
              </a:lnSpc>
              <a:spcBef>
                <a:spcPts val="0"/>
              </a:spcBef>
              <a:spcAft>
                <a:spcPts val="0"/>
              </a:spcAft>
            </a:pPr>
            <a:r>
              <a:rPr sz="3400" b="1" i="0">
                <a:solidFill>
                  <a:srgbClr val="B8863B"/>
                </a:solidFill>
                <a:latin typeface="Cambria"/>
              </a:rPr>
              <a:t>6</a:t>
            </a:r>
          </a:p>
        </p:txBody>
      </p:sp>
      <p:sp>
        <p:nvSpPr>
          <p:cNvPr id="9" name="TextBox 8"/>
          <p:cNvSpPr txBox="1"/>
          <p:nvPr/>
        </p:nvSpPr>
        <p:spPr>
          <a:xfrm>
            <a:off x="3886200" y="2212848"/>
            <a:ext cx="2286000" cy="502920"/>
          </a:xfrm>
          <a:prstGeom prst="rect">
            <a:avLst/>
          </a:prstGeom>
          <a:noFill/>
        </p:spPr>
        <p:txBody>
          <a:bodyPr wrap="square" lIns="0" rIns="0" tIns="0" bIns="0" anchor="t">
            <a:spAutoFit/>
          </a:bodyPr>
          <a:lstStyle/>
          <a:p>
            <a:pPr algn="l">
              <a:lnSpc>
                <a:spcPct val="110000"/>
              </a:lnSpc>
              <a:spcBef>
                <a:spcPts val="0"/>
              </a:spcBef>
              <a:spcAft>
                <a:spcPts val="0"/>
              </a:spcAft>
            </a:pPr>
            <a:r>
              <a:rPr sz="1200" b="0" i="0">
                <a:solidFill>
                  <a:srgbClr val="24312B"/>
                </a:solidFill>
                <a:latin typeface="Calibri"/>
              </a:rPr>
              <a:t>solutions internationales de référence</a:t>
            </a:r>
          </a:p>
        </p:txBody>
      </p:sp>
      <p:sp>
        <p:nvSpPr>
          <p:cNvPr id="10" name="TextBox 9"/>
          <p:cNvSpPr txBox="1"/>
          <p:nvPr/>
        </p:nvSpPr>
        <p:spPr>
          <a:xfrm>
            <a:off x="6720840" y="1417320"/>
            <a:ext cx="4846320" cy="320040"/>
          </a:xfrm>
          <a:prstGeom prst="rect">
            <a:avLst/>
          </a:prstGeom>
          <a:noFill/>
        </p:spPr>
        <p:txBody>
          <a:bodyPr wrap="square" lIns="0" rIns="0" tIns="0" bIns="0" anchor="t">
            <a:spAutoFit/>
          </a:bodyPr>
          <a:lstStyle/>
          <a:p>
            <a:pPr algn="l">
              <a:lnSpc>
                <a:spcPct val="100000"/>
              </a:lnSpc>
              <a:spcBef>
                <a:spcPts val="0"/>
              </a:spcBef>
              <a:spcAft>
                <a:spcPts val="0"/>
              </a:spcAft>
            </a:pPr>
            <a:r>
              <a:rPr sz="1150" b="1" i="0">
                <a:solidFill>
                  <a:srgbClr val="B8863B"/>
                </a:solidFill>
                <a:latin typeface="Calibri"/>
              </a:rPr>
              <a:t>CRITÈRES FONCTIONNELS (F1 – F8)</a:t>
            </a:r>
          </a:p>
        </p:txBody>
      </p:sp>
      <p:sp>
        <p:nvSpPr>
          <p:cNvPr id="11" name="Rounded Rectangle 10"/>
          <p:cNvSpPr/>
          <p:nvPr/>
        </p:nvSpPr>
        <p:spPr>
          <a:xfrm>
            <a:off x="6720840" y="1810512"/>
            <a:ext cx="1133856" cy="384048"/>
          </a:xfrm>
          <a:prstGeom prst="roundRect">
            <a:avLst>
              <a:gd name="adj" fmla="val 50000"/>
            </a:avLst>
          </a:prstGeom>
          <a:noFill/>
          <a:ln w="12700">
            <a:solidFill>
              <a:srgbClr val="B886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20840" y="1810512"/>
            <a:ext cx="1133856" cy="384048"/>
          </a:xfrm>
          <a:prstGeom prst="rect">
            <a:avLst/>
          </a:prstGeom>
          <a:noFill/>
        </p:spPr>
        <p:txBody>
          <a:bodyPr wrap="square" lIns="0" rIns="0" tIns="0" bIns="0" anchor="ctr">
            <a:spAutoFit/>
          </a:bodyPr>
          <a:lstStyle/>
          <a:p>
            <a:pPr algn="ctr">
              <a:lnSpc>
                <a:spcPct val="100000"/>
              </a:lnSpc>
              <a:spcBef>
                <a:spcPts val="0"/>
              </a:spcBef>
              <a:spcAft>
                <a:spcPts val="0"/>
              </a:spcAft>
            </a:pPr>
            <a:r>
              <a:rPr sz="869" b="1" i="0">
                <a:solidFill>
                  <a:srgbClr val="0F5B4C"/>
                </a:solidFill>
                <a:latin typeface="Calibri"/>
              </a:rPr>
              <a:t>F1 Clients</a:t>
            </a:r>
          </a:p>
        </p:txBody>
      </p:sp>
      <p:sp>
        <p:nvSpPr>
          <p:cNvPr id="13" name="Rounded Rectangle 12"/>
          <p:cNvSpPr/>
          <p:nvPr/>
        </p:nvSpPr>
        <p:spPr>
          <a:xfrm>
            <a:off x="7927848" y="1810512"/>
            <a:ext cx="1133856" cy="384048"/>
          </a:xfrm>
          <a:prstGeom prst="roundRect">
            <a:avLst>
              <a:gd name="adj" fmla="val 50000"/>
            </a:avLst>
          </a:prstGeom>
          <a:noFill/>
          <a:ln w="12700">
            <a:solidFill>
              <a:srgbClr val="B886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27848" y="1810512"/>
            <a:ext cx="1133856" cy="384048"/>
          </a:xfrm>
          <a:prstGeom prst="rect">
            <a:avLst/>
          </a:prstGeom>
          <a:noFill/>
        </p:spPr>
        <p:txBody>
          <a:bodyPr wrap="square" lIns="0" rIns="0" tIns="0" bIns="0" anchor="ctr">
            <a:spAutoFit/>
          </a:bodyPr>
          <a:lstStyle/>
          <a:p>
            <a:pPr algn="ctr">
              <a:lnSpc>
                <a:spcPct val="100000"/>
              </a:lnSpc>
              <a:spcBef>
                <a:spcPts val="0"/>
              </a:spcBef>
              <a:spcAft>
                <a:spcPts val="0"/>
              </a:spcAft>
            </a:pPr>
            <a:r>
              <a:rPr sz="869" b="1" i="0">
                <a:solidFill>
                  <a:srgbClr val="0F5B4C"/>
                </a:solidFill>
                <a:latin typeface="Calibri"/>
              </a:rPr>
              <a:t>F2 Mesures</a:t>
            </a:r>
          </a:p>
        </p:txBody>
      </p:sp>
      <p:sp>
        <p:nvSpPr>
          <p:cNvPr id="15" name="Rounded Rectangle 14"/>
          <p:cNvSpPr/>
          <p:nvPr/>
        </p:nvSpPr>
        <p:spPr>
          <a:xfrm>
            <a:off x="9134856" y="1810512"/>
            <a:ext cx="1133856" cy="384048"/>
          </a:xfrm>
          <a:prstGeom prst="roundRect">
            <a:avLst>
              <a:gd name="adj" fmla="val 50000"/>
            </a:avLst>
          </a:prstGeom>
          <a:noFill/>
          <a:ln w="12700">
            <a:solidFill>
              <a:srgbClr val="B886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34856" y="1810512"/>
            <a:ext cx="1133856" cy="384048"/>
          </a:xfrm>
          <a:prstGeom prst="rect">
            <a:avLst/>
          </a:prstGeom>
          <a:noFill/>
        </p:spPr>
        <p:txBody>
          <a:bodyPr wrap="square" lIns="0" rIns="0" tIns="0" bIns="0" anchor="ctr">
            <a:spAutoFit/>
          </a:bodyPr>
          <a:lstStyle/>
          <a:p>
            <a:pPr algn="ctr">
              <a:lnSpc>
                <a:spcPct val="100000"/>
              </a:lnSpc>
              <a:spcBef>
                <a:spcPts val="0"/>
              </a:spcBef>
              <a:spcAft>
                <a:spcPts val="0"/>
              </a:spcAft>
            </a:pPr>
            <a:r>
              <a:rPr sz="869" b="1" i="0">
                <a:solidFill>
                  <a:srgbClr val="0F5B4C"/>
                </a:solidFill>
                <a:latin typeface="Calibri"/>
              </a:rPr>
              <a:t>F3 Commandes</a:t>
            </a:r>
          </a:p>
        </p:txBody>
      </p:sp>
      <p:sp>
        <p:nvSpPr>
          <p:cNvPr id="17" name="Rounded Rectangle 16"/>
          <p:cNvSpPr/>
          <p:nvPr/>
        </p:nvSpPr>
        <p:spPr>
          <a:xfrm>
            <a:off x="10341863" y="1810512"/>
            <a:ext cx="1133856" cy="384048"/>
          </a:xfrm>
          <a:prstGeom prst="roundRect">
            <a:avLst>
              <a:gd name="adj" fmla="val 50000"/>
            </a:avLst>
          </a:prstGeom>
          <a:noFill/>
          <a:ln w="12700">
            <a:solidFill>
              <a:srgbClr val="B886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41863" y="1810512"/>
            <a:ext cx="1133856" cy="384048"/>
          </a:xfrm>
          <a:prstGeom prst="rect">
            <a:avLst/>
          </a:prstGeom>
          <a:noFill/>
        </p:spPr>
        <p:txBody>
          <a:bodyPr wrap="square" lIns="0" rIns="0" tIns="0" bIns="0" anchor="ctr">
            <a:spAutoFit/>
          </a:bodyPr>
          <a:lstStyle/>
          <a:p>
            <a:pPr algn="ctr">
              <a:lnSpc>
                <a:spcPct val="100000"/>
              </a:lnSpc>
              <a:spcBef>
                <a:spcPts val="0"/>
              </a:spcBef>
              <a:spcAft>
                <a:spcPts val="0"/>
              </a:spcAft>
            </a:pPr>
            <a:r>
              <a:rPr sz="869" b="1" i="0">
                <a:solidFill>
                  <a:srgbClr val="0F5B4C"/>
                </a:solidFill>
                <a:latin typeface="Calibri"/>
              </a:rPr>
              <a:t>F4 Multi-PDV</a:t>
            </a:r>
          </a:p>
        </p:txBody>
      </p:sp>
      <p:sp>
        <p:nvSpPr>
          <p:cNvPr id="19" name="Rounded Rectangle 18"/>
          <p:cNvSpPr/>
          <p:nvPr/>
        </p:nvSpPr>
        <p:spPr>
          <a:xfrm>
            <a:off x="6720840" y="2267712"/>
            <a:ext cx="1133856" cy="384048"/>
          </a:xfrm>
          <a:prstGeom prst="roundRect">
            <a:avLst>
              <a:gd name="adj" fmla="val 50000"/>
            </a:avLst>
          </a:prstGeom>
          <a:noFill/>
          <a:ln w="12700">
            <a:solidFill>
              <a:srgbClr val="B886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20840" y="2267712"/>
            <a:ext cx="1133856" cy="384048"/>
          </a:xfrm>
          <a:prstGeom prst="rect">
            <a:avLst/>
          </a:prstGeom>
          <a:noFill/>
        </p:spPr>
        <p:txBody>
          <a:bodyPr wrap="square" lIns="0" rIns="0" tIns="0" bIns="0" anchor="ctr">
            <a:spAutoFit/>
          </a:bodyPr>
          <a:lstStyle/>
          <a:p>
            <a:pPr algn="ctr">
              <a:lnSpc>
                <a:spcPct val="100000"/>
              </a:lnSpc>
              <a:spcBef>
                <a:spcPts val="0"/>
              </a:spcBef>
              <a:spcAft>
                <a:spcPts val="0"/>
              </a:spcAft>
            </a:pPr>
            <a:r>
              <a:rPr sz="869" b="1" i="0">
                <a:solidFill>
                  <a:srgbClr val="0F5B4C"/>
                </a:solidFill>
                <a:latin typeface="Calibri"/>
              </a:rPr>
              <a:t>F5 Équipe/rôles</a:t>
            </a:r>
          </a:p>
        </p:txBody>
      </p:sp>
      <p:sp>
        <p:nvSpPr>
          <p:cNvPr id="21" name="Rounded Rectangle 20"/>
          <p:cNvSpPr/>
          <p:nvPr/>
        </p:nvSpPr>
        <p:spPr>
          <a:xfrm>
            <a:off x="7927848" y="2267712"/>
            <a:ext cx="1133856" cy="384048"/>
          </a:xfrm>
          <a:prstGeom prst="roundRect">
            <a:avLst>
              <a:gd name="adj" fmla="val 50000"/>
            </a:avLst>
          </a:prstGeom>
          <a:noFill/>
          <a:ln w="12700">
            <a:solidFill>
              <a:srgbClr val="B886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27848" y="2267712"/>
            <a:ext cx="1133856" cy="384048"/>
          </a:xfrm>
          <a:prstGeom prst="rect">
            <a:avLst/>
          </a:prstGeom>
          <a:noFill/>
        </p:spPr>
        <p:txBody>
          <a:bodyPr wrap="square" lIns="0" rIns="0" tIns="0" bIns="0" anchor="ctr">
            <a:spAutoFit/>
          </a:bodyPr>
          <a:lstStyle/>
          <a:p>
            <a:pPr algn="ctr">
              <a:lnSpc>
                <a:spcPct val="100000"/>
              </a:lnSpc>
              <a:spcBef>
                <a:spcPts val="0"/>
              </a:spcBef>
              <a:spcAft>
                <a:spcPts val="0"/>
              </a:spcAft>
            </a:pPr>
            <a:r>
              <a:rPr sz="869" b="1" i="0">
                <a:solidFill>
                  <a:srgbClr val="0F5B4C"/>
                </a:solidFill>
                <a:latin typeface="Calibri"/>
              </a:rPr>
              <a:t>F6 Rappels</a:t>
            </a:r>
          </a:p>
        </p:txBody>
      </p:sp>
      <p:sp>
        <p:nvSpPr>
          <p:cNvPr id="23" name="Rounded Rectangle 22"/>
          <p:cNvSpPr/>
          <p:nvPr/>
        </p:nvSpPr>
        <p:spPr>
          <a:xfrm>
            <a:off x="9134856" y="2267712"/>
            <a:ext cx="1133856" cy="384048"/>
          </a:xfrm>
          <a:prstGeom prst="roundRect">
            <a:avLst>
              <a:gd name="adj" fmla="val 50000"/>
            </a:avLst>
          </a:prstGeom>
          <a:noFill/>
          <a:ln w="12700">
            <a:solidFill>
              <a:srgbClr val="B886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34856" y="2267712"/>
            <a:ext cx="1133856" cy="384048"/>
          </a:xfrm>
          <a:prstGeom prst="rect">
            <a:avLst/>
          </a:prstGeom>
          <a:noFill/>
        </p:spPr>
        <p:txBody>
          <a:bodyPr wrap="square" lIns="0" rIns="0" tIns="0" bIns="0" anchor="ctr">
            <a:spAutoFit/>
          </a:bodyPr>
          <a:lstStyle/>
          <a:p>
            <a:pPr algn="ctr">
              <a:lnSpc>
                <a:spcPct val="100000"/>
              </a:lnSpc>
              <a:spcBef>
                <a:spcPts val="0"/>
              </a:spcBef>
              <a:spcAft>
                <a:spcPts val="0"/>
              </a:spcAft>
            </a:pPr>
            <a:r>
              <a:rPr sz="869" b="1" i="0">
                <a:solidFill>
                  <a:srgbClr val="0F5B4C"/>
                </a:solidFill>
                <a:latin typeface="Calibri"/>
              </a:rPr>
              <a:t>F7 Hors-ligne</a:t>
            </a:r>
          </a:p>
        </p:txBody>
      </p:sp>
      <p:sp>
        <p:nvSpPr>
          <p:cNvPr id="25" name="Rounded Rectangle 24"/>
          <p:cNvSpPr/>
          <p:nvPr/>
        </p:nvSpPr>
        <p:spPr>
          <a:xfrm>
            <a:off x="10341863" y="2267712"/>
            <a:ext cx="1133856" cy="384048"/>
          </a:xfrm>
          <a:prstGeom prst="roundRect">
            <a:avLst>
              <a:gd name="adj" fmla="val 50000"/>
            </a:avLst>
          </a:prstGeom>
          <a:noFill/>
          <a:ln w="12700">
            <a:solidFill>
              <a:srgbClr val="B886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341863" y="2267712"/>
            <a:ext cx="1133856" cy="384048"/>
          </a:xfrm>
          <a:prstGeom prst="rect">
            <a:avLst/>
          </a:prstGeom>
          <a:noFill/>
        </p:spPr>
        <p:txBody>
          <a:bodyPr wrap="square" lIns="0" rIns="0" tIns="0" bIns="0" anchor="ctr">
            <a:spAutoFit/>
          </a:bodyPr>
          <a:lstStyle/>
          <a:p>
            <a:pPr algn="ctr">
              <a:lnSpc>
                <a:spcPct val="100000"/>
              </a:lnSpc>
              <a:spcBef>
                <a:spcPts val="0"/>
              </a:spcBef>
              <a:spcAft>
                <a:spcPts val="0"/>
              </a:spcAft>
            </a:pPr>
            <a:r>
              <a:rPr sz="869" b="1" i="0">
                <a:solidFill>
                  <a:srgbClr val="0F5B4C"/>
                </a:solidFill>
                <a:latin typeface="Calibri"/>
              </a:rPr>
              <a:t>F8 Abonnement</a:t>
            </a:r>
          </a:p>
        </p:txBody>
      </p:sp>
      <p:sp>
        <p:nvSpPr>
          <p:cNvPr id="27" name="TextBox 26"/>
          <p:cNvSpPr txBox="1"/>
          <p:nvPr/>
        </p:nvSpPr>
        <p:spPr>
          <a:xfrm>
            <a:off x="640080" y="3246120"/>
            <a:ext cx="10881360" cy="320040"/>
          </a:xfrm>
          <a:prstGeom prst="rect">
            <a:avLst/>
          </a:prstGeom>
          <a:noFill/>
        </p:spPr>
        <p:txBody>
          <a:bodyPr wrap="square" lIns="0" rIns="0" tIns="0" bIns="0" anchor="t">
            <a:spAutoFit/>
          </a:bodyPr>
          <a:lstStyle/>
          <a:p>
            <a:pPr algn="l">
              <a:lnSpc>
                <a:spcPct val="100000"/>
              </a:lnSpc>
              <a:spcBef>
                <a:spcPts val="0"/>
              </a:spcBef>
              <a:spcAft>
                <a:spcPts val="0"/>
              </a:spcAft>
            </a:pPr>
            <a:r>
              <a:rPr sz="1150" b="1" i="0">
                <a:solidFill>
                  <a:srgbClr val="B8863B"/>
                </a:solidFill>
                <a:latin typeface="Calibri"/>
              </a:rPr>
              <a:t>CRITÈRES NON FONCTIONNELS</a:t>
            </a:r>
          </a:p>
        </p:txBody>
      </p:sp>
      <p:sp>
        <p:nvSpPr>
          <p:cNvPr id="28" name="Rounded Rectangle 27"/>
          <p:cNvSpPr/>
          <p:nvPr/>
        </p:nvSpPr>
        <p:spPr>
          <a:xfrm>
            <a:off x="640080" y="3611880"/>
            <a:ext cx="2084831" cy="384048"/>
          </a:xfrm>
          <a:prstGeom prst="roundRect">
            <a:avLst>
              <a:gd name="adj" fmla="val 50000"/>
            </a:avLst>
          </a:prstGeom>
          <a:noFill/>
          <a:ln w="1270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3611880"/>
            <a:ext cx="2084831" cy="384048"/>
          </a:xfrm>
          <a:prstGeom prst="rect">
            <a:avLst/>
          </a:prstGeom>
          <a:noFill/>
        </p:spPr>
        <p:txBody>
          <a:bodyPr wrap="square" lIns="0" rIns="0" tIns="0" bIns="0" anchor="ctr">
            <a:spAutoFit/>
          </a:bodyPr>
          <a:lstStyle/>
          <a:p>
            <a:pPr algn="ctr">
              <a:lnSpc>
                <a:spcPct val="100000"/>
              </a:lnSpc>
              <a:spcBef>
                <a:spcPts val="0"/>
              </a:spcBef>
              <a:spcAft>
                <a:spcPts val="0"/>
              </a:spcAft>
            </a:pPr>
            <a:r>
              <a:rPr sz="950" b="1" i="0">
                <a:solidFill>
                  <a:srgbClr val="0F5B4C"/>
                </a:solidFill>
                <a:latin typeface="Calibri"/>
              </a:rPr>
              <a:t>Architecture</a:t>
            </a:r>
          </a:p>
        </p:txBody>
      </p:sp>
      <p:sp>
        <p:nvSpPr>
          <p:cNvPr id="30" name="Rounded Rectangle 29"/>
          <p:cNvSpPr/>
          <p:nvPr/>
        </p:nvSpPr>
        <p:spPr>
          <a:xfrm>
            <a:off x="2816352" y="3611880"/>
            <a:ext cx="2084831" cy="384048"/>
          </a:xfrm>
          <a:prstGeom prst="roundRect">
            <a:avLst>
              <a:gd name="adj" fmla="val 50000"/>
            </a:avLst>
          </a:prstGeom>
          <a:noFill/>
          <a:ln w="1270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816352" y="3611880"/>
            <a:ext cx="2084831" cy="384048"/>
          </a:xfrm>
          <a:prstGeom prst="rect">
            <a:avLst/>
          </a:prstGeom>
          <a:noFill/>
        </p:spPr>
        <p:txBody>
          <a:bodyPr wrap="square" lIns="0" rIns="0" tIns="0" bIns="0" anchor="ctr">
            <a:spAutoFit/>
          </a:bodyPr>
          <a:lstStyle/>
          <a:p>
            <a:pPr algn="ctr">
              <a:lnSpc>
                <a:spcPct val="100000"/>
              </a:lnSpc>
              <a:spcBef>
                <a:spcPts val="0"/>
              </a:spcBef>
              <a:spcAft>
                <a:spcPts val="0"/>
              </a:spcAft>
            </a:pPr>
            <a:r>
              <a:rPr sz="950" b="1" i="0">
                <a:solidFill>
                  <a:srgbClr val="0F5B4C"/>
                </a:solidFill>
                <a:latin typeface="Calibri"/>
              </a:rPr>
              <a:t>Interface</a:t>
            </a:r>
          </a:p>
        </p:txBody>
      </p:sp>
      <p:sp>
        <p:nvSpPr>
          <p:cNvPr id="32" name="Rounded Rectangle 31"/>
          <p:cNvSpPr/>
          <p:nvPr/>
        </p:nvSpPr>
        <p:spPr>
          <a:xfrm>
            <a:off x="4992624" y="3611880"/>
            <a:ext cx="2084831" cy="384048"/>
          </a:xfrm>
          <a:prstGeom prst="roundRect">
            <a:avLst>
              <a:gd name="adj" fmla="val 50000"/>
            </a:avLst>
          </a:prstGeom>
          <a:noFill/>
          <a:ln w="1270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992624" y="3611880"/>
            <a:ext cx="2084831" cy="384048"/>
          </a:xfrm>
          <a:prstGeom prst="rect">
            <a:avLst/>
          </a:prstGeom>
          <a:noFill/>
        </p:spPr>
        <p:txBody>
          <a:bodyPr wrap="square" lIns="0" rIns="0" tIns="0" bIns="0" anchor="ctr">
            <a:spAutoFit/>
          </a:bodyPr>
          <a:lstStyle/>
          <a:p>
            <a:pPr algn="ctr">
              <a:lnSpc>
                <a:spcPct val="100000"/>
              </a:lnSpc>
              <a:spcBef>
                <a:spcPts val="0"/>
              </a:spcBef>
              <a:spcAft>
                <a:spcPts val="0"/>
              </a:spcAft>
            </a:pPr>
            <a:r>
              <a:rPr sz="950" b="1" i="0">
                <a:solidFill>
                  <a:srgbClr val="0F5B4C"/>
                </a:solidFill>
                <a:latin typeface="Calibri"/>
              </a:rPr>
              <a:t>Licence</a:t>
            </a:r>
          </a:p>
        </p:txBody>
      </p:sp>
      <p:sp>
        <p:nvSpPr>
          <p:cNvPr id="34" name="Rounded Rectangle 33"/>
          <p:cNvSpPr/>
          <p:nvPr/>
        </p:nvSpPr>
        <p:spPr>
          <a:xfrm>
            <a:off x="7168896" y="3611880"/>
            <a:ext cx="2084831" cy="384048"/>
          </a:xfrm>
          <a:prstGeom prst="roundRect">
            <a:avLst>
              <a:gd name="adj" fmla="val 50000"/>
            </a:avLst>
          </a:prstGeom>
          <a:noFill/>
          <a:ln w="1270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168896" y="3611880"/>
            <a:ext cx="2084831" cy="384048"/>
          </a:xfrm>
          <a:prstGeom prst="rect">
            <a:avLst/>
          </a:prstGeom>
          <a:noFill/>
        </p:spPr>
        <p:txBody>
          <a:bodyPr wrap="square" lIns="0" rIns="0" tIns="0" bIns="0" anchor="ctr">
            <a:spAutoFit/>
          </a:bodyPr>
          <a:lstStyle/>
          <a:p>
            <a:pPr algn="ctr">
              <a:lnSpc>
                <a:spcPct val="100000"/>
              </a:lnSpc>
              <a:spcBef>
                <a:spcPts val="0"/>
              </a:spcBef>
              <a:spcAft>
                <a:spcPts val="0"/>
              </a:spcAft>
            </a:pPr>
            <a:r>
              <a:rPr sz="950" b="1" i="0">
                <a:solidFill>
                  <a:srgbClr val="0F5B4C"/>
                </a:solidFill>
                <a:latin typeface="Calibri"/>
              </a:rPr>
              <a:t>Hébergement</a:t>
            </a:r>
          </a:p>
        </p:txBody>
      </p:sp>
      <p:sp>
        <p:nvSpPr>
          <p:cNvPr id="36" name="Rounded Rectangle 35"/>
          <p:cNvSpPr/>
          <p:nvPr/>
        </p:nvSpPr>
        <p:spPr>
          <a:xfrm>
            <a:off x="9345167" y="3611880"/>
            <a:ext cx="2084831" cy="384048"/>
          </a:xfrm>
          <a:prstGeom prst="roundRect">
            <a:avLst>
              <a:gd name="adj" fmla="val 50000"/>
            </a:avLst>
          </a:prstGeom>
          <a:noFill/>
          <a:ln w="1270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345167" y="3611880"/>
            <a:ext cx="2084831" cy="384048"/>
          </a:xfrm>
          <a:prstGeom prst="rect">
            <a:avLst/>
          </a:prstGeom>
          <a:noFill/>
        </p:spPr>
        <p:txBody>
          <a:bodyPr wrap="square" lIns="0" rIns="0" tIns="0" bIns="0" anchor="ctr">
            <a:spAutoFit/>
          </a:bodyPr>
          <a:lstStyle/>
          <a:p>
            <a:pPr algn="ctr">
              <a:lnSpc>
                <a:spcPct val="100000"/>
              </a:lnSpc>
              <a:spcBef>
                <a:spcPts val="0"/>
              </a:spcBef>
              <a:spcAft>
                <a:spcPts val="0"/>
              </a:spcAft>
            </a:pPr>
            <a:r>
              <a:rPr sz="950" b="1" i="0">
                <a:solidFill>
                  <a:srgbClr val="0F5B4C"/>
                </a:solidFill>
                <a:latin typeface="Calibri"/>
              </a:rPr>
              <a:t>Marché cible</a:t>
            </a:r>
          </a:p>
        </p:txBody>
      </p:sp>
      <p:sp>
        <p:nvSpPr>
          <p:cNvPr id="38" name="TextBox 37"/>
          <p:cNvSpPr txBox="1"/>
          <p:nvPr/>
        </p:nvSpPr>
        <p:spPr>
          <a:xfrm>
            <a:off x="640080" y="4343400"/>
            <a:ext cx="10881360" cy="1920240"/>
          </a:xfrm>
          <a:prstGeom prst="rect">
            <a:avLst/>
          </a:prstGeom>
          <a:noFill/>
        </p:spPr>
        <p:txBody>
          <a:bodyPr wrap="square" lIns="0" rIns="0" tIns="0" bIns="0" anchor="t">
            <a:spAutoFit/>
          </a:bodyPr>
          <a:lstStyle/>
          <a:p>
            <a:pPr algn="l">
              <a:lnSpc>
                <a:spcPct val="135000"/>
              </a:lnSpc>
              <a:spcBef>
                <a:spcPts val="0"/>
              </a:spcBef>
              <a:spcAft>
                <a:spcPts val="0"/>
              </a:spcAft>
            </a:pPr>
            <a:r>
              <a:rPr sz="1300" b="0" i="0">
                <a:solidFill>
                  <a:srgbClr val="68796F"/>
                </a:solidFill>
                <a:latin typeface="Calibri"/>
              </a:rPr>
              <a:t>Recherche menée sur le Web (sites officiels, fiches App Store / Google Play) avec des critères d'inclusion stricts : solution active et documentée publiquement, ciblant tout ou partie de la gestion d'un atelier de couture sur mesure. Douze solutions répondant à ces critères ont été retenues et comparées sur ces treize critères, directement dérivés de la problématique du chapitre 1.</a:t>
            </a:r>
          </a:p>
        </p:txBody>
      </p:sp>
      <p:sp>
        <p:nvSpPr>
          <p:cNvPr id="39" name="TextBox 38"/>
          <p:cNvSpPr txBox="1"/>
          <p:nvPr/>
        </p:nvSpPr>
        <p:spPr>
          <a:xfrm>
            <a:off x="640080" y="6519672"/>
            <a:ext cx="7315200" cy="274320"/>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68796F"/>
                </a:solidFill>
                <a:latin typeface="Calibri"/>
              </a:rPr>
              <a:t>Kayñiawlu — Soutenance de mémoire</a:t>
            </a:r>
          </a:p>
        </p:txBody>
      </p:sp>
      <p:sp>
        <p:nvSpPr>
          <p:cNvPr id="40" name="TextBox 39"/>
          <p:cNvSpPr txBox="1"/>
          <p:nvPr/>
        </p:nvSpPr>
        <p:spPr>
          <a:xfrm>
            <a:off x="10180015" y="6519672"/>
            <a:ext cx="1371600" cy="274320"/>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8796F"/>
                </a:solidFill>
                <a:latin typeface="Calibri"/>
              </a:rPr>
              <a:t>12</a:t>
            </a:r>
          </a:p>
        </p:txBody>
      </p:sp>
    </p:spTree>
  </p:cSld>
  <p:clrMapOvr>
    <a:masterClrMapping/>
  </p:clrMapOvr>
  <p:transition spd="med">
    <p:fade/>
  </p:transition>
  <p:timing>
    <p:tnLst>
      <p:par>
        <p:cTn id="206" dur="indefinite" restart="never" nodeType="tmRoot">
          <p:childTnLst>
            <p:seq concurrent="1" nextAc="seek">
              <p:cTn id="207" dur="indefinite" nodeType="mainSeq">
                <p:childTnLst>
                  <p:par>
                    <p:cTn id="208" fill="hold">
                      <p:stCondLst>
                        <p:cond delay="0"/>
                      </p:stCondLst>
                      <p:childTnLst>
                        <p:par>
                          <p:cTn id="101" presetID="10" presetClass="entr" presetSubtype="0" fill="hold" grpId="0" nodeType="afterEffect">
                            <p:stCondLst>
                              <p:cond delay="0"/>
                            </p:stCondLst>
                            <p:childTnLst>
                              <p:set>
                                <p:cBhvr>
                                  <p:cTn id="102" dur="1" fill="hold">
                                    <p:stCondLst>
                                      <p:cond delay="0"/>
                                    </p:stCondLst>
                                  </p:cTn>
                                  <p:tgtEl>
                                    <p:spTgt spid="4"/>
                                  </p:tgtEl>
                                  <p:attrNameLst>
                                    <p:attrName>style.visibility</p:attrName>
                                  </p:attrNameLst>
                                </p:cBhvr>
                                <p:to>
                                  <p:strVal val="visible"/>
                                </p:to>
                              </p:set>
                              <p:animEffect transition="in" filter="fade">
                                <p:cBhvr>
                                  <p:cTn id="103" dur="420"/>
                                  <p:tgtEl>
                                    <p:spTgt spid="4"/>
                                  </p:tgtEl>
                                </p:cBhvr>
                              </p:animEffect>
                            </p:childTnLst>
                          </p:cTn>
                        </p:par>
                        <p:par>
                          <p:cTn id="104" presetID="10" presetClass="entr" presetSubtype="0" fill="hold" grpId="0" nodeType="afterEffect">
                            <p:stCondLst>
                              <p:cond delay="0"/>
                            </p:stCondLst>
                            <p:childTnLst>
                              <p:set>
                                <p:cBhvr>
                                  <p:cTn id="105" dur="1" fill="hold">
                                    <p:stCondLst>
                                      <p:cond delay="0"/>
                                    </p:stCondLst>
                                  </p:cTn>
                                  <p:tgtEl>
                                    <p:spTgt spid="5"/>
                                  </p:tgtEl>
                                  <p:attrNameLst>
                                    <p:attrName>style.visibility</p:attrName>
                                  </p:attrNameLst>
                                </p:cBhvr>
                                <p:to>
                                  <p:strVal val="visible"/>
                                </p:to>
                              </p:set>
                              <p:animEffect transition="in" filter="fade">
                                <p:cBhvr>
                                  <p:cTn id="106" dur="420"/>
                                  <p:tgtEl>
                                    <p:spTgt spid="5"/>
                                  </p:tgtEl>
                                </p:cBhvr>
                              </p:animEffect>
                            </p:childTnLst>
                          </p:cTn>
                        </p:par>
                        <p:par>
                          <p:cTn id="107" presetID="10" presetClass="entr" presetSubtype="0" fill="hold" grpId="0" nodeType="afterEffect">
                            <p:stCondLst>
                              <p:cond delay="0"/>
                            </p:stCondLst>
                            <p:childTnLst>
                              <p:set>
                                <p:cBhvr>
                                  <p:cTn id="108" dur="1" fill="hold">
                                    <p:stCondLst>
                                      <p:cond delay="0"/>
                                    </p:stCondLst>
                                  </p:cTn>
                                  <p:tgtEl>
                                    <p:spTgt spid="6"/>
                                  </p:tgtEl>
                                  <p:attrNameLst>
                                    <p:attrName>style.visibility</p:attrName>
                                  </p:attrNameLst>
                                </p:cBhvr>
                                <p:to>
                                  <p:strVal val="visible"/>
                                </p:to>
                              </p:set>
                              <p:animEffect transition="in" filter="fade">
                                <p:cBhvr>
                                  <p:cTn id="109" dur="420"/>
                                  <p:tgtEl>
                                    <p:spTgt spid="6"/>
                                  </p:tgtEl>
                                </p:cBhvr>
                              </p:animEffect>
                            </p:childTnLst>
                          </p:cTn>
                        </p:par>
                        <p:par>
                          <p:cTn id="110" presetID="10" presetClass="entr" presetSubtype="0" fill="hold" grpId="0" nodeType="afterEffect">
                            <p:stCondLst>
                              <p:cond delay="90"/>
                            </p:stCondLst>
                            <p:childTnLst>
                              <p:set>
                                <p:cBhvr>
                                  <p:cTn id="111" dur="1" fill="hold">
                                    <p:stCondLst>
                                      <p:cond delay="0"/>
                                    </p:stCondLst>
                                  </p:cTn>
                                  <p:tgtEl>
                                    <p:spTgt spid="7"/>
                                  </p:tgtEl>
                                  <p:attrNameLst>
                                    <p:attrName>style.visibility</p:attrName>
                                  </p:attrNameLst>
                                </p:cBhvr>
                                <p:to>
                                  <p:strVal val="visible"/>
                                </p:to>
                              </p:set>
                              <p:animEffect transition="in" filter="fade">
                                <p:cBhvr>
                                  <p:cTn id="112" dur="420"/>
                                  <p:tgtEl>
                                    <p:spTgt spid="7"/>
                                  </p:tgtEl>
                                </p:cBhvr>
                              </p:animEffect>
                            </p:childTnLst>
                          </p:cTn>
                        </p:par>
                        <p:par>
                          <p:cTn id="113" presetID="10" presetClass="entr" presetSubtype="0" fill="hold" grpId="0" nodeType="afterEffect">
                            <p:stCondLst>
                              <p:cond delay="90"/>
                            </p:stCondLst>
                            <p:childTnLst>
                              <p:set>
                                <p:cBhvr>
                                  <p:cTn id="114" dur="1" fill="hold">
                                    <p:stCondLst>
                                      <p:cond delay="0"/>
                                    </p:stCondLst>
                                  </p:cTn>
                                  <p:tgtEl>
                                    <p:spTgt spid="8"/>
                                  </p:tgtEl>
                                  <p:attrNameLst>
                                    <p:attrName>style.visibility</p:attrName>
                                  </p:attrNameLst>
                                </p:cBhvr>
                                <p:to>
                                  <p:strVal val="visible"/>
                                </p:to>
                              </p:set>
                              <p:animEffect transition="in" filter="fade">
                                <p:cBhvr>
                                  <p:cTn id="115" dur="420"/>
                                  <p:tgtEl>
                                    <p:spTgt spid="8"/>
                                  </p:tgtEl>
                                </p:cBhvr>
                              </p:animEffect>
                            </p:childTnLst>
                          </p:cTn>
                        </p:par>
                        <p:par>
                          <p:cTn id="116" presetID="10" presetClass="entr" presetSubtype="0" fill="hold" grpId="0" nodeType="afterEffect">
                            <p:stCondLst>
                              <p:cond delay="90"/>
                            </p:stCondLst>
                            <p:childTnLst>
                              <p:set>
                                <p:cBhvr>
                                  <p:cTn id="117" dur="1" fill="hold">
                                    <p:stCondLst>
                                      <p:cond delay="0"/>
                                    </p:stCondLst>
                                  </p:cTn>
                                  <p:tgtEl>
                                    <p:spTgt spid="9"/>
                                  </p:tgtEl>
                                  <p:attrNameLst>
                                    <p:attrName>style.visibility</p:attrName>
                                  </p:attrNameLst>
                                </p:cBhvr>
                                <p:to>
                                  <p:strVal val="visible"/>
                                </p:to>
                              </p:set>
                              <p:animEffect transition="in" filter="fade">
                                <p:cBhvr>
                                  <p:cTn id="118" dur="420"/>
                                  <p:tgtEl>
                                    <p:spTgt spid="9"/>
                                  </p:tgtEl>
                                </p:cBhvr>
                              </p:animEffect>
                            </p:childTnLst>
                          </p:cTn>
                        </p:par>
                        <p:par>
                          <p:cTn id="119" presetID="10" presetClass="entr" presetSubtype="0" fill="hold" grpId="0" nodeType="afterEffect">
                            <p:stCondLst>
                              <p:cond delay="180"/>
                            </p:stCondLst>
                            <p:childTnLst>
                              <p:set>
                                <p:cBhvr>
                                  <p:cTn id="120" dur="1" fill="hold">
                                    <p:stCondLst>
                                      <p:cond delay="0"/>
                                    </p:stCondLst>
                                  </p:cTn>
                                  <p:tgtEl>
                                    <p:spTgt spid="10"/>
                                  </p:tgtEl>
                                  <p:attrNameLst>
                                    <p:attrName>style.visibility</p:attrName>
                                  </p:attrNameLst>
                                </p:cBhvr>
                                <p:to>
                                  <p:strVal val="visible"/>
                                </p:to>
                              </p:set>
                              <p:animEffect transition="in" filter="fade">
                                <p:cBhvr>
                                  <p:cTn id="121" dur="420"/>
                                  <p:tgtEl>
                                    <p:spTgt spid="10"/>
                                  </p:tgtEl>
                                </p:cBhvr>
                              </p:animEffect>
                            </p:childTnLst>
                          </p:cTn>
                        </p:par>
                        <p:par>
                          <p:cTn id="122" presetID="10" presetClass="entr" presetSubtype="0" fill="hold" grpId="0" nodeType="afterEffect">
                            <p:stCondLst>
                              <p:cond delay="270"/>
                            </p:stCondLst>
                            <p:childTnLst>
                              <p:set>
                                <p:cBhvr>
                                  <p:cTn id="123" dur="1" fill="hold">
                                    <p:stCondLst>
                                      <p:cond delay="0"/>
                                    </p:stCondLst>
                                  </p:cTn>
                                  <p:tgtEl>
                                    <p:spTgt spid="11"/>
                                  </p:tgtEl>
                                  <p:attrNameLst>
                                    <p:attrName>style.visibility</p:attrName>
                                  </p:attrNameLst>
                                </p:cBhvr>
                                <p:to>
                                  <p:strVal val="visible"/>
                                </p:to>
                              </p:set>
                              <p:animEffect transition="in" filter="fade">
                                <p:cBhvr>
                                  <p:cTn id="124" dur="420"/>
                                  <p:tgtEl>
                                    <p:spTgt spid="11"/>
                                  </p:tgtEl>
                                </p:cBhvr>
                              </p:animEffect>
                            </p:childTnLst>
                          </p:cTn>
                        </p:par>
                        <p:par>
                          <p:cTn id="125" presetID="10" presetClass="entr" presetSubtype="0" fill="hold" grpId="0" nodeType="afterEffect">
                            <p:stCondLst>
                              <p:cond delay="270"/>
                            </p:stCondLst>
                            <p:childTnLst>
                              <p:set>
                                <p:cBhvr>
                                  <p:cTn id="126" dur="1" fill="hold">
                                    <p:stCondLst>
                                      <p:cond delay="0"/>
                                    </p:stCondLst>
                                  </p:cTn>
                                  <p:tgtEl>
                                    <p:spTgt spid="12"/>
                                  </p:tgtEl>
                                  <p:attrNameLst>
                                    <p:attrName>style.visibility</p:attrName>
                                  </p:attrNameLst>
                                </p:cBhvr>
                                <p:to>
                                  <p:strVal val="visible"/>
                                </p:to>
                              </p:set>
                              <p:animEffect transition="in" filter="fade">
                                <p:cBhvr>
                                  <p:cTn id="127" dur="420"/>
                                  <p:tgtEl>
                                    <p:spTgt spid="12"/>
                                  </p:tgtEl>
                                </p:cBhvr>
                              </p:animEffect>
                            </p:childTnLst>
                          </p:cTn>
                        </p:par>
                        <p:par>
                          <p:cTn id="128" presetID="10" presetClass="entr" presetSubtype="0" fill="hold" grpId="0" nodeType="afterEffect">
                            <p:stCondLst>
                              <p:cond delay="360"/>
                            </p:stCondLst>
                            <p:childTnLst>
                              <p:set>
                                <p:cBhvr>
                                  <p:cTn id="129" dur="1" fill="hold">
                                    <p:stCondLst>
                                      <p:cond delay="0"/>
                                    </p:stCondLst>
                                  </p:cTn>
                                  <p:tgtEl>
                                    <p:spTgt spid="13"/>
                                  </p:tgtEl>
                                  <p:attrNameLst>
                                    <p:attrName>style.visibility</p:attrName>
                                  </p:attrNameLst>
                                </p:cBhvr>
                                <p:to>
                                  <p:strVal val="visible"/>
                                </p:to>
                              </p:set>
                              <p:animEffect transition="in" filter="fade">
                                <p:cBhvr>
                                  <p:cTn id="130" dur="420"/>
                                  <p:tgtEl>
                                    <p:spTgt spid="13"/>
                                  </p:tgtEl>
                                </p:cBhvr>
                              </p:animEffect>
                            </p:childTnLst>
                          </p:cTn>
                        </p:par>
                        <p:par>
                          <p:cTn id="131" presetID="10" presetClass="entr" presetSubtype="0" fill="hold" grpId="0" nodeType="afterEffect">
                            <p:stCondLst>
                              <p:cond delay="360"/>
                            </p:stCondLst>
                            <p:childTnLst>
                              <p:set>
                                <p:cBhvr>
                                  <p:cTn id="132" dur="1" fill="hold">
                                    <p:stCondLst>
                                      <p:cond delay="0"/>
                                    </p:stCondLst>
                                  </p:cTn>
                                  <p:tgtEl>
                                    <p:spTgt spid="14"/>
                                  </p:tgtEl>
                                  <p:attrNameLst>
                                    <p:attrName>style.visibility</p:attrName>
                                  </p:attrNameLst>
                                </p:cBhvr>
                                <p:to>
                                  <p:strVal val="visible"/>
                                </p:to>
                              </p:set>
                              <p:animEffect transition="in" filter="fade">
                                <p:cBhvr>
                                  <p:cTn id="133" dur="420"/>
                                  <p:tgtEl>
                                    <p:spTgt spid="14"/>
                                  </p:tgtEl>
                                </p:cBhvr>
                              </p:animEffect>
                            </p:childTnLst>
                          </p:cTn>
                        </p:par>
                        <p:par>
                          <p:cTn id="134" presetID="10" presetClass="entr" presetSubtype="0" fill="hold" grpId="0" nodeType="afterEffect">
                            <p:stCondLst>
                              <p:cond delay="450"/>
                            </p:stCondLst>
                            <p:childTnLst>
                              <p:set>
                                <p:cBhvr>
                                  <p:cTn id="135" dur="1" fill="hold">
                                    <p:stCondLst>
                                      <p:cond delay="0"/>
                                    </p:stCondLst>
                                  </p:cTn>
                                  <p:tgtEl>
                                    <p:spTgt spid="15"/>
                                  </p:tgtEl>
                                  <p:attrNameLst>
                                    <p:attrName>style.visibility</p:attrName>
                                  </p:attrNameLst>
                                </p:cBhvr>
                                <p:to>
                                  <p:strVal val="visible"/>
                                </p:to>
                              </p:set>
                              <p:animEffect transition="in" filter="fade">
                                <p:cBhvr>
                                  <p:cTn id="136" dur="420"/>
                                  <p:tgtEl>
                                    <p:spTgt spid="15"/>
                                  </p:tgtEl>
                                </p:cBhvr>
                              </p:animEffect>
                            </p:childTnLst>
                          </p:cTn>
                        </p:par>
                        <p:par>
                          <p:cTn id="137" presetID="10" presetClass="entr" presetSubtype="0" fill="hold" grpId="0" nodeType="afterEffect">
                            <p:stCondLst>
                              <p:cond delay="450"/>
                            </p:stCondLst>
                            <p:childTnLst>
                              <p:set>
                                <p:cBhvr>
                                  <p:cTn id="138" dur="1" fill="hold">
                                    <p:stCondLst>
                                      <p:cond delay="0"/>
                                    </p:stCondLst>
                                  </p:cTn>
                                  <p:tgtEl>
                                    <p:spTgt spid="16"/>
                                  </p:tgtEl>
                                  <p:attrNameLst>
                                    <p:attrName>style.visibility</p:attrName>
                                  </p:attrNameLst>
                                </p:cBhvr>
                                <p:to>
                                  <p:strVal val="visible"/>
                                </p:to>
                              </p:set>
                              <p:animEffect transition="in" filter="fade">
                                <p:cBhvr>
                                  <p:cTn id="139" dur="420"/>
                                  <p:tgtEl>
                                    <p:spTgt spid="16"/>
                                  </p:tgtEl>
                                </p:cBhvr>
                              </p:animEffect>
                            </p:childTnLst>
                          </p:cTn>
                        </p:par>
                        <p:par>
                          <p:cTn id="140" presetID="10" presetClass="entr" presetSubtype="0" fill="hold" grpId="0" nodeType="afterEffect">
                            <p:stCondLst>
                              <p:cond delay="540"/>
                            </p:stCondLst>
                            <p:childTnLst>
                              <p:set>
                                <p:cBhvr>
                                  <p:cTn id="141" dur="1" fill="hold">
                                    <p:stCondLst>
                                      <p:cond delay="0"/>
                                    </p:stCondLst>
                                  </p:cTn>
                                  <p:tgtEl>
                                    <p:spTgt spid="17"/>
                                  </p:tgtEl>
                                  <p:attrNameLst>
                                    <p:attrName>style.visibility</p:attrName>
                                  </p:attrNameLst>
                                </p:cBhvr>
                                <p:to>
                                  <p:strVal val="visible"/>
                                </p:to>
                              </p:set>
                              <p:animEffect transition="in" filter="fade">
                                <p:cBhvr>
                                  <p:cTn id="142" dur="420"/>
                                  <p:tgtEl>
                                    <p:spTgt spid="17"/>
                                  </p:tgtEl>
                                </p:cBhvr>
                              </p:animEffect>
                            </p:childTnLst>
                          </p:cTn>
                        </p:par>
                        <p:par>
                          <p:cTn id="143" presetID="10" presetClass="entr" presetSubtype="0" fill="hold" grpId="0" nodeType="afterEffect">
                            <p:stCondLst>
                              <p:cond delay="540"/>
                            </p:stCondLst>
                            <p:childTnLst>
                              <p:set>
                                <p:cBhvr>
                                  <p:cTn id="144" dur="1" fill="hold">
                                    <p:stCondLst>
                                      <p:cond delay="0"/>
                                    </p:stCondLst>
                                  </p:cTn>
                                  <p:tgtEl>
                                    <p:spTgt spid="18"/>
                                  </p:tgtEl>
                                  <p:attrNameLst>
                                    <p:attrName>style.visibility</p:attrName>
                                  </p:attrNameLst>
                                </p:cBhvr>
                                <p:to>
                                  <p:strVal val="visible"/>
                                </p:to>
                              </p:set>
                              <p:animEffect transition="in" filter="fade">
                                <p:cBhvr>
                                  <p:cTn id="145" dur="420"/>
                                  <p:tgtEl>
                                    <p:spTgt spid="18"/>
                                  </p:tgtEl>
                                </p:cBhvr>
                              </p:animEffect>
                            </p:childTnLst>
                          </p:cTn>
                        </p:par>
                        <p:par>
                          <p:cTn id="146" presetID="10" presetClass="entr" presetSubtype="0" fill="hold" grpId="0" nodeType="afterEffect">
                            <p:stCondLst>
                              <p:cond delay="630"/>
                            </p:stCondLst>
                            <p:childTnLst>
                              <p:set>
                                <p:cBhvr>
                                  <p:cTn id="147" dur="1" fill="hold">
                                    <p:stCondLst>
                                      <p:cond delay="0"/>
                                    </p:stCondLst>
                                  </p:cTn>
                                  <p:tgtEl>
                                    <p:spTgt spid="19"/>
                                  </p:tgtEl>
                                  <p:attrNameLst>
                                    <p:attrName>style.visibility</p:attrName>
                                  </p:attrNameLst>
                                </p:cBhvr>
                                <p:to>
                                  <p:strVal val="visible"/>
                                </p:to>
                              </p:set>
                              <p:animEffect transition="in" filter="fade">
                                <p:cBhvr>
                                  <p:cTn id="148" dur="420"/>
                                  <p:tgtEl>
                                    <p:spTgt spid="19"/>
                                  </p:tgtEl>
                                </p:cBhvr>
                              </p:animEffect>
                            </p:childTnLst>
                          </p:cTn>
                        </p:par>
                        <p:par>
                          <p:cTn id="149" presetID="10" presetClass="entr" presetSubtype="0" fill="hold" grpId="0" nodeType="afterEffect">
                            <p:stCondLst>
                              <p:cond delay="630"/>
                            </p:stCondLst>
                            <p:childTnLst>
                              <p:set>
                                <p:cBhvr>
                                  <p:cTn id="150" dur="1" fill="hold">
                                    <p:stCondLst>
                                      <p:cond delay="0"/>
                                    </p:stCondLst>
                                  </p:cTn>
                                  <p:tgtEl>
                                    <p:spTgt spid="20"/>
                                  </p:tgtEl>
                                  <p:attrNameLst>
                                    <p:attrName>style.visibility</p:attrName>
                                  </p:attrNameLst>
                                </p:cBhvr>
                                <p:to>
                                  <p:strVal val="visible"/>
                                </p:to>
                              </p:set>
                              <p:animEffect transition="in" filter="fade">
                                <p:cBhvr>
                                  <p:cTn id="151" dur="420"/>
                                  <p:tgtEl>
                                    <p:spTgt spid="20"/>
                                  </p:tgtEl>
                                </p:cBhvr>
                              </p:animEffect>
                            </p:childTnLst>
                          </p:cTn>
                        </p:par>
                        <p:par>
                          <p:cTn id="152" presetID="10" presetClass="entr" presetSubtype="0" fill="hold" grpId="0" nodeType="afterEffect">
                            <p:stCondLst>
                              <p:cond delay="720"/>
                            </p:stCondLst>
                            <p:childTnLst>
                              <p:set>
                                <p:cBhvr>
                                  <p:cTn id="153" dur="1" fill="hold">
                                    <p:stCondLst>
                                      <p:cond delay="0"/>
                                    </p:stCondLst>
                                  </p:cTn>
                                  <p:tgtEl>
                                    <p:spTgt spid="21"/>
                                  </p:tgtEl>
                                  <p:attrNameLst>
                                    <p:attrName>style.visibility</p:attrName>
                                  </p:attrNameLst>
                                </p:cBhvr>
                                <p:to>
                                  <p:strVal val="visible"/>
                                </p:to>
                              </p:set>
                              <p:animEffect transition="in" filter="fade">
                                <p:cBhvr>
                                  <p:cTn id="154" dur="420"/>
                                  <p:tgtEl>
                                    <p:spTgt spid="21"/>
                                  </p:tgtEl>
                                </p:cBhvr>
                              </p:animEffect>
                            </p:childTnLst>
                          </p:cTn>
                        </p:par>
                        <p:par>
                          <p:cTn id="155" presetID="10" presetClass="entr" presetSubtype="0" fill="hold" grpId="0" nodeType="afterEffect">
                            <p:stCondLst>
                              <p:cond delay="720"/>
                            </p:stCondLst>
                            <p:childTnLst>
                              <p:set>
                                <p:cBhvr>
                                  <p:cTn id="156" dur="1" fill="hold">
                                    <p:stCondLst>
                                      <p:cond delay="0"/>
                                    </p:stCondLst>
                                  </p:cTn>
                                  <p:tgtEl>
                                    <p:spTgt spid="22"/>
                                  </p:tgtEl>
                                  <p:attrNameLst>
                                    <p:attrName>style.visibility</p:attrName>
                                  </p:attrNameLst>
                                </p:cBhvr>
                                <p:to>
                                  <p:strVal val="visible"/>
                                </p:to>
                              </p:set>
                              <p:animEffect transition="in" filter="fade">
                                <p:cBhvr>
                                  <p:cTn id="157" dur="420"/>
                                  <p:tgtEl>
                                    <p:spTgt spid="22"/>
                                  </p:tgtEl>
                                </p:cBhvr>
                              </p:animEffect>
                            </p:childTnLst>
                          </p:cTn>
                        </p:par>
                        <p:par>
                          <p:cTn id="158" presetID="10" presetClass="entr" presetSubtype="0" fill="hold" grpId="0" nodeType="afterEffect">
                            <p:stCondLst>
                              <p:cond delay="810"/>
                            </p:stCondLst>
                            <p:childTnLst>
                              <p:set>
                                <p:cBhvr>
                                  <p:cTn id="159" dur="1" fill="hold">
                                    <p:stCondLst>
                                      <p:cond delay="0"/>
                                    </p:stCondLst>
                                  </p:cTn>
                                  <p:tgtEl>
                                    <p:spTgt spid="23"/>
                                  </p:tgtEl>
                                  <p:attrNameLst>
                                    <p:attrName>style.visibility</p:attrName>
                                  </p:attrNameLst>
                                </p:cBhvr>
                                <p:to>
                                  <p:strVal val="visible"/>
                                </p:to>
                              </p:set>
                              <p:animEffect transition="in" filter="fade">
                                <p:cBhvr>
                                  <p:cTn id="160" dur="420"/>
                                  <p:tgtEl>
                                    <p:spTgt spid="23"/>
                                  </p:tgtEl>
                                </p:cBhvr>
                              </p:animEffect>
                            </p:childTnLst>
                          </p:cTn>
                        </p:par>
                        <p:par>
                          <p:cTn id="161" presetID="10" presetClass="entr" presetSubtype="0" fill="hold" grpId="0" nodeType="afterEffect">
                            <p:stCondLst>
                              <p:cond delay="810"/>
                            </p:stCondLst>
                            <p:childTnLst>
                              <p:set>
                                <p:cBhvr>
                                  <p:cTn id="162" dur="1" fill="hold">
                                    <p:stCondLst>
                                      <p:cond delay="0"/>
                                    </p:stCondLst>
                                  </p:cTn>
                                  <p:tgtEl>
                                    <p:spTgt spid="24"/>
                                  </p:tgtEl>
                                  <p:attrNameLst>
                                    <p:attrName>style.visibility</p:attrName>
                                  </p:attrNameLst>
                                </p:cBhvr>
                                <p:to>
                                  <p:strVal val="visible"/>
                                </p:to>
                              </p:set>
                              <p:animEffect transition="in" filter="fade">
                                <p:cBhvr>
                                  <p:cTn id="163" dur="420"/>
                                  <p:tgtEl>
                                    <p:spTgt spid="24"/>
                                  </p:tgtEl>
                                </p:cBhvr>
                              </p:animEffect>
                            </p:childTnLst>
                          </p:cTn>
                        </p:par>
                        <p:par>
                          <p:cTn id="164" presetID="10" presetClass="entr" presetSubtype="0" fill="hold" grpId="0" nodeType="afterEffect">
                            <p:stCondLst>
                              <p:cond delay="900"/>
                            </p:stCondLst>
                            <p:childTnLst>
                              <p:set>
                                <p:cBhvr>
                                  <p:cTn id="165" dur="1" fill="hold">
                                    <p:stCondLst>
                                      <p:cond delay="0"/>
                                    </p:stCondLst>
                                  </p:cTn>
                                  <p:tgtEl>
                                    <p:spTgt spid="25"/>
                                  </p:tgtEl>
                                  <p:attrNameLst>
                                    <p:attrName>style.visibility</p:attrName>
                                  </p:attrNameLst>
                                </p:cBhvr>
                                <p:to>
                                  <p:strVal val="visible"/>
                                </p:to>
                              </p:set>
                              <p:animEffect transition="in" filter="fade">
                                <p:cBhvr>
                                  <p:cTn id="166" dur="420"/>
                                  <p:tgtEl>
                                    <p:spTgt spid="25"/>
                                  </p:tgtEl>
                                </p:cBhvr>
                              </p:animEffect>
                            </p:childTnLst>
                          </p:cTn>
                        </p:par>
                        <p:par>
                          <p:cTn id="167" presetID="10" presetClass="entr" presetSubtype="0" fill="hold" grpId="0" nodeType="afterEffect">
                            <p:stCondLst>
                              <p:cond delay="900"/>
                            </p:stCondLst>
                            <p:childTnLst>
                              <p:set>
                                <p:cBhvr>
                                  <p:cTn id="168" dur="1" fill="hold">
                                    <p:stCondLst>
                                      <p:cond delay="0"/>
                                    </p:stCondLst>
                                  </p:cTn>
                                  <p:tgtEl>
                                    <p:spTgt spid="26"/>
                                  </p:tgtEl>
                                  <p:attrNameLst>
                                    <p:attrName>style.visibility</p:attrName>
                                  </p:attrNameLst>
                                </p:cBhvr>
                                <p:to>
                                  <p:strVal val="visible"/>
                                </p:to>
                              </p:set>
                              <p:animEffect transition="in" filter="fade">
                                <p:cBhvr>
                                  <p:cTn id="169" dur="420"/>
                                  <p:tgtEl>
                                    <p:spTgt spid="26"/>
                                  </p:tgtEl>
                                </p:cBhvr>
                              </p:animEffect>
                            </p:childTnLst>
                          </p:cTn>
                        </p:par>
                        <p:par>
                          <p:cTn id="170" presetID="10" presetClass="entr" presetSubtype="0" fill="hold" grpId="0" nodeType="afterEffect">
                            <p:stCondLst>
                              <p:cond delay="990"/>
                            </p:stCondLst>
                            <p:childTnLst>
                              <p:set>
                                <p:cBhvr>
                                  <p:cTn id="171" dur="1" fill="hold">
                                    <p:stCondLst>
                                      <p:cond delay="0"/>
                                    </p:stCondLst>
                                  </p:cTn>
                                  <p:tgtEl>
                                    <p:spTgt spid="27"/>
                                  </p:tgtEl>
                                  <p:attrNameLst>
                                    <p:attrName>style.visibility</p:attrName>
                                  </p:attrNameLst>
                                </p:cBhvr>
                                <p:to>
                                  <p:strVal val="visible"/>
                                </p:to>
                              </p:set>
                              <p:animEffect transition="in" filter="fade">
                                <p:cBhvr>
                                  <p:cTn id="172" dur="420"/>
                                  <p:tgtEl>
                                    <p:spTgt spid="27"/>
                                  </p:tgtEl>
                                </p:cBhvr>
                              </p:animEffect>
                            </p:childTnLst>
                          </p:cTn>
                        </p:par>
                        <p:par>
                          <p:cTn id="173" presetID="10" presetClass="entr" presetSubtype="0" fill="hold" grpId="0" nodeType="afterEffect">
                            <p:stCondLst>
                              <p:cond delay="1080"/>
                            </p:stCondLst>
                            <p:childTnLst>
                              <p:set>
                                <p:cBhvr>
                                  <p:cTn id="174" dur="1" fill="hold">
                                    <p:stCondLst>
                                      <p:cond delay="0"/>
                                    </p:stCondLst>
                                  </p:cTn>
                                  <p:tgtEl>
                                    <p:spTgt spid="28"/>
                                  </p:tgtEl>
                                  <p:attrNameLst>
                                    <p:attrName>style.visibility</p:attrName>
                                  </p:attrNameLst>
                                </p:cBhvr>
                                <p:to>
                                  <p:strVal val="visible"/>
                                </p:to>
                              </p:set>
                              <p:animEffect transition="in" filter="fade">
                                <p:cBhvr>
                                  <p:cTn id="175" dur="420"/>
                                  <p:tgtEl>
                                    <p:spTgt spid="28"/>
                                  </p:tgtEl>
                                </p:cBhvr>
                              </p:animEffect>
                            </p:childTnLst>
                          </p:cTn>
                        </p:par>
                        <p:par>
                          <p:cTn id="176" presetID="10" presetClass="entr" presetSubtype="0" fill="hold" grpId="0" nodeType="afterEffect">
                            <p:stCondLst>
                              <p:cond delay="1080"/>
                            </p:stCondLst>
                            <p:childTnLst>
                              <p:set>
                                <p:cBhvr>
                                  <p:cTn id="177" dur="1" fill="hold">
                                    <p:stCondLst>
                                      <p:cond delay="0"/>
                                    </p:stCondLst>
                                  </p:cTn>
                                  <p:tgtEl>
                                    <p:spTgt spid="29"/>
                                  </p:tgtEl>
                                  <p:attrNameLst>
                                    <p:attrName>style.visibility</p:attrName>
                                  </p:attrNameLst>
                                </p:cBhvr>
                                <p:to>
                                  <p:strVal val="visible"/>
                                </p:to>
                              </p:set>
                              <p:animEffect transition="in" filter="fade">
                                <p:cBhvr>
                                  <p:cTn id="178" dur="420"/>
                                  <p:tgtEl>
                                    <p:spTgt spid="29"/>
                                  </p:tgtEl>
                                </p:cBhvr>
                              </p:animEffect>
                            </p:childTnLst>
                          </p:cTn>
                        </p:par>
                        <p:par>
                          <p:cTn id="179" presetID="10" presetClass="entr" presetSubtype="0" fill="hold" grpId="0" nodeType="afterEffect">
                            <p:stCondLst>
                              <p:cond delay="1170"/>
                            </p:stCondLst>
                            <p:childTnLst>
                              <p:set>
                                <p:cBhvr>
                                  <p:cTn id="180" dur="1" fill="hold">
                                    <p:stCondLst>
                                      <p:cond delay="0"/>
                                    </p:stCondLst>
                                  </p:cTn>
                                  <p:tgtEl>
                                    <p:spTgt spid="30"/>
                                  </p:tgtEl>
                                  <p:attrNameLst>
                                    <p:attrName>style.visibility</p:attrName>
                                  </p:attrNameLst>
                                </p:cBhvr>
                                <p:to>
                                  <p:strVal val="visible"/>
                                </p:to>
                              </p:set>
                              <p:animEffect transition="in" filter="fade">
                                <p:cBhvr>
                                  <p:cTn id="181" dur="420"/>
                                  <p:tgtEl>
                                    <p:spTgt spid="30"/>
                                  </p:tgtEl>
                                </p:cBhvr>
                              </p:animEffect>
                            </p:childTnLst>
                          </p:cTn>
                        </p:par>
                        <p:par>
                          <p:cTn id="182" presetID="10" presetClass="entr" presetSubtype="0" fill="hold" grpId="0" nodeType="afterEffect">
                            <p:stCondLst>
                              <p:cond delay="1170"/>
                            </p:stCondLst>
                            <p:childTnLst>
                              <p:set>
                                <p:cBhvr>
                                  <p:cTn id="183" dur="1" fill="hold">
                                    <p:stCondLst>
                                      <p:cond delay="0"/>
                                    </p:stCondLst>
                                  </p:cTn>
                                  <p:tgtEl>
                                    <p:spTgt spid="31"/>
                                  </p:tgtEl>
                                  <p:attrNameLst>
                                    <p:attrName>style.visibility</p:attrName>
                                  </p:attrNameLst>
                                </p:cBhvr>
                                <p:to>
                                  <p:strVal val="visible"/>
                                </p:to>
                              </p:set>
                              <p:animEffect transition="in" filter="fade">
                                <p:cBhvr>
                                  <p:cTn id="184" dur="420"/>
                                  <p:tgtEl>
                                    <p:spTgt spid="31"/>
                                  </p:tgtEl>
                                </p:cBhvr>
                              </p:animEffect>
                            </p:childTnLst>
                          </p:cTn>
                        </p:par>
                        <p:par>
                          <p:cTn id="185" presetID="10" presetClass="entr" presetSubtype="0" fill="hold" grpId="0" nodeType="afterEffect">
                            <p:stCondLst>
                              <p:cond delay="1260"/>
                            </p:stCondLst>
                            <p:childTnLst>
                              <p:set>
                                <p:cBhvr>
                                  <p:cTn id="186" dur="1" fill="hold">
                                    <p:stCondLst>
                                      <p:cond delay="0"/>
                                    </p:stCondLst>
                                  </p:cTn>
                                  <p:tgtEl>
                                    <p:spTgt spid="32"/>
                                  </p:tgtEl>
                                  <p:attrNameLst>
                                    <p:attrName>style.visibility</p:attrName>
                                  </p:attrNameLst>
                                </p:cBhvr>
                                <p:to>
                                  <p:strVal val="visible"/>
                                </p:to>
                              </p:set>
                              <p:animEffect transition="in" filter="fade">
                                <p:cBhvr>
                                  <p:cTn id="187" dur="420"/>
                                  <p:tgtEl>
                                    <p:spTgt spid="32"/>
                                  </p:tgtEl>
                                </p:cBhvr>
                              </p:animEffect>
                            </p:childTnLst>
                          </p:cTn>
                        </p:par>
                        <p:par>
                          <p:cTn id="188" presetID="10" presetClass="entr" presetSubtype="0" fill="hold" grpId="0" nodeType="afterEffect">
                            <p:stCondLst>
                              <p:cond delay="1260"/>
                            </p:stCondLst>
                            <p:childTnLst>
                              <p:set>
                                <p:cBhvr>
                                  <p:cTn id="189" dur="1" fill="hold">
                                    <p:stCondLst>
                                      <p:cond delay="0"/>
                                    </p:stCondLst>
                                  </p:cTn>
                                  <p:tgtEl>
                                    <p:spTgt spid="33"/>
                                  </p:tgtEl>
                                  <p:attrNameLst>
                                    <p:attrName>style.visibility</p:attrName>
                                  </p:attrNameLst>
                                </p:cBhvr>
                                <p:to>
                                  <p:strVal val="visible"/>
                                </p:to>
                              </p:set>
                              <p:animEffect transition="in" filter="fade">
                                <p:cBhvr>
                                  <p:cTn id="190" dur="420"/>
                                  <p:tgtEl>
                                    <p:spTgt spid="33"/>
                                  </p:tgtEl>
                                </p:cBhvr>
                              </p:animEffect>
                            </p:childTnLst>
                          </p:cTn>
                        </p:par>
                        <p:par>
                          <p:cTn id="191" presetID="10" presetClass="entr" presetSubtype="0" fill="hold" grpId="0" nodeType="afterEffect">
                            <p:stCondLst>
                              <p:cond delay="1350"/>
                            </p:stCondLst>
                            <p:childTnLst>
                              <p:set>
                                <p:cBhvr>
                                  <p:cTn id="192" dur="1" fill="hold">
                                    <p:stCondLst>
                                      <p:cond delay="0"/>
                                    </p:stCondLst>
                                  </p:cTn>
                                  <p:tgtEl>
                                    <p:spTgt spid="34"/>
                                  </p:tgtEl>
                                  <p:attrNameLst>
                                    <p:attrName>style.visibility</p:attrName>
                                  </p:attrNameLst>
                                </p:cBhvr>
                                <p:to>
                                  <p:strVal val="visible"/>
                                </p:to>
                              </p:set>
                              <p:animEffect transition="in" filter="fade">
                                <p:cBhvr>
                                  <p:cTn id="193" dur="420"/>
                                  <p:tgtEl>
                                    <p:spTgt spid="34"/>
                                  </p:tgtEl>
                                </p:cBhvr>
                              </p:animEffect>
                            </p:childTnLst>
                          </p:cTn>
                        </p:par>
                        <p:par>
                          <p:cTn id="194" presetID="10" presetClass="entr" presetSubtype="0" fill="hold" grpId="0" nodeType="afterEffect">
                            <p:stCondLst>
                              <p:cond delay="1350"/>
                            </p:stCondLst>
                            <p:childTnLst>
                              <p:set>
                                <p:cBhvr>
                                  <p:cTn id="195" dur="1" fill="hold">
                                    <p:stCondLst>
                                      <p:cond delay="0"/>
                                    </p:stCondLst>
                                  </p:cTn>
                                  <p:tgtEl>
                                    <p:spTgt spid="35"/>
                                  </p:tgtEl>
                                  <p:attrNameLst>
                                    <p:attrName>style.visibility</p:attrName>
                                  </p:attrNameLst>
                                </p:cBhvr>
                                <p:to>
                                  <p:strVal val="visible"/>
                                </p:to>
                              </p:set>
                              <p:animEffect transition="in" filter="fade">
                                <p:cBhvr>
                                  <p:cTn id="196" dur="420"/>
                                  <p:tgtEl>
                                    <p:spTgt spid="35"/>
                                  </p:tgtEl>
                                </p:cBhvr>
                              </p:animEffect>
                            </p:childTnLst>
                          </p:cTn>
                        </p:par>
                        <p:par>
                          <p:cTn id="197" presetID="10" presetClass="entr" presetSubtype="0" fill="hold" grpId="0" nodeType="afterEffect">
                            <p:stCondLst>
                              <p:cond delay="1440"/>
                            </p:stCondLst>
                            <p:childTnLst>
                              <p:set>
                                <p:cBhvr>
                                  <p:cTn id="198" dur="1" fill="hold">
                                    <p:stCondLst>
                                      <p:cond delay="0"/>
                                    </p:stCondLst>
                                  </p:cTn>
                                  <p:tgtEl>
                                    <p:spTgt spid="36"/>
                                  </p:tgtEl>
                                  <p:attrNameLst>
                                    <p:attrName>style.visibility</p:attrName>
                                  </p:attrNameLst>
                                </p:cBhvr>
                                <p:to>
                                  <p:strVal val="visible"/>
                                </p:to>
                              </p:set>
                              <p:animEffect transition="in" filter="fade">
                                <p:cBhvr>
                                  <p:cTn id="199" dur="420"/>
                                  <p:tgtEl>
                                    <p:spTgt spid="36"/>
                                  </p:tgtEl>
                                </p:cBhvr>
                              </p:animEffect>
                            </p:childTnLst>
                          </p:cTn>
                        </p:par>
                        <p:par>
                          <p:cTn id="200" presetID="10" presetClass="entr" presetSubtype="0" fill="hold" grpId="0" nodeType="afterEffect">
                            <p:stCondLst>
                              <p:cond delay="1440"/>
                            </p:stCondLst>
                            <p:childTnLst>
                              <p:set>
                                <p:cBhvr>
                                  <p:cTn id="201" dur="1" fill="hold">
                                    <p:stCondLst>
                                      <p:cond delay="0"/>
                                    </p:stCondLst>
                                  </p:cTn>
                                  <p:tgtEl>
                                    <p:spTgt spid="37"/>
                                  </p:tgtEl>
                                  <p:attrNameLst>
                                    <p:attrName>style.visibility</p:attrName>
                                  </p:attrNameLst>
                                </p:cBhvr>
                                <p:to>
                                  <p:strVal val="visible"/>
                                </p:to>
                              </p:set>
                              <p:animEffect transition="in" filter="fade">
                                <p:cBhvr>
                                  <p:cTn id="202" dur="420"/>
                                  <p:tgtEl>
                                    <p:spTgt spid="37"/>
                                  </p:tgtEl>
                                </p:cBhvr>
                              </p:animEffect>
                            </p:childTnLst>
                          </p:cTn>
                        </p:par>
                        <p:par>
                          <p:cTn id="203" presetID="10" presetClass="entr" presetSubtype="0" fill="hold" grpId="0" nodeType="afterEffect">
                            <p:stCondLst>
                              <p:cond delay="1530"/>
                            </p:stCondLst>
                            <p:childTnLst>
                              <p:set>
                                <p:cBhvr>
                                  <p:cTn id="204" dur="1" fill="hold">
                                    <p:stCondLst>
                                      <p:cond delay="0"/>
                                    </p:stCondLst>
                                  </p:cTn>
                                  <p:tgtEl>
                                    <p:spTgt spid="38"/>
                                  </p:tgtEl>
                                  <p:attrNameLst>
                                    <p:attrName>style.visibility</p:attrName>
                                  </p:attrNameLst>
                                </p:cBhvr>
                                <p:to>
                                  <p:strVal val="visible"/>
                                </p:to>
                              </p:set>
                              <p:animEffect transition="in" filter="fade">
                                <p:cBhvr>
                                  <p:cTn id="205" dur="420"/>
                                  <p:tgtEl>
                                    <p:spTgt spid="38"/>
                                  </p:tgtEl>
                                </p:cBhvr>
                              </p:animEffect>
                            </p:childTnLst>
                          </p:cTn>
                        </p:par>
                      </p:childTnLst>
                    </p:cTn>
                  </p:par>
                </p:childTnLst>
              </p:cTn>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881360" cy="292608"/>
          </a:xfrm>
          <a:prstGeom prst="rect">
            <a:avLst/>
          </a:prstGeom>
          <a:noFill/>
        </p:spPr>
        <p:txBody>
          <a:bodyPr wrap="square" lIns="0" rIns="0" tIns="0" bIns="0" anchor="t">
            <a:spAutoFit/>
          </a:bodyPr>
          <a:lstStyle/>
          <a:p>
            <a:pPr algn="l">
              <a:lnSpc>
                <a:spcPct val="100000"/>
              </a:lnSpc>
              <a:spcBef>
                <a:spcPts val="0"/>
              </a:spcBef>
              <a:spcAft>
                <a:spcPts val="0"/>
              </a:spcAft>
            </a:pPr>
            <a:r>
              <a:rPr sz="1250" b="1" i="0">
                <a:solidFill>
                  <a:srgbClr val="B8863B"/>
                </a:solidFill>
                <a:latin typeface="Calibri"/>
              </a:rPr>
              <a:t>TRAVAUX SIMILAIRES · TABLEAU COMPARATIF</a:t>
            </a:r>
          </a:p>
        </p:txBody>
      </p:sp>
      <p:sp>
        <p:nvSpPr>
          <p:cNvPr id="3" name="TextBox 2"/>
          <p:cNvSpPr txBox="1"/>
          <p:nvPr/>
        </p:nvSpPr>
        <p:spPr>
          <a:xfrm>
            <a:off x="640080" y="786384"/>
            <a:ext cx="10881360" cy="777240"/>
          </a:xfrm>
          <a:prstGeom prst="rect">
            <a:avLst/>
          </a:prstGeom>
          <a:noFill/>
        </p:spPr>
        <p:txBody>
          <a:bodyPr wrap="square" lIns="0" rIns="0" tIns="0" bIns="0" anchor="t">
            <a:spAutoFit/>
          </a:bodyPr>
          <a:lstStyle/>
          <a:p>
            <a:pPr algn="l">
              <a:lnSpc>
                <a:spcPct val="102000"/>
              </a:lnSpc>
              <a:spcBef>
                <a:spcPts val="0"/>
              </a:spcBef>
              <a:spcAft>
                <a:spcPts val="0"/>
              </a:spcAft>
            </a:pPr>
            <a:r>
              <a:rPr sz="2500" b="1" i="0">
                <a:solidFill>
                  <a:srgbClr val="0F5B4C"/>
                </a:solidFill>
                <a:latin typeface="Cambria"/>
              </a:rPr>
              <a:t>Critères fonctionnels — en lien avec les objectifs métier</a:t>
            </a:r>
          </a:p>
        </p:txBody>
      </p:sp>
      <p:graphicFrame>
        <p:nvGraphicFramePr>
          <p:cNvPr id="4" name="Table 3"/>
          <p:cNvGraphicFramePr>
            <a:graphicFrameLocks noGrp="1"/>
          </p:cNvGraphicFramePr>
          <p:nvPr/>
        </p:nvGraphicFramePr>
        <p:xfrm>
          <a:off x="548640" y="1170432"/>
          <a:ext cx="11091672" cy="4709159"/>
        </p:xfrm>
        <a:graphic>
          <a:graphicData uri="http://schemas.openxmlformats.org/drawingml/2006/table">
            <a:tbl>
              <a:tblPr firstRow="1" bandRow="1">
                <a:tableStyleId>{5940675A-B579-460E-94D1-54222C63F5DA}</a:tableStyleId>
              </a:tblPr>
              <a:tblGrid>
                <a:gridCol w="2606040"/>
                <a:gridCol w="1060704"/>
                <a:gridCol w="1060704"/>
                <a:gridCol w="1060704"/>
                <a:gridCol w="1060704"/>
                <a:gridCol w="1060704"/>
                <a:gridCol w="1060704"/>
                <a:gridCol w="1060704"/>
                <a:gridCol w="1060704"/>
              </a:tblGrid>
              <a:tr h="362243">
                <a:tc>
                  <a:txBody>
                    <a:bodyPr/>
                    <a:lstStyle/>
                    <a:p>
                      <a:pPr algn="l"/>
                      <a:r>
                        <a:rPr sz="1150" b="1">
                          <a:solidFill>
                            <a:srgbClr val="FFFFFF"/>
                          </a:solidFill>
                          <a:latin typeface="Calibri"/>
                        </a:rPr>
                        <a:t>Solution</a:t>
                      </a:r>
                    </a:p>
                  </a:txBody>
                  <a:tcPr marL="54864" marR="54864" marT="9144" marB="9144" anchor="ctr">
                    <a:solidFill>
                      <a:srgbClr val="0F5B4C"/>
                    </a:solidFill>
                  </a:tcPr>
                </a:tc>
                <a:tc>
                  <a:txBody>
                    <a:bodyPr/>
                    <a:lstStyle/>
                    <a:p>
                      <a:pPr algn="ctr"/>
                      <a:r>
                        <a:rPr sz="1150" b="1">
                          <a:solidFill>
                            <a:srgbClr val="B8863B"/>
                          </a:solidFill>
                          <a:latin typeface="Calibri"/>
                        </a:rPr>
                        <a:t>F1</a:t>
                      </a:r>
                    </a:p>
                  </a:txBody>
                  <a:tcPr marL="54864" marR="54864" marT="9144" marB="9144" anchor="ctr">
                    <a:solidFill>
                      <a:srgbClr val="0F5B4C"/>
                    </a:solidFill>
                  </a:tcPr>
                </a:tc>
                <a:tc>
                  <a:txBody>
                    <a:bodyPr/>
                    <a:lstStyle/>
                    <a:p>
                      <a:pPr algn="ctr"/>
                      <a:r>
                        <a:rPr sz="1150" b="1">
                          <a:solidFill>
                            <a:srgbClr val="B8863B"/>
                          </a:solidFill>
                          <a:latin typeface="Calibri"/>
                        </a:rPr>
                        <a:t>F2</a:t>
                      </a:r>
                    </a:p>
                  </a:txBody>
                  <a:tcPr marL="54864" marR="54864" marT="9144" marB="9144" anchor="ctr">
                    <a:solidFill>
                      <a:srgbClr val="0F5B4C"/>
                    </a:solidFill>
                  </a:tcPr>
                </a:tc>
                <a:tc>
                  <a:txBody>
                    <a:bodyPr/>
                    <a:lstStyle/>
                    <a:p>
                      <a:pPr algn="ctr"/>
                      <a:r>
                        <a:rPr sz="1150" b="1">
                          <a:solidFill>
                            <a:srgbClr val="B8863B"/>
                          </a:solidFill>
                          <a:latin typeface="Calibri"/>
                        </a:rPr>
                        <a:t>F3</a:t>
                      </a:r>
                    </a:p>
                  </a:txBody>
                  <a:tcPr marL="54864" marR="54864" marT="9144" marB="9144" anchor="ctr">
                    <a:solidFill>
                      <a:srgbClr val="0F5B4C"/>
                    </a:solidFill>
                  </a:tcPr>
                </a:tc>
                <a:tc>
                  <a:txBody>
                    <a:bodyPr/>
                    <a:lstStyle/>
                    <a:p>
                      <a:pPr algn="ctr"/>
                      <a:r>
                        <a:rPr sz="1150" b="1">
                          <a:solidFill>
                            <a:srgbClr val="B8863B"/>
                          </a:solidFill>
                          <a:latin typeface="Calibri"/>
                        </a:rPr>
                        <a:t>F4</a:t>
                      </a:r>
                    </a:p>
                  </a:txBody>
                  <a:tcPr marL="54864" marR="54864" marT="9144" marB="9144" anchor="ctr">
                    <a:solidFill>
                      <a:srgbClr val="0F5B4C"/>
                    </a:solidFill>
                  </a:tcPr>
                </a:tc>
                <a:tc>
                  <a:txBody>
                    <a:bodyPr/>
                    <a:lstStyle/>
                    <a:p>
                      <a:pPr algn="ctr"/>
                      <a:r>
                        <a:rPr sz="1150" b="1">
                          <a:solidFill>
                            <a:srgbClr val="B8863B"/>
                          </a:solidFill>
                          <a:latin typeface="Calibri"/>
                        </a:rPr>
                        <a:t>F5</a:t>
                      </a:r>
                    </a:p>
                  </a:txBody>
                  <a:tcPr marL="54864" marR="54864" marT="9144" marB="9144" anchor="ctr">
                    <a:solidFill>
                      <a:srgbClr val="0F5B4C"/>
                    </a:solidFill>
                  </a:tcPr>
                </a:tc>
                <a:tc>
                  <a:txBody>
                    <a:bodyPr/>
                    <a:lstStyle/>
                    <a:p>
                      <a:pPr algn="ctr"/>
                      <a:r>
                        <a:rPr sz="1150" b="1">
                          <a:solidFill>
                            <a:srgbClr val="B8863B"/>
                          </a:solidFill>
                          <a:latin typeface="Calibri"/>
                        </a:rPr>
                        <a:t>F6</a:t>
                      </a:r>
                    </a:p>
                  </a:txBody>
                  <a:tcPr marL="54864" marR="54864" marT="9144" marB="9144" anchor="ctr">
                    <a:solidFill>
                      <a:srgbClr val="0F5B4C"/>
                    </a:solidFill>
                  </a:tcPr>
                </a:tc>
                <a:tc>
                  <a:txBody>
                    <a:bodyPr/>
                    <a:lstStyle/>
                    <a:p>
                      <a:pPr algn="ctr"/>
                      <a:r>
                        <a:rPr sz="1150" b="1">
                          <a:solidFill>
                            <a:srgbClr val="B8863B"/>
                          </a:solidFill>
                          <a:latin typeface="Calibri"/>
                        </a:rPr>
                        <a:t>F7</a:t>
                      </a:r>
                    </a:p>
                  </a:txBody>
                  <a:tcPr marL="54864" marR="54864" marT="9144" marB="9144" anchor="ctr">
                    <a:solidFill>
                      <a:srgbClr val="0F5B4C"/>
                    </a:solidFill>
                  </a:tcPr>
                </a:tc>
                <a:tc>
                  <a:txBody>
                    <a:bodyPr/>
                    <a:lstStyle/>
                    <a:p>
                      <a:pPr algn="ctr"/>
                      <a:r>
                        <a:rPr sz="1150" b="1">
                          <a:solidFill>
                            <a:srgbClr val="B8863B"/>
                          </a:solidFill>
                          <a:latin typeface="Calibri"/>
                        </a:rPr>
                        <a:t>F8</a:t>
                      </a:r>
                    </a:p>
                  </a:txBody>
                  <a:tcPr marL="54864" marR="54864" marT="9144" marB="9144" anchor="ctr">
                    <a:solidFill>
                      <a:srgbClr val="0F5B4C"/>
                    </a:solidFill>
                  </a:tcPr>
                </a:tc>
              </a:tr>
              <a:tr h="362243">
                <a:tc>
                  <a:txBody>
                    <a:bodyPr/>
                    <a:lstStyle/>
                    <a:p>
                      <a:pPr algn="l"/>
                      <a:r>
                        <a:rPr sz="1000" b="1">
                          <a:solidFill>
                            <a:srgbClr val="24312B"/>
                          </a:solidFill>
                          <a:latin typeface="Calibri"/>
                        </a:rPr>
                        <a:t>Digitailleur</a:t>
                      </a:r>
                    </a:p>
                  </a:txBody>
                  <a:tcPr marL="54864" marR="54864" marT="9144" marB="9144" anchor="ctr">
                    <a:solidFill>
                      <a:srgbClr val="FFFFFF"/>
                    </a:solidFill>
                  </a:tcPr>
                </a:tc>
                <a:tc>
                  <a:txBody>
                    <a:bodyPr/>
                    <a:lstStyle/>
                    <a:p>
                      <a:pPr algn="ctr"/>
                      <a:r>
                        <a:rPr sz="1100" b="1">
                          <a:solidFill>
                            <a:srgbClr val="FFFFFF"/>
                          </a:solidFill>
                          <a:latin typeface="Calibri"/>
                        </a:rPr>
                        <a:t>✓</a:t>
                      </a:r>
                    </a:p>
                  </a:txBody>
                  <a:tcPr marL="54864" marR="54864" marT="9144" marB="9144" anchor="ctr">
                    <a:solidFill>
                      <a:srgbClr val="B8863B"/>
                    </a:solidFill>
                  </a:tcPr>
                </a:tc>
                <a:tc>
                  <a:txBody>
                    <a:bodyPr/>
                    <a:lstStyle/>
                    <a:p>
                      <a:pPr algn="ctr"/>
                      <a:r>
                        <a:rPr sz="1100" b="1">
                          <a:solidFill>
                            <a:srgbClr val="FFFFFF"/>
                          </a:solidFill>
                          <a:latin typeface="Calibri"/>
                        </a:rPr>
                        <a:t>✓</a:t>
                      </a:r>
                    </a:p>
                  </a:txBody>
                  <a:tcPr marL="54864" marR="54864" marT="9144" marB="9144" anchor="ctr">
                    <a:solidFill>
                      <a:srgbClr val="B8863B"/>
                    </a:solidFill>
                  </a:tcPr>
                </a:tc>
                <a:tc>
                  <a:txBody>
                    <a:bodyPr/>
                    <a:lstStyle/>
                    <a:p>
                      <a:pPr algn="ctr"/>
                      <a:r>
                        <a:rPr sz="1100" b="1">
                          <a:solidFill>
                            <a:srgbClr val="FFFFFF"/>
                          </a:solidFill>
                          <a:latin typeface="Calibri"/>
                        </a:rPr>
                        <a:t>✓</a:t>
                      </a:r>
                    </a:p>
                  </a:txBody>
                  <a:tcPr marL="54864" marR="54864" marT="9144" marB="9144" anchor="ctr">
                    <a:solidFill>
                      <a:srgbClr val="B8863B"/>
                    </a:solidFill>
                  </a:tcPr>
                </a:tc>
                <a:tc>
                  <a:txBody>
                    <a:bodyPr/>
                    <a:lstStyle/>
                    <a:p>
                      <a:pPr algn="ctr"/>
                      <a:r>
                        <a:rPr sz="1100" b="1">
                          <a:solidFill>
                            <a:srgbClr val="24312B"/>
                          </a:solidFill>
                          <a:latin typeface="Calibri"/>
                        </a:rPr>
                        <a:t>~</a:t>
                      </a:r>
                    </a:p>
                  </a:txBody>
                  <a:tcPr marL="54864" marR="54864" marT="9144" marB="9144" anchor="ctr">
                    <a:solidFill>
                      <a:srgbClr val="E6BD7C"/>
                    </a:solidFill>
                  </a:tcPr>
                </a:tc>
                <a:tc>
                  <a:txBody>
                    <a:bodyPr/>
                    <a:lstStyle/>
                    <a:p>
                      <a:pPr algn="ctr"/>
                      <a:r>
                        <a:rPr sz="1100" b="1">
                          <a:solidFill>
                            <a:srgbClr val="FFFFFF"/>
                          </a:solidFill>
                          <a:latin typeface="Calibri"/>
                        </a:rPr>
                        <a:t>✓</a:t>
                      </a:r>
                    </a:p>
                  </a:txBody>
                  <a:tcPr marL="54864" marR="54864" marT="9144" marB="9144" anchor="ctr">
                    <a:solidFill>
                      <a:srgbClr val="B8863B"/>
                    </a:solidFill>
                  </a:tcPr>
                </a:tc>
                <a:tc>
                  <a:txBody>
                    <a:bodyPr/>
                    <a:lstStyle/>
                    <a:p>
                      <a:pPr algn="ctr"/>
                      <a:r>
                        <a:rPr sz="1100" b="1">
                          <a:solidFill>
                            <a:srgbClr val="FFFFFF"/>
                          </a:solidFill>
                          <a:latin typeface="Calibri"/>
                        </a:rPr>
                        <a:t>✓</a:t>
                      </a:r>
                    </a:p>
                  </a:txBody>
                  <a:tcPr marL="54864" marR="54864" marT="9144" marB="9144" anchor="ctr">
                    <a:solidFill>
                      <a:srgbClr val="B8863B"/>
                    </a:solidFill>
                  </a:tcPr>
                </a:tc>
                <a:tc>
                  <a:txBody>
                    <a:bodyPr/>
                    <a:lstStyle/>
                    <a:p>
                      <a:pPr algn="ctr"/>
                      <a:r>
                        <a:rPr sz="1100" b="1">
                          <a:solidFill>
                            <a:srgbClr val="68796F"/>
                          </a:solidFill>
                          <a:latin typeface="Calibri"/>
                        </a:rPr>
                        <a:t>?</a:t>
                      </a:r>
                    </a:p>
                  </a:txBody>
                  <a:tcPr marL="54864" marR="54864" marT="9144" marB="9144" anchor="ctr">
                    <a:solidFill>
                      <a:srgbClr val="E6E2D8"/>
                    </a:solidFill>
                  </a:tcPr>
                </a:tc>
                <a:tc>
                  <a:txBody>
                    <a:bodyPr/>
                    <a:lstStyle/>
                    <a:p>
                      <a:pPr algn="ctr"/>
                      <a:r>
                        <a:rPr sz="1100" b="1">
                          <a:solidFill>
                            <a:srgbClr val="FFFFFF"/>
                          </a:solidFill>
                          <a:latin typeface="Calibri"/>
                        </a:rPr>
                        <a:t>✓</a:t>
                      </a:r>
                    </a:p>
                  </a:txBody>
                  <a:tcPr marL="54864" marR="54864" marT="9144" marB="9144" anchor="ctr">
                    <a:solidFill>
                      <a:srgbClr val="B8863B"/>
                    </a:solidFill>
                  </a:tcPr>
                </a:tc>
              </a:tr>
              <a:tr h="362243">
                <a:tc>
                  <a:txBody>
                    <a:bodyPr/>
                    <a:lstStyle/>
                    <a:p>
                      <a:pPr algn="l"/>
                      <a:r>
                        <a:rPr sz="1000" b="1">
                          <a:solidFill>
                            <a:srgbClr val="24312B"/>
                          </a:solidFill>
                          <a:latin typeface="Calibri"/>
                        </a:rPr>
                        <a:t>Couturart</a:t>
                      </a:r>
                    </a:p>
                  </a:txBody>
                  <a:tcPr marL="54864" marR="54864" marT="9144" marB="9144" anchor="ctr">
                    <a:solidFill>
                      <a:srgbClr val="FAF7F0"/>
                    </a:solidFill>
                  </a:tcPr>
                </a:tc>
                <a:tc>
                  <a:txBody>
                    <a:bodyPr/>
                    <a:lstStyle/>
                    <a:p>
                      <a:pPr algn="ctr"/>
                      <a:r>
                        <a:rPr sz="1100" b="1">
                          <a:solidFill>
                            <a:srgbClr val="FFFFFF"/>
                          </a:solidFill>
                          <a:latin typeface="Calibri"/>
                        </a:rPr>
                        <a:t>✓</a:t>
                      </a:r>
                    </a:p>
                  </a:txBody>
                  <a:tcPr marL="54864" marR="54864" marT="9144" marB="9144" anchor="ctr">
                    <a:solidFill>
                      <a:srgbClr val="B8863B"/>
                    </a:solidFill>
                  </a:tcPr>
                </a:tc>
                <a:tc>
                  <a:txBody>
                    <a:bodyPr/>
                    <a:lstStyle/>
                    <a:p>
                      <a:pPr algn="ctr"/>
                      <a:r>
                        <a:rPr sz="1100" b="1">
                          <a:solidFill>
                            <a:srgbClr val="FFFFFF"/>
                          </a:solidFill>
                          <a:latin typeface="Calibri"/>
                        </a:rPr>
                        <a:t>✓</a:t>
                      </a:r>
                    </a:p>
                  </a:txBody>
                  <a:tcPr marL="54864" marR="54864" marT="9144" marB="9144" anchor="ctr">
                    <a:solidFill>
                      <a:srgbClr val="B8863B"/>
                    </a:solidFill>
                  </a:tcPr>
                </a:tc>
                <a:tc>
                  <a:txBody>
                    <a:bodyPr/>
                    <a:lstStyle/>
                    <a:p>
                      <a:pPr algn="ctr"/>
                      <a:r>
                        <a:rPr sz="1100" b="1">
                          <a:solidFill>
                            <a:srgbClr val="FFFFFF"/>
                          </a:solidFill>
                          <a:latin typeface="Calibri"/>
                        </a:rPr>
                        <a:t>✓</a:t>
                      </a:r>
                    </a:p>
                  </a:txBody>
                  <a:tcPr marL="54864" marR="54864" marT="9144" marB="9144" anchor="ctr">
                    <a:solidFill>
                      <a:srgbClr val="B8863B"/>
                    </a:solidFill>
                  </a:tcPr>
                </a:tc>
                <a:tc>
                  <a:txBody>
                    <a:bodyPr/>
                    <a:lstStyle/>
                    <a:p>
                      <a:pPr algn="ctr"/>
                      <a:r>
                        <a:rPr sz="1100" b="1">
                          <a:solidFill>
                            <a:srgbClr val="68796F"/>
                          </a:solidFill>
                          <a:latin typeface="Calibri"/>
                        </a:rPr>
                        <a:t>?</a:t>
                      </a:r>
                    </a:p>
                  </a:txBody>
                  <a:tcPr marL="54864" marR="54864" marT="9144" marB="9144" anchor="ctr">
                    <a:solidFill>
                      <a:srgbClr val="E6E2D8"/>
                    </a:solidFill>
                  </a:tcPr>
                </a:tc>
                <a:tc>
                  <a:txBody>
                    <a:bodyPr/>
                    <a:lstStyle/>
                    <a:p>
                      <a:pPr algn="ctr"/>
                      <a:r>
                        <a:rPr sz="1100" b="1">
                          <a:solidFill>
                            <a:srgbClr val="68796F"/>
                          </a:solidFill>
                          <a:latin typeface="Calibri"/>
                        </a:rPr>
                        <a:t>?</a:t>
                      </a:r>
                    </a:p>
                  </a:txBody>
                  <a:tcPr marL="54864" marR="54864" marT="9144" marB="9144" anchor="ctr">
                    <a:solidFill>
                      <a:srgbClr val="E6E2D8"/>
                    </a:solidFill>
                  </a:tcPr>
                </a:tc>
                <a:tc>
                  <a:txBody>
                    <a:bodyPr/>
                    <a:lstStyle/>
                    <a:p>
                      <a:pPr algn="ctr"/>
                      <a:r>
                        <a:rPr sz="1100" b="1">
                          <a:solidFill>
                            <a:srgbClr val="FFFFFF"/>
                          </a:solidFill>
                          <a:latin typeface="Calibri"/>
                        </a:rPr>
                        <a:t>✓</a:t>
                      </a:r>
                    </a:p>
                  </a:txBody>
                  <a:tcPr marL="54864" marR="54864" marT="9144" marB="9144" anchor="ctr">
                    <a:solidFill>
                      <a:srgbClr val="B8863B"/>
                    </a:solidFill>
                  </a:tcPr>
                </a:tc>
                <a:tc>
                  <a:txBody>
                    <a:bodyPr/>
                    <a:lstStyle/>
                    <a:p>
                      <a:pPr algn="ctr"/>
                      <a:r>
                        <a:rPr sz="1100" b="1">
                          <a:solidFill>
                            <a:srgbClr val="FFFFFF"/>
                          </a:solidFill>
                          <a:latin typeface="Calibri"/>
                        </a:rPr>
                        <a:t>✓</a:t>
                      </a:r>
                    </a:p>
                  </a:txBody>
                  <a:tcPr marL="54864" marR="54864" marT="9144" marB="9144" anchor="ctr">
                    <a:solidFill>
                      <a:srgbClr val="B8863B"/>
                    </a:solidFill>
                  </a:tcPr>
                </a:tc>
                <a:tc>
                  <a:txBody>
                    <a:bodyPr/>
                    <a:lstStyle/>
                    <a:p>
                      <a:pPr algn="ctr"/>
                      <a:r>
                        <a:rPr sz="1100" b="1">
                          <a:solidFill>
                            <a:srgbClr val="68796F"/>
                          </a:solidFill>
                          <a:latin typeface="Calibri"/>
                        </a:rPr>
                        <a:t>?</a:t>
                      </a:r>
                    </a:p>
                  </a:txBody>
                  <a:tcPr marL="54864" marR="54864" marT="9144" marB="9144" anchor="ctr">
                    <a:solidFill>
                      <a:srgbClr val="E6E2D8"/>
                    </a:solidFill>
                  </a:tcPr>
                </a:tc>
              </a:tr>
              <a:tr h="362243">
                <a:tc>
                  <a:txBody>
                    <a:bodyPr/>
                    <a:lstStyle/>
                    <a:p>
                      <a:pPr algn="l"/>
                      <a:r>
                        <a:rPr sz="1000" b="1">
                          <a:solidFill>
                            <a:srgbClr val="24312B"/>
                          </a:solidFill>
                          <a:latin typeface="Calibri"/>
                        </a:rPr>
                        <a:t>Tailleur 2.0</a:t>
                      </a:r>
                    </a:p>
                  </a:txBody>
                  <a:tcPr marL="54864" marR="54864" marT="9144" marB="9144" anchor="ctr">
                    <a:solidFill>
                      <a:srgbClr val="FFFFFF"/>
                    </a:solidFill>
                  </a:tcPr>
                </a:tc>
                <a:tc>
                  <a:txBody>
                    <a:bodyPr/>
                    <a:lstStyle/>
                    <a:p>
                      <a:pPr algn="ctr"/>
                      <a:r>
                        <a:rPr sz="1100" b="1">
                          <a:solidFill>
                            <a:srgbClr val="FFFFFF"/>
                          </a:solidFill>
                          <a:latin typeface="Calibri"/>
                        </a:rPr>
                        <a:t>✓</a:t>
                      </a:r>
                    </a:p>
                  </a:txBody>
                  <a:tcPr marL="54864" marR="54864" marT="9144" marB="9144" anchor="ctr">
                    <a:solidFill>
                      <a:srgbClr val="B8863B"/>
                    </a:solidFill>
                  </a:tcPr>
                </a:tc>
                <a:tc>
                  <a:txBody>
                    <a:bodyPr/>
                    <a:lstStyle/>
                    <a:p>
                      <a:pPr algn="ctr"/>
                      <a:r>
                        <a:rPr sz="1100" b="1">
                          <a:solidFill>
                            <a:srgbClr val="24312B"/>
                          </a:solidFill>
                          <a:latin typeface="Calibri"/>
                        </a:rPr>
                        <a:t>~</a:t>
                      </a:r>
                    </a:p>
                  </a:txBody>
                  <a:tcPr marL="54864" marR="54864" marT="9144" marB="9144" anchor="ctr">
                    <a:solidFill>
                      <a:srgbClr val="E6BD7C"/>
                    </a:solidFill>
                  </a:tcPr>
                </a:tc>
                <a:tc>
                  <a:txBody>
                    <a:bodyPr/>
                    <a:lstStyle/>
                    <a:p>
                      <a:pPr algn="ctr"/>
                      <a:r>
                        <a:rPr sz="1100" b="1">
                          <a:solidFill>
                            <a:srgbClr val="FFFFFF"/>
                          </a:solidFill>
                          <a:latin typeface="Calibri"/>
                        </a:rPr>
                        <a:t>✓</a:t>
                      </a:r>
                    </a:p>
                  </a:txBody>
                  <a:tcPr marL="54864" marR="54864" marT="9144" marB="9144" anchor="ctr">
                    <a:solidFill>
                      <a:srgbClr val="B8863B"/>
                    </a:solidFill>
                  </a:tcPr>
                </a:tc>
                <a:tc>
                  <a:txBody>
                    <a:bodyPr/>
                    <a:lstStyle/>
                    <a:p>
                      <a:pPr algn="ctr"/>
                      <a:r>
                        <a:rPr sz="1100" b="1">
                          <a:solidFill>
                            <a:srgbClr val="68796F"/>
                          </a:solidFill>
                          <a:latin typeface="Calibri"/>
                        </a:rPr>
                        <a:t>?</a:t>
                      </a:r>
                    </a:p>
                  </a:txBody>
                  <a:tcPr marL="54864" marR="54864" marT="9144" marB="9144" anchor="ctr">
                    <a:solidFill>
                      <a:srgbClr val="E6E2D8"/>
                    </a:solidFill>
                  </a:tcPr>
                </a:tc>
                <a:tc>
                  <a:txBody>
                    <a:bodyPr/>
                    <a:lstStyle/>
                    <a:p>
                      <a:pPr algn="ctr"/>
                      <a:r>
                        <a:rPr sz="1100" b="1">
                          <a:solidFill>
                            <a:srgbClr val="68796F"/>
                          </a:solidFill>
                          <a:latin typeface="Calibri"/>
                        </a:rPr>
                        <a:t>?</a:t>
                      </a:r>
                    </a:p>
                  </a:txBody>
                  <a:tcPr marL="54864" marR="54864" marT="9144" marB="9144" anchor="ctr">
                    <a:solidFill>
                      <a:srgbClr val="E6E2D8"/>
                    </a:solidFill>
                  </a:tcPr>
                </a:tc>
                <a:tc>
                  <a:txBody>
                    <a:bodyPr/>
                    <a:lstStyle/>
                    <a:p>
                      <a:pPr algn="ctr"/>
                      <a:r>
                        <a:rPr sz="1100" b="1">
                          <a:solidFill>
                            <a:srgbClr val="FFFFFF"/>
                          </a:solidFill>
                          <a:latin typeface="Calibri"/>
                        </a:rPr>
                        <a:t>✓</a:t>
                      </a:r>
                    </a:p>
                  </a:txBody>
                  <a:tcPr marL="54864" marR="54864" marT="9144" marB="9144" anchor="ctr">
                    <a:solidFill>
                      <a:srgbClr val="B8863B"/>
                    </a:solidFill>
                  </a:tcPr>
                </a:tc>
                <a:tc>
                  <a:txBody>
                    <a:bodyPr/>
                    <a:lstStyle/>
                    <a:p>
                      <a:pPr algn="ctr"/>
                      <a:r>
                        <a:rPr sz="1100" b="1">
                          <a:solidFill>
                            <a:srgbClr val="68796F"/>
                          </a:solidFill>
                          <a:latin typeface="Calibri"/>
                        </a:rPr>
                        <a:t>?</a:t>
                      </a:r>
                    </a:p>
                  </a:txBody>
                  <a:tcPr marL="54864" marR="54864" marT="9144" marB="9144" anchor="ctr">
                    <a:solidFill>
                      <a:srgbClr val="E6E2D8"/>
                    </a:solidFill>
                  </a:tcPr>
                </a:tc>
                <a:tc>
                  <a:txBody>
                    <a:bodyPr/>
                    <a:lstStyle/>
                    <a:p>
                      <a:pPr algn="ctr"/>
                      <a:r>
                        <a:rPr sz="1100" b="1">
                          <a:solidFill>
                            <a:srgbClr val="FFFFFF"/>
                          </a:solidFill>
                          <a:latin typeface="Calibri"/>
                        </a:rPr>
                        <a:t>✓</a:t>
                      </a:r>
                    </a:p>
                  </a:txBody>
                  <a:tcPr marL="54864" marR="54864" marT="9144" marB="9144" anchor="ctr">
                    <a:solidFill>
                      <a:srgbClr val="B8863B"/>
                    </a:solidFill>
                  </a:tcPr>
                </a:tc>
              </a:tr>
              <a:tr h="362243">
                <a:tc>
                  <a:txBody>
                    <a:bodyPr/>
                    <a:lstStyle/>
                    <a:p>
                      <a:pPr algn="l"/>
                      <a:r>
                        <a:rPr sz="1000" b="1">
                          <a:solidFill>
                            <a:srgbClr val="24312B"/>
                          </a:solidFill>
                          <a:latin typeface="Calibri"/>
                        </a:rPr>
                        <a:t>CoutureCiel</a:t>
                      </a:r>
                    </a:p>
                  </a:txBody>
                  <a:tcPr marL="54864" marR="54864" marT="9144" marB="9144" anchor="ctr">
                    <a:solidFill>
                      <a:srgbClr val="FAF7F0"/>
                    </a:solidFill>
                  </a:tcPr>
                </a:tc>
                <a:tc>
                  <a:txBody>
                    <a:bodyPr/>
                    <a:lstStyle/>
                    <a:p>
                      <a:pPr algn="ctr"/>
                      <a:r>
                        <a:rPr sz="1100" b="1">
                          <a:solidFill>
                            <a:srgbClr val="FFFFFF"/>
                          </a:solidFill>
                          <a:latin typeface="Calibri"/>
                        </a:rPr>
                        <a:t>✓</a:t>
                      </a:r>
                    </a:p>
                  </a:txBody>
                  <a:tcPr marL="54864" marR="54864" marT="9144" marB="9144" anchor="ctr">
                    <a:solidFill>
                      <a:srgbClr val="B8863B"/>
                    </a:solidFill>
                  </a:tcPr>
                </a:tc>
                <a:tc>
                  <a:txBody>
                    <a:bodyPr/>
                    <a:lstStyle/>
                    <a:p>
                      <a:pPr algn="ctr"/>
                      <a:r>
                        <a:rPr sz="1100" b="1">
                          <a:solidFill>
                            <a:srgbClr val="68796F"/>
                          </a:solidFill>
                          <a:latin typeface="Calibri"/>
                        </a:rPr>
                        <a:t>?</a:t>
                      </a:r>
                    </a:p>
                  </a:txBody>
                  <a:tcPr marL="54864" marR="54864" marT="9144" marB="9144" anchor="ctr">
                    <a:solidFill>
                      <a:srgbClr val="E6E2D8"/>
                    </a:solidFill>
                  </a:tcPr>
                </a:tc>
                <a:tc>
                  <a:txBody>
                    <a:bodyPr/>
                    <a:lstStyle/>
                    <a:p>
                      <a:pPr algn="ctr"/>
                      <a:r>
                        <a:rPr sz="1100" b="1">
                          <a:solidFill>
                            <a:srgbClr val="FFFFFF"/>
                          </a:solidFill>
                          <a:latin typeface="Calibri"/>
                        </a:rPr>
                        <a:t>✓</a:t>
                      </a:r>
                    </a:p>
                  </a:txBody>
                  <a:tcPr marL="54864" marR="54864" marT="9144" marB="9144" anchor="ctr">
                    <a:solidFill>
                      <a:srgbClr val="B8863B"/>
                    </a:solidFill>
                  </a:tcPr>
                </a:tc>
                <a:tc>
                  <a:txBody>
                    <a:bodyPr/>
                    <a:lstStyle/>
                    <a:p>
                      <a:pPr algn="ctr"/>
                      <a:r>
                        <a:rPr sz="1100" b="1">
                          <a:solidFill>
                            <a:srgbClr val="68796F"/>
                          </a:solidFill>
                          <a:latin typeface="Calibri"/>
                        </a:rPr>
                        <a:t>?</a:t>
                      </a:r>
                    </a:p>
                  </a:txBody>
                  <a:tcPr marL="54864" marR="54864" marT="9144" marB="9144" anchor="ctr">
                    <a:solidFill>
                      <a:srgbClr val="E6E2D8"/>
                    </a:solidFill>
                  </a:tcPr>
                </a:tc>
                <a:tc>
                  <a:txBody>
                    <a:bodyPr/>
                    <a:lstStyle/>
                    <a:p>
                      <a:pPr algn="ctr"/>
                      <a:r>
                        <a:rPr sz="1100" b="1">
                          <a:solidFill>
                            <a:srgbClr val="FFFFFF"/>
                          </a:solidFill>
                          <a:latin typeface="Calibri"/>
                        </a:rPr>
                        <a:t>✓</a:t>
                      </a:r>
                    </a:p>
                  </a:txBody>
                  <a:tcPr marL="54864" marR="54864" marT="9144" marB="9144" anchor="ctr">
                    <a:solidFill>
                      <a:srgbClr val="B8863B"/>
                    </a:solidFill>
                  </a:tcPr>
                </a:tc>
                <a:tc>
                  <a:txBody>
                    <a:bodyPr/>
                    <a:lstStyle/>
                    <a:p>
                      <a:pPr algn="ctr"/>
                      <a:r>
                        <a:rPr sz="1100" b="1">
                          <a:solidFill>
                            <a:srgbClr val="68796F"/>
                          </a:solidFill>
                          <a:latin typeface="Calibri"/>
                        </a:rPr>
                        <a:t>?</a:t>
                      </a:r>
                    </a:p>
                  </a:txBody>
                  <a:tcPr marL="54864" marR="54864" marT="9144" marB="9144" anchor="ctr">
                    <a:solidFill>
                      <a:srgbClr val="E6E2D8"/>
                    </a:solidFill>
                  </a:tcPr>
                </a:tc>
                <a:tc>
                  <a:txBody>
                    <a:bodyPr/>
                    <a:lstStyle/>
                    <a:p>
                      <a:pPr algn="ctr"/>
                      <a:r>
                        <a:rPr sz="1100" b="1">
                          <a:solidFill>
                            <a:srgbClr val="FFFFFF"/>
                          </a:solidFill>
                          <a:latin typeface="Calibri"/>
                        </a:rPr>
                        <a:t>✕</a:t>
                      </a:r>
                    </a:p>
                  </a:txBody>
                  <a:tcPr marL="54864" marR="54864" marT="9144" marB="9144" anchor="ctr">
                    <a:solidFill>
                      <a:srgbClr val="D97706"/>
                    </a:solidFill>
                  </a:tcPr>
                </a:tc>
                <a:tc>
                  <a:txBody>
                    <a:bodyPr/>
                    <a:lstStyle/>
                    <a:p>
                      <a:pPr algn="ctr"/>
                      <a:r>
                        <a:rPr sz="1100" b="1">
                          <a:solidFill>
                            <a:srgbClr val="68796F"/>
                          </a:solidFill>
                          <a:latin typeface="Calibri"/>
                        </a:rPr>
                        <a:t>?</a:t>
                      </a:r>
                    </a:p>
                  </a:txBody>
                  <a:tcPr marL="54864" marR="54864" marT="9144" marB="9144" anchor="ctr">
                    <a:solidFill>
                      <a:srgbClr val="E6E2D8"/>
                    </a:solidFill>
                  </a:tcPr>
                </a:tc>
              </a:tr>
              <a:tr h="362243">
                <a:tc>
                  <a:txBody>
                    <a:bodyPr/>
                    <a:lstStyle/>
                    <a:p>
                      <a:pPr algn="l"/>
                      <a:r>
                        <a:rPr sz="1000" b="1">
                          <a:solidFill>
                            <a:srgbClr val="24312B"/>
                          </a:solidFill>
                          <a:latin typeface="Calibri"/>
                        </a:rPr>
                        <a:t>SmartCouture</a:t>
                      </a:r>
                    </a:p>
                  </a:txBody>
                  <a:tcPr marL="54864" marR="54864" marT="9144" marB="9144" anchor="ctr">
                    <a:solidFill>
                      <a:srgbClr val="FFFFFF"/>
                    </a:solidFill>
                  </a:tcPr>
                </a:tc>
                <a:tc>
                  <a:txBody>
                    <a:bodyPr/>
                    <a:lstStyle/>
                    <a:p>
                      <a:pPr algn="ctr"/>
                      <a:r>
                        <a:rPr sz="1100" b="1">
                          <a:solidFill>
                            <a:srgbClr val="FFFFFF"/>
                          </a:solidFill>
                          <a:latin typeface="Calibri"/>
                        </a:rPr>
                        <a:t>✓</a:t>
                      </a:r>
                    </a:p>
                  </a:txBody>
                  <a:tcPr marL="54864" marR="54864" marT="9144" marB="9144" anchor="ctr">
                    <a:solidFill>
                      <a:srgbClr val="B8863B"/>
                    </a:solidFill>
                  </a:tcPr>
                </a:tc>
                <a:tc>
                  <a:txBody>
                    <a:bodyPr/>
                    <a:lstStyle/>
                    <a:p>
                      <a:pPr algn="ctr"/>
                      <a:r>
                        <a:rPr sz="1100" b="1">
                          <a:solidFill>
                            <a:srgbClr val="FFFFFF"/>
                          </a:solidFill>
                          <a:latin typeface="Calibri"/>
                        </a:rPr>
                        <a:t>✓</a:t>
                      </a:r>
                    </a:p>
                  </a:txBody>
                  <a:tcPr marL="54864" marR="54864" marT="9144" marB="9144" anchor="ctr">
                    <a:solidFill>
                      <a:srgbClr val="B8863B"/>
                    </a:solidFill>
                  </a:tcPr>
                </a:tc>
                <a:tc>
                  <a:txBody>
                    <a:bodyPr/>
                    <a:lstStyle/>
                    <a:p>
                      <a:pPr algn="ctr"/>
                      <a:r>
                        <a:rPr sz="1100" b="1">
                          <a:solidFill>
                            <a:srgbClr val="FFFFFF"/>
                          </a:solidFill>
                          <a:latin typeface="Calibri"/>
                        </a:rPr>
                        <a:t>✓</a:t>
                      </a:r>
                    </a:p>
                  </a:txBody>
                  <a:tcPr marL="54864" marR="54864" marT="9144" marB="9144" anchor="ctr">
                    <a:solidFill>
                      <a:srgbClr val="B8863B"/>
                    </a:solidFill>
                  </a:tcPr>
                </a:tc>
                <a:tc>
                  <a:txBody>
                    <a:bodyPr/>
                    <a:lstStyle/>
                    <a:p>
                      <a:pPr algn="ctr"/>
                      <a:r>
                        <a:rPr sz="1100" b="1">
                          <a:solidFill>
                            <a:srgbClr val="68796F"/>
                          </a:solidFill>
                          <a:latin typeface="Calibri"/>
                        </a:rPr>
                        <a:t>?</a:t>
                      </a:r>
                    </a:p>
                  </a:txBody>
                  <a:tcPr marL="54864" marR="54864" marT="9144" marB="9144" anchor="ctr">
                    <a:solidFill>
                      <a:srgbClr val="E6E2D8"/>
                    </a:solidFill>
                  </a:tcPr>
                </a:tc>
                <a:tc>
                  <a:txBody>
                    <a:bodyPr/>
                    <a:lstStyle/>
                    <a:p>
                      <a:pPr algn="ctr"/>
                      <a:r>
                        <a:rPr sz="1100" b="1">
                          <a:solidFill>
                            <a:srgbClr val="68796F"/>
                          </a:solidFill>
                          <a:latin typeface="Calibri"/>
                        </a:rPr>
                        <a:t>?</a:t>
                      </a:r>
                    </a:p>
                  </a:txBody>
                  <a:tcPr marL="54864" marR="54864" marT="9144" marB="9144" anchor="ctr">
                    <a:solidFill>
                      <a:srgbClr val="E6E2D8"/>
                    </a:solidFill>
                  </a:tcPr>
                </a:tc>
                <a:tc>
                  <a:txBody>
                    <a:bodyPr/>
                    <a:lstStyle/>
                    <a:p>
                      <a:pPr algn="ctr"/>
                      <a:r>
                        <a:rPr sz="1100" b="1">
                          <a:solidFill>
                            <a:srgbClr val="68796F"/>
                          </a:solidFill>
                          <a:latin typeface="Calibri"/>
                        </a:rPr>
                        <a:t>?</a:t>
                      </a:r>
                    </a:p>
                  </a:txBody>
                  <a:tcPr marL="54864" marR="54864" marT="9144" marB="9144" anchor="ctr">
                    <a:solidFill>
                      <a:srgbClr val="E6E2D8"/>
                    </a:solidFill>
                  </a:tcPr>
                </a:tc>
                <a:tc>
                  <a:txBody>
                    <a:bodyPr/>
                    <a:lstStyle/>
                    <a:p>
                      <a:pPr algn="ctr"/>
                      <a:r>
                        <a:rPr sz="1100" b="1">
                          <a:solidFill>
                            <a:srgbClr val="68796F"/>
                          </a:solidFill>
                          <a:latin typeface="Calibri"/>
                        </a:rPr>
                        <a:t>?</a:t>
                      </a:r>
                    </a:p>
                  </a:txBody>
                  <a:tcPr marL="54864" marR="54864" marT="9144" marB="9144" anchor="ctr">
                    <a:solidFill>
                      <a:srgbClr val="E6E2D8"/>
                    </a:solidFill>
                  </a:tcPr>
                </a:tc>
                <a:tc>
                  <a:txBody>
                    <a:bodyPr/>
                    <a:lstStyle/>
                    <a:p>
                      <a:pPr algn="ctr"/>
                      <a:r>
                        <a:rPr sz="1100" b="1">
                          <a:solidFill>
                            <a:srgbClr val="FFFFFF"/>
                          </a:solidFill>
                          <a:latin typeface="Calibri"/>
                        </a:rPr>
                        <a:t>✓</a:t>
                      </a:r>
                    </a:p>
                  </a:txBody>
                  <a:tcPr marL="54864" marR="54864" marT="9144" marB="9144" anchor="ctr">
                    <a:solidFill>
                      <a:srgbClr val="B8863B"/>
                    </a:solidFill>
                  </a:tcPr>
                </a:tc>
              </a:tr>
              <a:tr h="362243">
                <a:tc>
                  <a:txBody>
                    <a:bodyPr/>
                    <a:lstStyle/>
                    <a:p>
                      <a:pPr algn="l"/>
                      <a:r>
                        <a:rPr sz="1000" b="1">
                          <a:solidFill>
                            <a:srgbClr val="24312B"/>
                          </a:solidFill>
                          <a:latin typeface="Calibri"/>
                        </a:rPr>
                        <a:t>MonAtelier</a:t>
                      </a:r>
                    </a:p>
                  </a:txBody>
                  <a:tcPr marL="54864" marR="54864" marT="9144" marB="9144" anchor="ctr">
                    <a:solidFill>
                      <a:srgbClr val="FAF7F0"/>
                    </a:solidFill>
                  </a:tcPr>
                </a:tc>
                <a:tc>
                  <a:txBody>
                    <a:bodyPr/>
                    <a:lstStyle/>
                    <a:p>
                      <a:pPr algn="ctr"/>
                      <a:r>
                        <a:rPr sz="1100" b="1">
                          <a:solidFill>
                            <a:srgbClr val="FFFFFF"/>
                          </a:solidFill>
                          <a:latin typeface="Calibri"/>
                        </a:rPr>
                        <a:t>✓</a:t>
                      </a:r>
                    </a:p>
                  </a:txBody>
                  <a:tcPr marL="54864" marR="54864" marT="9144" marB="9144" anchor="ctr">
                    <a:solidFill>
                      <a:srgbClr val="B8863B"/>
                    </a:solidFill>
                  </a:tcPr>
                </a:tc>
                <a:tc>
                  <a:txBody>
                    <a:bodyPr/>
                    <a:lstStyle/>
                    <a:p>
                      <a:pPr algn="ctr"/>
                      <a:r>
                        <a:rPr sz="1100" b="1">
                          <a:solidFill>
                            <a:srgbClr val="FFFFFF"/>
                          </a:solidFill>
                          <a:latin typeface="Calibri"/>
                        </a:rPr>
                        <a:t>✓</a:t>
                      </a:r>
                    </a:p>
                  </a:txBody>
                  <a:tcPr marL="54864" marR="54864" marT="9144" marB="9144" anchor="ctr">
                    <a:solidFill>
                      <a:srgbClr val="B8863B"/>
                    </a:solidFill>
                  </a:tcPr>
                </a:tc>
                <a:tc>
                  <a:txBody>
                    <a:bodyPr/>
                    <a:lstStyle/>
                    <a:p>
                      <a:pPr algn="ctr"/>
                      <a:r>
                        <a:rPr sz="1100" b="1">
                          <a:solidFill>
                            <a:srgbClr val="FFFFFF"/>
                          </a:solidFill>
                          <a:latin typeface="Calibri"/>
                        </a:rPr>
                        <a:t>✓</a:t>
                      </a:r>
                    </a:p>
                  </a:txBody>
                  <a:tcPr marL="54864" marR="54864" marT="9144" marB="9144" anchor="ctr">
                    <a:solidFill>
                      <a:srgbClr val="B8863B"/>
                    </a:solidFill>
                  </a:tcPr>
                </a:tc>
                <a:tc>
                  <a:txBody>
                    <a:bodyPr/>
                    <a:lstStyle/>
                    <a:p>
                      <a:pPr algn="ctr"/>
                      <a:r>
                        <a:rPr sz="1100" b="1">
                          <a:solidFill>
                            <a:srgbClr val="FFFFFF"/>
                          </a:solidFill>
                          <a:latin typeface="Calibri"/>
                        </a:rPr>
                        <a:t>✓</a:t>
                      </a:r>
                    </a:p>
                  </a:txBody>
                  <a:tcPr marL="54864" marR="54864" marT="9144" marB="9144" anchor="ctr">
                    <a:solidFill>
                      <a:srgbClr val="B8863B"/>
                    </a:solidFill>
                  </a:tcPr>
                </a:tc>
                <a:tc>
                  <a:txBody>
                    <a:bodyPr/>
                    <a:lstStyle/>
                    <a:p>
                      <a:pPr algn="ctr"/>
                      <a:r>
                        <a:rPr sz="1100" b="1">
                          <a:solidFill>
                            <a:srgbClr val="68796F"/>
                          </a:solidFill>
                          <a:latin typeface="Calibri"/>
                        </a:rPr>
                        <a:t>?</a:t>
                      </a:r>
                    </a:p>
                  </a:txBody>
                  <a:tcPr marL="54864" marR="54864" marT="9144" marB="9144" anchor="ctr">
                    <a:solidFill>
                      <a:srgbClr val="E6E2D8"/>
                    </a:solidFill>
                  </a:tcPr>
                </a:tc>
                <a:tc>
                  <a:txBody>
                    <a:bodyPr/>
                    <a:lstStyle/>
                    <a:p>
                      <a:pPr algn="ctr"/>
                      <a:r>
                        <a:rPr sz="1100" b="1">
                          <a:solidFill>
                            <a:srgbClr val="FFFFFF"/>
                          </a:solidFill>
                          <a:latin typeface="Calibri"/>
                        </a:rPr>
                        <a:t>✓</a:t>
                      </a:r>
                    </a:p>
                  </a:txBody>
                  <a:tcPr marL="54864" marR="54864" marT="9144" marB="9144" anchor="ctr">
                    <a:solidFill>
                      <a:srgbClr val="B8863B"/>
                    </a:solidFill>
                  </a:tcPr>
                </a:tc>
                <a:tc>
                  <a:txBody>
                    <a:bodyPr/>
                    <a:lstStyle/>
                    <a:p>
                      <a:pPr algn="ctr"/>
                      <a:r>
                        <a:rPr sz="1100" b="1">
                          <a:solidFill>
                            <a:srgbClr val="FFFFFF"/>
                          </a:solidFill>
                          <a:latin typeface="Calibri"/>
                        </a:rPr>
                        <a:t>✓</a:t>
                      </a:r>
                    </a:p>
                  </a:txBody>
                  <a:tcPr marL="54864" marR="54864" marT="9144" marB="9144" anchor="ctr">
                    <a:solidFill>
                      <a:srgbClr val="B8863B"/>
                    </a:solidFill>
                  </a:tcPr>
                </a:tc>
                <a:tc>
                  <a:txBody>
                    <a:bodyPr/>
                    <a:lstStyle/>
                    <a:p>
                      <a:pPr algn="ctr"/>
                      <a:r>
                        <a:rPr sz="1100" b="1">
                          <a:solidFill>
                            <a:srgbClr val="68796F"/>
                          </a:solidFill>
                          <a:latin typeface="Calibri"/>
                        </a:rPr>
                        <a:t>?</a:t>
                      </a:r>
                    </a:p>
                  </a:txBody>
                  <a:tcPr marL="54864" marR="54864" marT="9144" marB="9144" anchor="ctr">
                    <a:solidFill>
                      <a:srgbClr val="E6E2D8"/>
                    </a:solidFill>
                  </a:tcPr>
                </a:tc>
              </a:tr>
              <a:tr h="362243">
                <a:tc>
                  <a:txBody>
                    <a:bodyPr/>
                    <a:lstStyle/>
                    <a:p>
                      <a:pPr algn="l"/>
                      <a:r>
                        <a:rPr sz="1000" b="1">
                          <a:solidFill>
                            <a:srgbClr val="24312B"/>
                          </a:solidFill>
                          <a:latin typeface="Calibri"/>
                        </a:rPr>
                        <a:t>TailorMate</a:t>
                      </a:r>
                    </a:p>
                  </a:txBody>
                  <a:tcPr marL="54864" marR="54864" marT="9144" marB="9144" anchor="ctr">
                    <a:solidFill>
                      <a:srgbClr val="FFFFFF"/>
                    </a:solidFill>
                  </a:tcPr>
                </a:tc>
                <a:tc>
                  <a:txBody>
                    <a:bodyPr/>
                    <a:lstStyle/>
                    <a:p>
                      <a:pPr algn="ctr"/>
                      <a:r>
                        <a:rPr sz="1100" b="1">
                          <a:solidFill>
                            <a:srgbClr val="FFFFFF"/>
                          </a:solidFill>
                          <a:latin typeface="Calibri"/>
                        </a:rPr>
                        <a:t>✓</a:t>
                      </a:r>
                    </a:p>
                  </a:txBody>
                  <a:tcPr marL="54864" marR="54864" marT="9144" marB="9144" anchor="ctr">
                    <a:solidFill>
                      <a:srgbClr val="B8863B"/>
                    </a:solidFill>
                  </a:tcPr>
                </a:tc>
                <a:tc>
                  <a:txBody>
                    <a:bodyPr/>
                    <a:lstStyle/>
                    <a:p>
                      <a:pPr algn="ctr"/>
                      <a:r>
                        <a:rPr sz="1100" b="1">
                          <a:solidFill>
                            <a:srgbClr val="FFFFFF"/>
                          </a:solidFill>
                          <a:latin typeface="Calibri"/>
                        </a:rPr>
                        <a:t>✓</a:t>
                      </a:r>
                    </a:p>
                  </a:txBody>
                  <a:tcPr marL="54864" marR="54864" marT="9144" marB="9144" anchor="ctr">
                    <a:solidFill>
                      <a:srgbClr val="B8863B"/>
                    </a:solidFill>
                  </a:tcPr>
                </a:tc>
                <a:tc>
                  <a:txBody>
                    <a:bodyPr/>
                    <a:lstStyle/>
                    <a:p>
                      <a:pPr algn="ctr"/>
                      <a:r>
                        <a:rPr sz="1100" b="1">
                          <a:solidFill>
                            <a:srgbClr val="FFFFFF"/>
                          </a:solidFill>
                          <a:latin typeface="Calibri"/>
                        </a:rPr>
                        <a:t>✓</a:t>
                      </a:r>
                    </a:p>
                  </a:txBody>
                  <a:tcPr marL="54864" marR="54864" marT="9144" marB="9144" anchor="ctr">
                    <a:solidFill>
                      <a:srgbClr val="B8863B"/>
                    </a:solidFill>
                  </a:tcPr>
                </a:tc>
                <a:tc>
                  <a:txBody>
                    <a:bodyPr/>
                    <a:lstStyle/>
                    <a:p>
                      <a:pPr algn="ctr"/>
                      <a:r>
                        <a:rPr sz="1100" b="1">
                          <a:solidFill>
                            <a:srgbClr val="68796F"/>
                          </a:solidFill>
                          <a:latin typeface="Calibri"/>
                        </a:rPr>
                        <a:t>?</a:t>
                      </a:r>
                    </a:p>
                  </a:txBody>
                  <a:tcPr marL="54864" marR="54864" marT="9144" marB="9144" anchor="ctr">
                    <a:solidFill>
                      <a:srgbClr val="E6E2D8"/>
                    </a:solidFill>
                  </a:tcPr>
                </a:tc>
                <a:tc>
                  <a:txBody>
                    <a:bodyPr/>
                    <a:lstStyle/>
                    <a:p>
                      <a:pPr algn="ctr"/>
                      <a:r>
                        <a:rPr sz="1100" b="1">
                          <a:solidFill>
                            <a:srgbClr val="FFFFFF"/>
                          </a:solidFill>
                          <a:latin typeface="Calibri"/>
                        </a:rPr>
                        <a:t>✓</a:t>
                      </a:r>
                    </a:p>
                  </a:txBody>
                  <a:tcPr marL="54864" marR="54864" marT="9144" marB="9144" anchor="ctr">
                    <a:solidFill>
                      <a:srgbClr val="B8863B"/>
                    </a:solidFill>
                  </a:tcPr>
                </a:tc>
                <a:tc>
                  <a:txBody>
                    <a:bodyPr/>
                    <a:lstStyle/>
                    <a:p>
                      <a:pPr algn="ctr"/>
                      <a:r>
                        <a:rPr sz="1100" b="1">
                          <a:solidFill>
                            <a:srgbClr val="68796F"/>
                          </a:solidFill>
                          <a:latin typeface="Calibri"/>
                        </a:rPr>
                        <a:t>?</a:t>
                      </a:r>
                    </a:p>
                  </a:txBody>
                  <a:tcPr marL="54864" marR="54864" marT="9144" marB="9144" anchor="ctr">
                    <a:solidFill>
                      <a:srgbClr val="E6E2D8"/>
                    </a:solidFill>
                  </a:tcPr>
                </a:tc>
                <a:tc>
                  <a:txBody>
                    <a:bodyPr/>
                    <a:lstStyle/>
                    <a:p>
                      <a:pPr algn="ctr"/>
                      <a:r>
                        <a:rPr sz="1100" b="1">
                          <a:solidFill>
                            <a:srgbClr val="68796F"/>
                          </a:solidFill>
                          <a:latin typeface="Calibri"/>
                        </a:rPr>
                        <a:t>?</a:t>
                      </a:r>
                    </a:p>
                  </a:txBody>
                  <a:tcPr marL="54864" marR="54864" marT="9144" marB="9144" anchor="ctr">
                    <a:solidFill>
                      <a:srgbClr val="E6E2D8"/>
                    </a:solidFill>
                  </a:tcPr>
                </a:tc>
                <a:tc>
                  <a:txBody>
                    <a:bodyPr/>
                    <a:lstStyle/>
                    <a:p>
                      <a:pPr algn="ctr"/>
                      <a:r>
                        <a:rPr sz="1100" b="1">
                          <a:solidFill>
                            <a:srgbClr val="FFFFFF"/>
                          </a:solidFill>
                          <a:latin typeface="Calibri"/>
                        </a:rPr>
                        <a:t>✓</a:t>
                      </a:r>
                    </a:p>
                  </a:txBody>
                  <a:tcPr marL="54864" marR="54864" marT="9144" marB="9144" anchor="ctr">
                    <a:solidFill>
                      <a:srgbClr val="B8863B"/>
                    </a:solidFill>
                  </a:tcPr>
                </a:tc>
              </a:tr>
              <a:tr h="362243">
                <a:tc>
                  <a:txBody>
                    <a:bodyPr/>
                    <a:lstStyle/>
                    <a:p>
                      <a:pPr algn="l"/>
                      <a:r>
                        <a:rPr sz="1000" b="1">
                          <a:solidFill>
                            <a:srgbClr val="24312B"/>
                          </a:solidFill>
                          <a:latin typeface="Calibri"/>
                        </a:rPr>
                        <a:t>TailorPad</a:t>
                      </a:r>
                    </a:p>
                  </a:txBody>
                  <a:tcPr marL="54864" marR="54864" marT="9144" marB="9144" anchor="ctr">
                    <a:solidFill>
                      <a:srgbClr val="FAF7F0"/>
                    </a:solidFill>
                  </a:tcPr>
                </a:tc>
                <a:tc>
                  <a:txBody>
                    <a:bodyPr/>
                    <a:lstStyle/>
                    <a:p>
                      <a:pPr algn="ctr"/>
                      <a:r>
                        <a:rPr sz="1100" b="1">
                          <a:solidFill>
                            <a:srgbClr val="FFFFFF"/>
                          </a:solidFill>
                          <a:latin typeface="Calibri"/>
                        </a:rPr>
                        <a:t>✓</a:t>
                      </a:r>
                    </a:p>
                  </a:txBody>
                  <a:tcPr marL="54864" marR="54864" marT="9144" marB="9144" anchor="ctr">
                    <a:solidFill>
                      <a:srgbClr val="B8863B"/>
                    </a:solidFill>
                  </a:tcPr>
                </a:tc>
                <a:tc>
                  <a:txBody>
                    <a:bodyPr/>
                    <a:lstStyle/>
                    <a:p>
                      <a:pPr algn="ctr"/>
                      <a:r>
                        <a:rPr sz="1100" b="1">
                          <a:solidFill>
                            <a:srgbClr val="FFFFFF"/>
                          </a:solidFill>
                          <a:latin typeface="Calibri"/>
                        </a:rPr>
                        <a:t>✓</a:t>
                      </a:r>
                    </a:p>
                  </a:txBody>
                  <a:tcPr marL="54864" marR="54864" marT="9144" marB="9144" anchor="ctr">
                    <a:solidFill>
                      <a:srgbClr val="B8863B"/>
                    </a:solidFill>
                  </a:tcPr>
                </a:tc>
                <a:tc>
                  <a:txBody>
                    <a:bodyPr/>
                    <a:lstStyle/>
                    <a:p>
                      <a:pPr algn="ctr"/>
                      <a:r>
                        <a:rPr sz="1100" b="1">
                          <a:solidFill>
                            <a:srgbClr val="FFFFFF"/>
                          </a:solidFill>
                          <a:latin typeface="Calibri"/>
                        </a:rPr>
                        <a:t>✓</a:t>
                      </a:r>
                    </a:p>
                  </a:txBody>
                  <a:tcPr marL="54864" marR="54864" marT="9144" marB="9144" anchor="ctr">
                    <a:solidFill>
                      <a:srgbClr val="B8863B"/>
                    </a:solidFill>
                  </a:tcPr>
                </a:tc>
                <a:tc>
                  <a:txBody>
                    <a:bodyPr/>
                    <a:lstStyle/>
                    <a:p>
                      <a:pPr algn="ctr"/>
                      <a:r>
                        <a:rPr sz="1100" b="1">
                          <a:solidFill>
                            <a:srgbClr val="FFFFFF"/>
                          </a:solidFill>
                          <a:latin typeface="Calibri"/>
                        </a:rPr>
                        <a:t>✓</a:t>
                      </a:r>
                    </a:p>
                  </a:txBody>
                  <a:tcPr marL="54864" marR="54864" marT="9144" marB="9144" anchor="ctr">
                    <a:solidFill>
                      <a:srgbClr val="B8863B"/>
                    </a:solidFill>
                  </a:tcPr>
                </a:tc>
                <a:tc>
                  <a:txBody>
                    <a:bodyPr/>
                    <a:lstStyle/>
                    <a:p>
                      <a:pPr algn="ctr"/>
                      <a:r>
                        <a:rPr sz="1100" b="1">
                          <a:solidFill>
                            <a:srgbClr val="FFFFFF"/>
                          </a:solidFill>
                          <a:latin typeface="Calibri"/>
                        </a:rPr>
                        <a:t>✓</a:t>
                      </a:r>
                    </a:p>
                  </a:txBody>
                  <a:tcPr marL="54864" marR="54864" marT="9144" marB="9144" anchor="ctr">
                    <a:solidFill>
                      <a:srgbClr val="B8863B"/>
                    </a:solidFill>
                  </a:tcPr>
                </a:tc>
                <a:tc>
                  <a:txBody>
                    <a:bodyPr/>
                    <a:lstStyle/>
                    <a:p>
                      <a:pPr algn="ctr"/>
                      <a:r>
                        <a:rPr sz="1100" b="1">
                          <a:solidFill>
                            <a:srgbClr val="68796F"/>
                          </a:solidFill>
                          <a:latin typeface="Calibri"/>
                        </a:rPr>
                        <a:t>?</a:t>
                      </a:r>
                    </a:p>
                  </a:txBody>
                  <a:tcPr marL="54864" marR="54864" marT="9144" marB="9144" anchor="ctr">
                    <a:solidFill>
                      <a:srgbClr val="E6E2D8"/>
                    </a:solidFill>
                  </a:tcPr>
                </a:tc>
                <a:tc>
                  <a:txBody>
                    <a:bodyPr/>
                    <a:lstStyle/>
                    <a:p>
                      <a:pPr algn="ctr"/>
                      <a:r>
                        <a:rPr sz="1100" b="1">
                          <a:solidFill>
                            <a:srgbClr val="68796F"/>
                          </a:solidFill>
                          <a:latin typeface="Calibri"/>
                        </a:rPr>
                        <a:t>?</a:t>
                      </a:r>
                    </a:p>
                  </a:txBody>
                  <a:tcPr marL="54864" marR="54864" marT="9144" marB="9144" anchor="ctr">
                    <a:solidFill>
                      <a:srgbClr val="E6E2D8"/>
                    </a:solidFill>
                  </a:tcPr>
                </a:tc>
                <a:tc>
                  <a:txBody>
                    <a:bodyPr/>
                    <a:lstStyle/>
                    <a:p>
                      <a:pPr algn="ctr"/>
                      <a:r>
                        <a:rPr sz="1100" b="1">
                          <a:solidFill>
                            <a:srgbClr val="FFFFFF"/>
                          </a:solidFill>
                          <a:latin typeface="Calibri"/>
                        </a:rPr>
                        <a:t>✓</a:t>
                      </a:r>
                    </a:p>
                  </a:txBody>
                  <a:tcPr marL="54864" marR="54864" marT="9144" marB="9144" anchor="ctr">
                    <a:solidFill>
                      <a:srgbClr val="B8863B"/>
                    </a:solidFill>
                  </a:tcPr>
                </a:tc>
              </a:tr>
              <a:tr h="362243">
                <a:tc>
                  <a:txBody>
                    <a:bodyPr/>
                    <a:lstStyle/>
                    <a:p>
                      <a:pPr algn="l"/>
                      <a:r>
                        <a:rPr sz="1000" b="1">
                          <a:solidFill>
                            <a:srgbClr val="24312B"/>
                          </a:solidFill>
                          <a:latin typeface="Calibri"/>
                        </a:rPr>
                        <a:t>Atelierware</a:t>
                      </a:r>
                    </a:p>
                  </a:txBody>
                  <a:tcPr marL="54864" marR="54864" marT="9144" marB="9144" anchor="ctr">
                    <a:solidFill>
                      <a:srgbClr val="FFFFFF"/>
                    </a:solidFill>
                  </a:tcPr>
                </a:tc>
                <a:tc>
                  <a:txBody>
                    <a:bodyPr/>
                    <a:lstStyle/>
                    <a:p>
                      <a:pPr algn="ctr"/>
                      <a:r>
                        <a:rPr sz="1100" b="1">
                          <a:solidFill>
                            <a:srgbClr val="FFFFFF"/>
                          </a:solidFill>
                          <a:latin typeface="Calibri"/>
                        </a:rPr>
                        <a:t>✓</a:t>
                      </a:r>
                    </a:p>
                  </a:txBody>
                  <a:tcPr marL="54864" marR="54864" marT="9144" marB="9144" anchor="ctr">
                    <a:solidFill>
                      <a:srgbClr val="B8863B"/>
                    </a:solidFill>
                  </a:tcPr>
                </a:tc>
                <a:tc>
                  <a:txBody>
                    <a:bodyPr/>
                    <a:lstStyle/>
                    <a:p>
                      <a:pPr algn="ctr"/>
                      <a:r>
                        <a:rPr sz="1100" b="1">
                          <a:solidFill>
                            <a:srgbClr val="FFFFFF"/>
                          </a:solidFill>
                          <a:latin typeface="Calibri"/>
                        </a:rPr>
                        <a:t>✓</a:t>
                      </a:r>
                    </a:p>
                  </a:txBody>
                  <a:tcPr marL="54864" marR="54864" marT="9144" marB="9144" anchor="ctr">
                    <a:solidFill>
                      <a:srgbClr val="B8863B"/>
                    </a:solidFill>
                  </a:tcPr>
                </a:tc>
                <a:tc>
                  <a:txBody>
                    <a:bodyPr/>
                    <a:lstStyle/>
                    <a:p>
                      <a:pPr algn="ctr"/>
                      <a:r>
                        <a:rPr sz="1100" b="1">
                          <a:solidFill>
                            <a:srgbClr val="FFFFFF"/>
                          </a:solidFill>
                          <a:latin typeface="Calibri"/>
                        </a:rPr>
                        <a:t>✓</a:t>
                      </a:r>
                    </a:p>
                  </a:txBody>
                  <a:tcPr marL="54864" marR="54864" marT="9144" marB="9144" anchor="ctr">
                    <a:solidFill>
                      <a:srgbClr val="B8863B"/>
                    </a:solidFill>
                  </a:tcPr>
                </a:tc>
                <a:tc>
                  <a:txBody>
                    <a:bodyPr/>
                    <a:lstStyle/>
                    <a:p>
                      <a:pPr algn="ctr"/>
                      <a:r>
                        <a:rPr sz="1100" b="1">
                          <a:solidFill>
                            <a:srgbClr val="FFFFFF"/>
                          </a:solidFill>
                          <a:latin typeface="Calibri"/>
                        </a:rPr>
                        <a:t>✓</a:t>
                      </a:r>
                    </a:p>
                  </a:txBody>
                  <a:tcPr marL="54864" marR="54864" marT="9144" marB="9144" anchor="ctr">
                    <a:solidFill>
                      <a:srgbClr val="B8863B"/>
                    </a:solidFill>
                  </a:tcPr>
                </a:tc>
                <a:tc>
                  <a:txBody>
                    <a:bodyPr/>
                    <a:lstStyle/>
                    <a:p>
                      <a:pPr algn="ctr"/>
                      <a:r>
                        <a:rPr sz="1100" b="1">
                          <a:solidFill>
                            <a:srgbClr val="24312B"/>
                          </a:solidFill>
                          <a:latin typeface="Calibri"/>
                        </a:rPr>
                        <a:t>~</a:t>
                      </a:r>
                    </a:p>
                  </a:txBody>
                  <a:tcPr marL="54864" marR="54864" marT="9144" marB="9144" anchor="ctr">
                    <a:solidFill>
                      <a:srgbClr val="E6BD7C"/>
                    </a:solidFill>
                  </a:tcPr>
                </a:tc>
                <a:tc>
                  <a:txBody>
                    <a:bodyPr/>
                    <a:lstStyle/>
                    <a:p>
                      <a:pPr algn="ctr"/>
                      <a:r>
                        <a:rPr sz="1100" b="1">
                          <a:solidFill>
                            <a:srgbClr val="FFFFFF"/>
                          </a:solidFill>
                          <a:latin typeface="Calibri"/>
                        </a:rPr>
                        <a:t>✓</a:t>
                      </a:r>
                    </a:p>
                  </a:txBody>
                  <a:tcPr marL="54864" marR="54864" marT="9144" marB="9144" anchor="ctr">
                    <a:solidFill>
                      <a:srgbClr val="B8863B"/>
                    </a:solidFill>
                  </a:tcPr>
                </a:tc>
                <a:tc>
                  <a:txBody>
                    <a:bodyPr/>
                    <a:lstStyle/>
                    <a:p>
                      <a:pPr algn="ctr"/>
                      <a:r>
                        <a:rPr sz="1100" b="1">
                          <a:solidFill>
                            <a:srgbClr val="68796F"/>
                          </a:solidFill>
                          <a:latin typeface="Calibri"/>
                        </a:rPr>
                        <a:t>?</a:t>
                      </a:r>
                    </a:p>
                  </a:txBody>
                  <a:tcPr marL="54864" marR="54864" marT="9144" marB="9144" anchor="ctr">
                    <a:solidFill>
                      <a:srgbClr val="E6E2D8"/>
                    </a:solidFill>
                  </a:tcPr>
                </a:tc>
                <a:tc>
                  <a:txBody>
                    <a:bodyPr/>
                    <a:lstStyle/>
                    <a:p>
                      <a:pPr algn="ctr"/>
                      <a:r>
                        <a:rPr sz="1100" b="1">
                          <a:solidFill>
                            <a:srgbClr val="FFFFFF"/>
                          </a:solidFill>
                          <a:latin typeface="Calibri"/>
                        </a:rPr>
                        <a:t>✓</a:t>
                      </a:r>
                    </a:p>
                  </a:txBody>
                  <a:tcPr marL="54864" marR="54864" marT="9144" marB="9144" anchor="ctr">
                    <a:solidFill>
                      <a:srgbClr val="B8863B"/>
                    </a:solidFill>
                  </a:tcPr>
                </a:tc>
              </a:tr>
              <a:tr h="362243">
                <a:tc>
                  <a:txBody>
                    <a:bodyPr/>
                    <a:lstStyle/>
                    <a:p>
                      <a:pPr algn="l"/>
                      <a:r>
                        <a:rPr sz="1000" b="1">
                          <a:solidFill>
                            <a:srgbClr val="24312B"/>
                          </a:solidFill>
                          <a:latin typeface="Calibri"/>
                        </a:rPr>
                        <a:t>Orderry</a:t>
                      </a:r>
                    </a:p>
                  </a:txBody>
                  <a:tcPr marL="54864" marR="54864" marT="9144" marB="9144" anchor="ctr">
                    <a:solidFill>
                      <a:srgbClr val="FAF7F0"/>
                    </a:solidFill>
                  </a:tcPr>
                </a:tc>
                <a:tc>
                  <a:txBody>
                    <a:bodyPr/>
                    <a:lstStyle/>
                    <a:p>
                      <a:pPr algn="ctr"/>
                      <a:r>
                        <a:rPr sz="1100" b="1">
                          <a:solidFill>
                            <a:srgbClr val="FFFFFF"/>
                          </a:solidFill>
                          <a:latin typeface="Calibri"/>
                        </a:rPr>
                        <a:t>✓</a:t>
                      </a:r>
                    </a:p>
                  </a:txBody>
                  <a:tcPr marL="54864" marR="54864" marT="9144" marB="9144" anchor="ctr">
                    <a:solidFill>
                      <a:srgbClr val="B8863B"/>
                    </a:solidFill>
                  </a:tcPr>
                </a:tc>
                <a:tc>
                  <a:txBody>
                    <a:bodyPr/>
                    <a:lstStyle/>
                    <a:p>
                      <a:pPr algn="ctr"/>
                      <a:r>
                        <a:rPr sz="1100" b="1">
                          <a:solidFill>
                            <a:srgbClr val="24312B"/>
                          </a:solidFill>
                          <a:latin typeface="Calibri"/>
                        </a:rPr>
                        <a:t>~</a:t>
                      </a:r>
                    </a:p>
                  </a:txBody>
                  <a:tcPr marL="54864" marR="54864" marT="9144" marB="9144" anchor="ctr">
                    <a:solidFill>
                      <a:srgbClr val="E6BD7C"/>
                    </a:solidFill>
                  </a:tcPr>
                </a:tc>
                <a:tc>
                  <a:txBody>
                    <a:bodyPr/>
                    <a:lstStyle/>
                    <a:p>
                      <a:pPr algn="ctr"/>
                      <a:r>
                        <a:rPr sz="1100" b="1">
                          <a:solidFill>
                            <a:srgbClr val="FFFFFF"/>
                          </a:solidFill>
                          <a:latin typeface="Calibri"/>
                        </a:rPr>
                        <a:t>✓</a:t>
                      </a:r>
                    </a:p>
                  </a:txBody>
                  <a:tcPr marL="54864" marR="54864" marT="9144" marB="9144" anchor="ctr">
                    <a:solidFill>
                      <a:srgbClr val="B8863B"/>
                    </a:solidFill>
                  </a:tcPr>
                </a:tc>
                <a:tc>
                  <a:txBody>
                    <a:bodyPr/>
                    <a:lstStyle/>
                    <a:p>
                      <a:pPr algn="ctr"/>
                      <a:r>
                        <a:rPr sz="1100" b="1">
                          <a:solidFill>
                            <a:srgbClr val="FFFFFF"/>
                          </a:solidFill>
                          <a:latin typeface="Calibri"/>
                        </a:rPr>
                        <a:t>✓</a:t>
                      </a:r>
                    </a:p>
                  </a:txBody>
                  <a:tcPr marL="54864" marR="54864" marT="9144" marB="9144" anchor="ctr">
                    <a:solidFill>
                      <a:srgbClr val="B8863B"/>
                    </a:solidFill>
                  </a:tcPr>
                </a:tc>
                <a:tc>
                  <a:txBody>
                    <a:bodyPr/>
                    <a:lstStyle/>
                    <a:p>
                      <a:pPr algn="ctr"/>
                      <a:r>
                        <a:rPr sz="1100" b="1">
                          <a:solidFill>
                            <a:srgbClr val="FFFFFF"/>
                          </a:solidFill>
                          <a:latin typeface="Calibri"/>
                        </a:rPr>
                        <a:t>✓</a:t>
                      </a:r>
                    </a:p>
                  </a:txBody>
                  <a:tcPr marL="54864" marR="54864" marT="9144" marB="9144" anchor="ctr">
                    <a:solidFill>
                      <a:srgbClr val="B8863B"/>
                    </a:solidFill>
                  </a:tcPr>
                </a:tc>
                <a:tc>
                  <a:txBody>
                    <a:bodyPr/>
                    <a:lstStyle/>
                    <a:p>
                      <a:pPr algn="ctr"/>
                      <a:r>
                        <a:rPr sz="1100" b="1">
                          <a:solidFill>
                            <a:srgbClr val="FFFFFF"/>
                          </a:solidFill>
                          <a:latin typeface="Calibri"/>
                        </a:rPr>
                        <a:t>✓</a:t>
                      </a:r>
                    </a:p>
                  </a:txBody>
                  <a:tcPr marL="54864" marR="54864" marT="9144" marB="9144" anchor="ctr">
                    <a:solidFill>
                      <a:srgbClr val="B8863B"/>
                    </a:solidFill>
                  </a:tcPr>
                </a:tc>
                <a:tc>
                  <a:txBody>
                    <a:bodyPr/>
                    <a:lstStyle/>
                    <a:p>
                      <a:pPr algn="ctr"/>
                      <a:r>
                        <a:rPr sz="1100" b="1">
                          <a:solidFill>
                            <a:srgbClr val="24312B"/>
                          </a:solidFill>
                          <a:latin typeface="Calibri"/>
                        </a:rPr>
                        <a:t>~</a:t>
                      </a:r>
                    </a:p>
                  </a:txBody>
                  <a:tcPr marL="54864" marR="54864" marT="9144" marB="9144" anchor="ctr">
                    <a:solidFill>
                      <a:srgbClr val="E6BD7C"/>
                    </a:solidFill>
                  </a:tcPr>
                </a:tc>
                <a:tc>
                  <a:txBody>
                    <a:bodyPr/>
                    <a:lstStyle/>
                    <a:p>
                      <a:pPr algn="ctr"/>
                      <a:r>
                        <a:rPr sz="1100" b="1">
                          <a:solidFill>
                            <a:srgbClr val="FFFFFF"/>
                          </a:solidFill>
                          <a:latin typeface="Calibri"/>
                        </a:rPr>
                        <a:t>✓</a:t>
                      </a:r>
                    </a:p>
                  </a:txBody>
                  <a:tcPr marL="54864" marR="54864" marT="9144" marB="9144" anchor="ctr">
                    <a:solidFill>
                      <a:srgbClr val="B8863B"/>
                    </a:solidFill>
                  </a:tcPr>
                </a:tc>
              </a:tr>
              <a:tr h="362243">
                <a:tc>
                  <a:txBody>
                    <a:bodyPr/>
                    <a:lstStyle/>
                    <a:p>
                      <a:pPr algn="l"/>
                      <a:r>
                        <a:rPr sz="1000" b="1">
                          <a:solidFill>
                            <a:srgbClr val="24312B"/>
                          </a:solidFill>
                          <a:latin typeface="Calibri"/>
                        </a:rPr>
                        <a:t>Geelus</a:t>
                      </a:r>
                    </a:p>
                  </a:txBody>
                  <a:tcPr marL="54864" marR="54864" marT="9144" marB="9144" anchor="ctr">
                    <a:solidFill>
                      <a:srgbClr val="FFFFFF"/>
                    </a:solidFill>
                  </a:tcPr>
                </a:tc>
                <a:tc>
                  <a:txBody>
                    <a:bodyPr/>
                    <a:lstStyle/>
                    <a:p>
                      <a:pPr algn="ctr"/>
                      <a:r>
                        <a:rPr sz="1100" b="1">
                          <a:solidFill>
                            <a:srgbClr val="FFFFFF"/>
                          </a:solidFill>
                          <a:latin typeface="Calibri"/>
                        </a:rPr>
                        <a:t>✓</a:t>
                      </a:r>
                    </a:p>
                  </a:txBody>
                  <a:tcPr marL="54864" marR="54864" marT="9144" marB="9144" anchor="ctr">
                    <a:solidFill>
                      <a:srgbClr val="B8863B"/>
                    </a:solidFill>
                  </a:tcPr>
                </a:tc>
                <a:tc>
                  <a:txBody>
                    <a:bodyPr/>
                    <a:lstStyle/>
                    <a:p>
                      <a:pPr algn="ctr"/>
                      <a:r>
                        <a:rPr sz="1100" b="1">
                          <a:solidFill>
                            <a:srgbClr val="24312B"/>
                          </a:solidFill>
                          <a:latin typeface="Calibri"/>
                        </a:rPr>
                        <a:t>~</a:t>
                      </a:r>
                    </a:p>
                  </a:txBody>
                  <a:tcPr marL="54864" marR="54864" marT="9144" marB="9144" anchor="ctr">
                    <a:solidFill>
                      <a:srgbClr val="E6BD7C"/>
                    </a:solidFill>
                  </a:tcPr>
                </a:tc>
                <a:tc>
                  <a:txBody>
                    <a:bodyPr/>
                    <a:lstStyle/>
                    <a:p>
                      <a:pPr algn="ctr"/>
                      <a:r>
                        <a:rPr sz="1100" b="1">
                          <a:solidFill>
                            <a:srgbClr val="FFFFFF"/>
                          </a:solidFill>
                          <a:latin typeface="Calibri"/>
                        </a:rPr>
                        <a:t>✓</a:t>
                      </a:r>
                    </a:p>
                  </a:txBody>
                  <a:tcPr marL="54864" marR="54864" marT="9144" marB="9144" anchor="ctr">
                    <a:solidFill>
                      <a:srgbClr val="B8863B"/>
                    </a:solidFill>
                  </a:tcPr>
                </a:tc>
                <a:tc>
                  <a:txBody>
                    <a:bodyPr/>
                    <a:lstStyle/>
                    <a:p>
                      <a:pPr algn="ctr"/>
                      <a:r>
                        <a:rPr sz="1100" b="1">
                          <a:solidFill>
                            <a:srgbClr val="FFFFFF"/>
                          </a:solidFill>
                          <a:latin typeface="Calibri"/>
                        </a:rPr>
                        <a:t>✓</a:t>
                      </a:r>
                    </a:p>
                  </a:txBody>
                  <a:tcPr marL="54864" marR="54864" marT="9144" marB="9144" anchor="ctr">
                    <a:solidFill>
                      <a:srgbClr val="B8863B"/>
                    </a:solidFill>
                  </a:tcPr>
                </a:tc>
                <a:tc>
                  <a:txBody>
                    <a:bodyPr/>
                    <a:lstStyle/>
                    <a:p>
                      <a:pPr algn="ctr"/>
                      <a:r>
                        <a:rPr sz="1100" b="1">
                          <a:solidFill>
                            <a:srgbClr val="FFFFFF"/>
                          </a:solidFill>
                          <a:latin typeface="Calibri"/>
                        </a:rPr>
                        <a:t>✓</a:t>
                      </a:r>
                    </a:p>
                  </a:txBody>
                  <a:tcPr marL="54864" marR="54864" marT="9144" marB="9144" anchor="ctr">
                    <a:solidFill>
                      <a:srgbClr val="B8863B"/>
                    </a:solidFill>
                  </a:tcPr>
                </a:tc>
                <a:tc>
                  <a:txBody>
                    <a:bodyPr/>
                    <a:lstStyle/>
                    <a:p>
                      <a:pPr algn="ctr"/>
                      <a:r>
                        <a:rPr sz="1100" b="1">
                          <a:solidFill>
                            <a:srgbClr val="FFFFFF"/>
                          </a:solidFill>
                          <a:latin typeface="Calibri"/>
                        </a:rPr>
                        <a:t>✓</a:t>
                      </a:r>
                    </a:p>
                  </a:txBody>
                  <a:tcPr marL="54864" marR="54864" marT="9144" marB="9144" anchor="ctr">
                    <a:solidFill>
                      <a:srgbClr val="B8863B"/>
                    </a:solidFill>
                  </a:tcPr>
                </a:tc>
                <a:tc>
                  <a:txBody>
                    <a:bodyPr/>
                    <a:lstStyle/>
                    <a:p>
                      <a:pPr algn="ctr"/>
                      <a:r>
                        <a:rPr sz="1100" b="1">
                          <a:solidFill>
                            <a:srgbClr val="FFFFFF"/>
                          </a:solidFill>
                          <a:latin typeface="Calibri"/>
                        </a:rPr>
                        <a:t>✓</a:t>
                      </a:r>
                    </a:p>
                  </a:txBody>
                  <a:tcPr marL="54864" marR="54864" marT="9144" marB="9144" anchor="ctr">
                    <a:solidFill>
                      <a:srgbClr val="B8863B"/>
                    </a:solidFill>
                  </a:tcPr>
                </a:tc>
                <a:tc>
                  <a:txBody>
                    <a:bodyPr/>
                    <a:lstStyle/>
                    <a:p>
                      <a:pPr algn="ctr"/>
                      <a:r>
                        <a:rPr sz="1100" b="1">
                          <a:solidFill>
                            <a:srgbClr val="FFFFFF"/>
                          </a:solidFill>
                          <a:latin typeface="Calibri"/>
                        </a:rPr>
                        <a:t>✓</a:t>
                      </a:r>
                    </a:p>
                  </a:txBody>
                  <a:tcPr marL="54864" marR="54864" marT="9144" marB="9144" anchor="ctr">
                    <a:solidFill>
                      <a:srgbClr val="B8863B"/>
                    </a:solidFill>
                  </a:tcPr>
                </a:tc>
              </a:tr>
              <a:tr h="362243">
                <a:tc>
                  <a:txBody>
                    <a:bodyPr/>
                    <a:lstStyle/>
                    <a:p>
                      <a:pPr algn="l"/>
                      <a:r>
                        <a:rPr sz="1000" b="1">
                          <a:solidFill>
                            <a:srgbClr val="24312B"/>
                          </a:solidFill>
                          <a:latin typeface="Calibri"/>
                        </a:rPr>
                        <a:t>Perfect Tailor Manager</a:t>
                      </a:r>
                    </a:p>
                  </a:txBody>
                  <a:tcPr marL="54864" marR="54864" marT="9144" marB="9144" anchor="ctr">
                    <a:solidFill>
                      <a:srgbClr val="FAF7F0"/>
                    </a:solidFill>
                  </a:tcPr>
                </a:tc>
                <a:tc>
                  <a:txBody>
                    <a:bodyPr/>
                    <a:lstStyle/>
                    <a:p>
                      <a:pPr algn="ctr"/>
                      <a:r>
                        <a:rPr sz="1100" b="1">
                          <a:solidFill>
                            <a:srgbClr val="FFFFFF"/>
                          </a:solidFill>
                          <a:latin typeface="Calibri"/>
                        </a:rPr>
                        <a:t>✓</a:t>
                      </a:r>
                    </a:p>
                  </a:txBody>
                  <a:tcPr marL="54864" marR="54864" marT="9144" marB="9144" anchor="ctr">
                    <a:solidFill>
                      <a:srgbClr val="B8863B"/>
                    </a:solidFill>
                  </a:tcPr>
                </a:tc>
                <a:tc>
                  <a:txBody>
                    <a:bodyPr/>
                    <a:lstStyle/>
                    <a:p>
                      <a:pPr algn="ctr"/>
                      <a:r>
                        <a:rPr sz="1100" b="1">
                          <a:solidFill>
                            <a:srgbClr val="FFFFFF"/>
                          </a:solidFill>
                          <a:latin typeface="Calibri"/>
                        </a:rPr>
                        <a:t>✓</a:t>
                      </a:r>
                    </a:p>
                  </a:txBody>
                  <a:tcPr marL="54864" marR="54864" marT="9144" marB="9144" anchor="ctr">
                    <a:solidFill>
                      <a:srgbClr val="B8863B"/>
                    </a:solidFill>
                  </a:tcPr>
                </a:tc>
                <a:tc>
                  <a:txBody>
                    <a:bodyPr/>
                    <a:lstStyle/>
                    <a:p>
                      <a:pPr algn="ctr"/>
                      <a:r>
                        <a:rPr sz="1100" b="1">
                          <a:solidFill>
                            <a:srgbClr val="FFFFFF"/>
                          </a:solidFill>
                          <a:latin typeface="Calibri"/>
                        </a:rPr>
                        <a:t>✓</a:t>
                      </a:r>
                    </a:p>
                  </a:txBody>
                  <a:tcPr marL="54864" marR="54864" marT="9144" marB="9144" anchor="ctr">
                    <a:solidFill>
                      <a:srgbClr val="B8863B"/>
                    </a:solidFill>
                  </a:tcPr>
                </a:tc>
                <a:tc>
                  <a:txBody>
                    <a:bodyPr/>
                    <a:lstStyle/>
                    <a:p>
                      <a:pPr algn="ctr"/>
                      <a:r>
                        <a:rPr sz="1100" b="1">
                          <a:solidFill>
                            <a:srgbClr val="FFFFFF"/>
                          </a:solidFill>
                          <a:latin typeface="Calibri"/>
                        </a:rPr>
                        <a:t>✓</a:t>
                      </a:r>
                    </a:p>
                  </a:txBody>
                  <a:tcPr marL="54864" marR="54864" marT="9144" marB="9144" anchor="ctr">
                    <a:solidFill>
                      <a:srgbClr val="B8863B"/>
                    </a:solidFill>
                  </a:tcPr>
                </a:tc>
                <a:tc>
                  <a:txBody>
                    <a:bodyPr/>
                    <a:lstStyle/>
                    <a:p>
                      <a:pPr algn="ctr"/>
                      <a:r>
                        <a:rPr sz="1100" b="1">
                          <a:solidFill>
                            <a:srgbClr val="FFFFFF"/>
                          </a:solidFill>
                          <a:latin typeface="Calibri"/>
                        </a:rPr>
                        <a:t>✓</a:t>
                      </a:r>
                    </a:p>
                  </a:txBody>
                  <a:tcPr marL="54864" marR="54864" marT="9144" marB="9144" anchor="ctr">
                    <a:solidFill>
                      <a:srgbClr val="B8863B"/>
                    </a:solidFill>
                  </a:tcPr>
                </a:tc>
                <a:tc>
                  <a:txBody>
                    <a:bodyPr/>
                    <a:lstStyle/>
                    <a:p>
                      <a:pPr algn="ctr"/>
                      <a:r>
                        <a:rPr sz="1100" b="1">
                          <a:solidFill>
                            <a:srgbClr val="FFFFFF"/>
                          </a:solidFill>
                          <a:latin typeface="Calibri"/>
                        </a:rPr>
                        <a:t>✓</a:t>
                      </a:r>
                    </a:p>
                  </a:txBody>
                  <a:tcPr marL="54864" marR="54864" marT="9144" marB="9144" anchor="ctr">
                    <a:solidFill>
                      <a:srgbClr val="B8863B"/>
                    </a:solidFill>
                  </a:tcPr>
                </a:tc>
                <a:tc>
                  <a:txBody>
                    <a:bodyPr/>
                    <a:lstStyle/>
                    <a:p>
                      <a:pPr algn="ctr"/>
                      <a:r>
                        <a:rPr sz="1100" b="1">
                          <a:solidFill>
                            <a:srgbClr val="FFFFFF"/>
                          </a:solidFill>
                          <a:latin typeface="Calibri"/>
                        </a:rPr>
                        <a:t>✓</a:t>
                      </a:r>
                    </a:p>
                  </a:txBody>
                  <a:tcPr marL="54864" marR="54864" marT="9144" marB="9144" anchor="ctr">
                    <a:solidFill>
                      <a:srgbClr val="B8863B"/>
                    </a:solidFill>
                  </a:tcPr>
                </a:tc>
                <a:tc>
                  <a:txBody>
                    <a:bodyPr/>
                    <a:lstStyle/>
                    <a:p>
                      <a:pPr algn="ctr"/>
                      <a:r>
                        <a:rPr sz="1100" b="1">
                          <a:solidFill>
                            <a:srgbClr val="FFFFFF"/>
                          </a:solidFill>
                          <a:latin typeface="Calibri"/>
                        </a:rPr>
                        <a:t>✓</a:t>
                      </a:r>
                    </a:p>
                  </a:txBody>
                  <a:tcPr marL="54864" marR="54864" marT="9144" marB="9144" anchor="ctr">
                    <a:solidFill>
                      <a:srgbClr val="B8863B"/>
                    </a:solidFill>
                  </a:tcPr>
                </a:tc>
              </a:tr>
            </a:tbl>
          </a:graphicData>
        </a:graphic>
      </p:graphicFrame>
      <p:sp>
        <p:nvSpPr>
          <p:cNvPr id="5" name="Rounded Rectangle 4"/>
          <p:cNvSpPr/>
          <p:nvPr/>
        </p:nvSpPr>
        <p:spPr>
          <a:xfrm>
            <a:off x="548640" y="6007608"/>
            <a:ext cx="256032" cy="256032"/>
          </a:xfrm>
          <a:prstGeom prst="roundRect">
            <a:avLst>
              <a:gd name="adj" fmla="val 25000"/>
            </a:avLst>
          </a:prstGeom>
          <a:solidFill>
            <a:srgbClr val="B88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77824" y="5989320"/>
            <a:ext cx="1554480" cy="292608"/>
          </a:xfrm>
          <a:prstGeom prst="rect">
            <a:avLst/>
          </a:prstGeom>
          <a:noFill/>
        </p:spPr>
        <p:txBody>
          <a:bodyPr wrap="square" lIns="0" rIns="0" tIns="0" bIns="0" anchor="ctr">
            <a:spAutoFit/>
          </a:bodyPr>
          <a:lstStyle/>
          <a:p>
            <a:pPr algn="l">
              <a:lnSpc>
                <a:spcPct val="100000"/>
              </a:lnSpc>
              <a:spcBef>
                <a:spcPts val="0"/>
              </a:spcBef>
              <a:spcAft>
                <a:spcPts val="0"/>
              </a:spcAft>
            </a:pPr>
            <a:r>
              <a:rPr sz="1000" b="0" i="0">
                <a:solidFill>
                  <a:srgbClr val="68796F"/>
                </a:solidFill>
                <a:latin typeface="Calibri"/>
              </a:rPr>
              <a:t>Oui</a:t>
            </a:r>
          </a:p>
        </p:txBody>
      </p:sp>
      <p:sp>
        <p:nvSpPr>
          <p:cNvPr id="7" name="Rounded Rectangle 6"/>
          <p:cNvSpPr/>
          <p:nvPr/>
        </p:nvSpPr>
        <p:spPr>
          <a:xfrm>
            <a:off x="2514600" y="6007608"/>
            <a:ext cx="256032" cy="256032"/>
          </a:xfrm>
          <a:prstGeom prst="roundRect">
            <a:avLst>
              <a:gd name="adj" fmla="val 25000"/>
            </a:avLst>
          </a:prstGeom>
          <a:solidFill>
            <a:srgbClr val="E6B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43784" y="5989320"/>
            <a:ext cx="1554480" cy="292608"/>
          </a:xfrm>
          <a:prstGeom prst="rect">
            <a:avLst/>
          </a:prstGeom>
          <a:noFill/>
        </p:spPr>
        <p:txBody>
          <a:bodyPr wrap="square" lIns="0" rIns="0" tIns="0" bIns="0" anchor="ctr">
            <a:spAutoFit/>
          </a:bodyPr>
          <a:lstStyle/>
          <a:p>
            <a:pPr algn="l">
              <a:lnSpc>
                <a:spcPct val="100000"/>
              </a:lnSpc>
              <a:spcBef>
                <a:spcPts val="0"/>
              </a:spcBef>
              <a:spcAft>
                <a:spcPts val="0"/>
              </a:spcAft>
            </a:pPr>
            <a:r>
              <a:rPr sz="1000" b="0" i="0">
                <a:solidFill>
                  <a:srgbClr val="68796F"/>
                </a:solidFill>
                <a:latin typeface="Calibri"/>
              </a:rPr>
              <a:t>Partiel</a:t>
            </a:r>
          </a:p>
        </p:txBody>
      </p:sp>
      <p:sp>
        <p:nvSpPr>
          <p:cNvPr id="9" name="Rounded Rectangle 8"/>
          <p:cNvSpPr/>
          <p:nvPr/>
        </p:nvSpPr>
        <p:spPr>
          <a:xfrm>
            <a:off x="4480560" y="6007608"/>
            <a:ext cx="256032" cy="256032"/>
          </a:xfrm>
          <a:prstGeom prst="roundRect">
            <a:avLst>
              <a:gd name="adj" fmla="val 25000"/>
            </a:avLst>
          </a:prstGeom>
          <a:solidFill>
            <a:srgbClr val="E6E2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09744" y="5989320"/>
            <a:ext cx="1554480" cy="292608"/>
          </a:xfrm>
          <a:prstGeom prst="rect">
            <a:avLst/>
          </a:prstGeom>
          <a:noFill/>
        </p:spPr>
        <p:txBody>
          <a:bodyPr wrap="square" lIns="0" rIns="0" tIns="0" bIns="0" anchor="ctr">
            <a:spAutoFit/>
          </a:bodyPr>
          <a:lstStyle/>
          <a:p>
            <a:pPr algn="l">
              <a:lnSpc>
                <a:spcPct val="100000"/>
              </a:lnSpc>
              <a:spcBef>
                <a:spcPts val="0"/>
              </a:spcBef>
              <a:spcAft>
                <a:spcPts val="0"/>
              </a:spcAft>
            </a:pPr>
            <a:r>
              <a:rPr sz="1000" b="0" i="0">
                <a:solidFill>
                  <a:srgbClr val="68796F"/>
                </a:solidFill>
                <a:latin typeface="Calibri"/>
              </a:rPr>
              <a:t>Non doc.</a:t>
            </a:r>
          </a:p>
        </p:txBody>
      </p:sp>
      <p:sp>
        <p:nvSpPr>
          <p:cNvPr id="11" name="Rounded Rectangle 10"/>
          <p:cNvSpPr/>
          <p:nvPr/>
        </p:nvSpPr>
        <p:spPr>
          <a:xfrm>
            <a:off x="6446520" y="6007608"/>
            <a:ext cx="256032" cy="256032"/>
          </a:xfrm>
          <a:prstGeom prst="roundRect">
            <a:avLst>
              <a:gd name="adj" fmla="val 25000"/>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75704" y="5989320"/>
            <a:ext cx="1554480" cy="292608"/>
          </a:xfrm>
          <a:prstGeom prst="rect">
            <a:avLst/>
          </a:prstGeom>
          <a:noFill/>
        </p:spPr>
        <p:txBody>
          <a:bodyPr wrap="square" lIns="0" rIns="0" tIns="0" bIns="0" anchor="ctr">
            <a:spAutoFit/>
          </a:bodyPr>
          <a:lstStyle/>
          <a:p>
            <a:pPr algn="l">
              <a:lnSpc>
                <a:spcPct val="100000"/>
              </a:lnSpc>
              <a:spcBef>
                <a:spcPts val="0"/>
              </a:spcBef>
              <a:spcAft>
                <a:spcPts val="0"/>
              </a:spcAft>
            </a:pPr>
            <a:r>
              <a:rPr sz="1000" b="0" i="0">
                <a:solidFill>
                  <a:srgbClr val="68796F"/>
                </a:solidFill>
                <a:latin typeface="Calibri"/>
              </a:rPr>
              <a:t>Non</a:t>
            </a:r>
          </a:p>
        </p:txBody>
      </p:sp>
      <p:sp>
        <p:nvSpPr>
          <p:cNvPr id="13" name="TextBox 12"/>
          <p:cNvSpPr txBox="1"/>
          <p:nvPr/>
        </p:nvSpPr>
        <p:spPr>
          <a:xfrm>
            <a:off x="640080" y="6519672"/>
            <a:ext cx="7315200" cy="274320"/>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68796F"/>
                </a:solidFill>
                <a:latin typeface="Calibri"/>
              </a:rPr>
              <a:t>Kayñiawlu — Soutenance de mémoire</a:t>
            </a:r>
          </a:p>
        </p:txBody>
      </p:sp>
      <p:sp>
        <p:nvSpPr>
          <p:cNvPr id="14" name="TextBox 13"/>
          <p:cNvSpPr txBox="1"/>
          <p:nvPr/>
        </p:nvSpPr>
        <p:spPr>
          <a:xfrm>
            <a:off x="10180015" y="6519672"/>
            <a:ext cx="1371600" cy="274320"/>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8796F"/>
                </a:solidFill>
                <a:latin typeface="Calibri"/>
              </a:rPr>
              <a:t>13</a:t>
            </a:r>
          </a:p>
        </p:txBody>
      </p:sp>
    </p:spTree>
  </p:cSld>
  <p:clrMapOvr>
    <a:masterClrMapping/>
  </p:clrMapOvr>
  <p:transition spd="med">
    <p:fade/>
  </p:transition>
  <p:timing>
    <p:tnLst>
      <p:par>
        <p:cTn id="128" dur="indefinite" restart="never" nodeType="tmRoot">
          <p:childTnLst>
            <p:seq concurrent="1" nextAc="seek">
              <p:cTn id="129" dur="indefinite" nodeType="mainSeq">
                <p:childTnLst>
                  <p:par>
                    <p:cTn id="130" fill="hold">
                      <p:stCondLst>
                        <p:cond delay="0"/>
                      </p:stCondLst>
                      <p:childTnLst>
                        <p:par>
                          <p:cTn id="101" presetID="10" presetClass="entr" presetSubtype="0" fill="hold" grpId="0" nodeType="afterEffect">
                            <p:stCondLst>
                              <p:cond delay="0"/>
                            </p:stCondLst>
                            <p:childTnLst>
                              <p:set>
                                <p:cBhvr>
                                  <p:cTn id="102" dur="1" fill="hold">
                                    <p:stCondLst>
                                      <p:cond delay="0"/>
                                    </p:stCondLst>
                                  </p:cTn>
                                  <p:tgtEl>
                                    <p:spTgt spid="4"/>
                                  </p:tgtEl>
                                  <p:attrNameLst>
                                    <p:attrName>style.visibility</p:attrName>
                                  </p:attrNameLst>
                                </p:cBhvr>
                                <p:to>
                                  <p:strVal val="visible"/>
                                </p:to>
                              </p:set>
                              <p:animEffect transition="in" filter="fade">
                                <p:cBhvr>
                                  <p:cTn id="103" dur="420"/>
                                  <p:tgtEl>
                                    <p:spTgt spid="4"/>
                                  </p:tgtEl>
                                </p:cBhvr>
                              </p:animEffect>
                            </p:childTnLst>
                          </p:cTn>
                        </p:par>
                        <p:par>
                          <p:cTn id="104" presetID="10" presetClass="entr" presetSubtype="0" fill="hold" grpId="0" nodeType="afterEffect">
                            <p:stCondLst>
                              <p:cond delay="140"/>
                            </p:stCondLst>
                            <p:childTnLst>
                              <p:set>
                                <p:cBhvr>
                                  <p:cTn id="105" dur="1" fill="hold">
                                    <p:stCondLst>
                                      <p:cond delay="0"/>
                                    </p:stCondLst>
                                  </p:cTn>
                                  <p:tgtEl>
                                    <p:spTgt spid="5"/>
                                  </p:tgtEl>
                                  <p:attrNameLst>
                                    <p:attrName>style.visibility</p:attrName>
                                  </p:attrNameLst>
                                </p:cBhvr>
                                <p:to>
                                  <p:strVal val="visible"/>
                                </p:to>
                              </p:set>
                              <p:animEffect transition="in" filter="fade">
                                <p:cBhvr>
                                  <p:cTn id="106" dur="420"/>
                                  <p:tgtEl>
                                    <p:spTgt spid="5"/>
                                  </p:tgtEl>
                                </p:cBhvr>
                              </p:animEffect>
                            </p:childTnLst>
                          </p:cTn>
                        </p:par>
                        <p:par>
                          <p:cTn id="107" presetID="10" presetClass="entr" presetSubtype="0" fill="hold" grpId="0" nodeType="afterEffect">
                            <p:stCondLst>
                              <p:cond delay="140"/>
                            </p:stCondLst>
                            <p:childTnLst>
                              <p:set>
                                <p:cBhvr>
                                  <p:cTn id="108" dur="1" fill="hold">
                                    <p:stCondLst>
                                      <p:cond delay="0"/>
                                    </p:stCondLst>
                                  </p:cTn>
                                  <p:tgtEl>
                                    <p:spTgt spid="6"/>
                                  </p:tgtEl>
                                  <p:attrNameLst>
                                    <p:attrName>style.visibility</p:attrName>
                                  </p:attrNameLst>
                                </p:cBhvr>
                                <p:to>
                                  <p:strVal val="visible"/>
                                </p:to>
                              </p:set>
                              <p:animEffect transition="in" filter="fade">
                                <p:cBhvr>
                                  <p:cTn id="109" dur="420"/>
                                  <p:tgtEl>
                                    <p:spTgt spid="6"/>
                                  </p:tgtEl>
                                </p:cBhvr>
                              </p:animEffect>
                            </p:childTnLst>
                          </p:cTn>
                        </p:par>
                        <p:par>
                          <p:cTn id="110" presetID="10" presetClass="entr" presetSubtype="0" fill="hold" grpId="0" nodeType="afterEffect">
                            <p:stCondLst>
                              <p:cond delay="280"/>
                            </p:stCondLst>
                            <p:childTnLst>
                              <p:set>
                                <p:cBhvr>
                                  <p:cTn id="111" dur="1" fill="hold">
                                    <p:stCondLst>
                                      <p:cond delay="0"/>
                                    </p:stCondLst>
                                  </p:cTn>
                                  <p:tgtEl>
                                    <p:spTgt spid="7"/>
                                  </p:tgtEl>
                                  <p:attrNameLst>
                                    <p:attrName>style.visibility</p:attrName>
                                  </p:attrNameLst>
                                </p:cBhvr>
                                <p:to>
                                  <p:strVal val="visible"/>
                                </p:to>
                              </p:set>
                              <p:animEffect transition="in" filter="fade">
                                <p:cBhvr>
                                  <p:cTn id="112" dur="420"/>
                                  <p:tgtEl>
                                    <p:spTgt spid="7"/>
                                  </p:tgtEl>
                                </p:cBhvr>
                              </p:animEffect>
                            </p:childTnLst>
                          </p:cTn>
                        </p:par>
                        <p:par>
                          <p:cTn id="113" presetID="10" presetClass="entr" presetSubtype="0" fill="hold" grpId="0" nodeType="afterEffect">
                            <p:stCondLst>
                              <p:cond delay="280"/>
                            </p:stCondLst>
                            <p:childTnLst>
                              <p:set>
                                <p:cBhvr>
                                  <p:cTn id="114" dur="1" fill="hold">
                                    <p:stCondLst>
                                      <p:cond delay="0"/>
                                    </p:stCondLst>
                                  </p:cTn>
                                  <p:tgtEl>
                                    <p:spTgt spid="8"/>
                                  </p:tgtEl>
                                  <p:attrNameLst>
                                    <p:attrName>style.visibility</p:attrName>
                                  </p:attrNameLst>
                                </p:cBhvr>
                                <p:to>
                                  <p:strVal val="visible"/>
                                </p:to>
                              </p:set>
                              <p:animEffect transition="in" filter="fade">
                                <p:cBhvr>
                                  <p:cTn id="115" dur="420"/>
                                  <p:tgtEl>
                                    <p:spTgt spid="8"/>
                                  </p:tgtEl>
                                </p:cBhvr>
                              </p:animEffect>
                            </p:childTnLst>
                          </p:cTn>
                        </p:par>
                        <p:par>
                          <p:cTn id="116" presetID="10" presetClass="entr" presetSubtype="0" fill="hold" grpId="0" nodeType="afterEffect">
                            <p:stCondLst>
                              <p:cond delay="420"/>
                            </p:stCondLst>
                            <p:childTnLst>
                              <p:set>
                                <p:cBhvr>
                                  <p:cTn id="117" dur="1" fill="hold">
                                    <p:stCondLst>
                                      <p:cond delay="0"/>
                                    </p:stCondLst>
                                  </p:cTn>
                                  <p:tgtEl>
                                    <p:spTgt spid="9"/>
                                  </p:tgtEl>
                                  <p:attrNameLst>
                                    <p:attrName>style.visibility</p:attrName>
                                  </p:attrNameLst>
                                </p:cBhvr>
                                <p:to>
                                  <p:strVal val="visible"/>
                                </p:to>
                              </p:set>
                              <p:animEffect transition="in" filter="fade">
                                <p:cBhvr>
                                  <p:cTn id="118" dur="420"/>
                                  <p:tgtEl>
                                    <p:spTgt spid="9"/>
                                  </p:tgtEl>
                                </p:cBhvr>
                              </p:animEffect>
                            </p:childTnLst>
                          </p:cTn>
                        </p:par>
                        <p:par>
                          <p:cTn id="119" presetID="10" presetClass="entr" presetSubtype="0" fill="hold" grpId="0" nodeType="afterEffect">
                            <p:stCondLst>
                              <p:cond delay="420"/>
                            </p:stCondLst>
                            <p:childTnLst>
                              <p:set>
                                <p:cBhvr>
                                  <p:cTn id="120" dur="1" fill="hold">
                                    <p:stCondLst>
                                      <p:cond delay="0"/>
                                    </p:stCondLst>
                                  </p:cTn>
                                  <p:tgtEl>
                                    <p:spTgt spid="10"/>
                                  </p:tgtEl>
                                  <p:attrNameLst>
                                    <p:attrName>style.visibility</p:attrName>
                                  </p:attrNameLst>
                                </p:cBhvr>
                                <p:to>
                                  <p:strVal val="visible"/>
                                </p:to>
                              </p:set>
                              <p:animEffect transition="in" filter="fade">
                                <p:cBhvr>
                                  <p:cTn id="121" dur="420"/>
                                  <p:tgtEl>
                                    <p:spTgt spid="10"/>
                                  </p:tgtEl>
                                </p:cBhvr>
                              </p:animEffect>
                            </p:childTnLst>
                          </p:cTn>
                        </p:par>
                        <p:par>
                          <p:cTn id="122" presetID="10" presetClass="entr" presetSubtype="0" fill="hold" grpId="0" nodeType="afterEffect">
                            <p:stCondLst>
                              <p:cond delay="560"/>
                            </p:stCondLst>
                            <p:childTnLst>
                              <p:set>
                                <p:cBhvr>
                                  <p:cTn id="123" dur="1" fill="hold">
                                    <p:stCondLst>
                                      <p:cond delay="0"/>
                                    </p:stCondLst>
                                  </p:cTn>
                                  <p:tgtEl>
                                    <p:spTgt spid="11"/>
                                  </p:tgtEl>
                                  <p:attrNameLst>
                                    <p:attrName>style.visibility</p:attrName>
                                  </p:attrNameLst>
                                </p:cBhvr>
                                <p:to>
                                  <p:strVal val="visible"/>
                                </p:to>
                              </p:set>
                              <p:animEffect transition="in" filter="fade">
                                <p:cBhvr>
                                  <p:cTn id="124" dur="420"/>
                                  <p:tgtEl>
                                    <p:spTgt spid="11"/>
                                  </p:tgtEl>
                                </p:cBhvr>
                              </p:animEffect>
                            </p:childTnLst>
                          </p:cTn>
                        </p:par>
                        <p:par>
                          <p:cTn id="125" presetID="10" presetClass="entr" presetSubtype="0" fill="hold" grpId="0" nodeType="afterEffect">
                            <p:stCondLst>
                              <p:cond delay="560"/>
                            </p:stCondLst>
                            <p:childTnLst>
                              <p:set>
                                <p:cBhvr>
                                  <p:cTn id="126" dur="1" fill="hold">
                                    <p:stCondLst>
                                      <p:cond delay="0"/>
                                    </p:stCondLst>
                                  </p:cTn>
                                  <p:tgtEl>
                                    <p:spTgt spid="12"/>
                                  </p:tgtEl>
                                  <p:attrNameLst>
                                    <p:attrName>style.visibility</p:attrName>
                                  </p:attrNameLst>
                                </p:cBhvr>
                                <p:to>
                                  <p:strVal val="visible"/>
                                </p:to>
                              </p:set>
                              <p:animEffect transition="in" filter="fade">
                                <p:cBhvr>
                                  <p:cTn id="127" dur="420"/>
                                  <p:tgtEl>
                                    <p:spTgt spid="12"/>
                                  </p:tgtEl>
                                </p:cBhvr>
                              </p:animEffect>
                            </p:childTnLst>
                          </p:cTn>
                        </p:par>
                      </p:childTnLst>
                    </p:cTn>
                  </p:par>
                </p:childTnLst>
              </p:cTn>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881360" cy="292608"/>
          </a:xfrm>
          <a:prstGeom prst="rect">
            <a:avLst/>
          </a:prstGeom>
          <a:noFill/>
        </p:spPr>
        <p:txBody>
          <a:bodyPr wrap="square" lIns="0" rIns="0" tIns="0" bIns="0" anchor="t">
            <a:spAutoFit/>
          </a:bodyPr>
          <a:lstStyle/>
          <a:p>
            <a:pPr algn="l">
              <a:lnSpc>
                <a:spcPct val="100000"/>
              </a:lnSpc>
              <a:spcBef>
                <a:spcPts val="0"/>
              </a:spcBef>
              <a:spcAft>
                <a:spcPts val="0"/>
              </a:spcAft>
            </a:pPr>
            <a:r>
              <a:rPr sz="1250" b="1" i="0">
                <a:solidFill>
                  <a:srgbClr val="B8863B"/>
                </a:solidFill>
                <a:latin typeface="Calibri"/>
              </a:rPr>
              <a:t>TRAVAUX SIMILAIRES · TABLEAU COMPARATIF</a:t>
            </a:r>
          </a:p>
        </p:txBody>
      </p:sp>
      <p:sp>
        <p:nvSpPr>
          <p:cNvPr id="3" name="TextBox 2"/>
          <p:cNvSpPr txBox="1"/>
          <p:nvPr/>
        </p:nvSpPr>
        <p:spPr>
          <a:xfrm>
            <a:off x="640080" y="786384"/>
            <a:ext cx="10881360" cy="777240"/>
          </a:xfrm>
          <a:prstGeom prst="rect">
            <a:avLst/>
          </a:prstGeom>
          <a:noFill/>
        </p:spPr>
        <p:txBody>
          <a:bodyPr wrap="square" lIns="0" rIns="0" tIns="0" bIns="0" anchor="t">
            <a:spAutoFit/>
          </a:bodyPr>
          <a:lstStyle/>
          <a:p>
            <a:pPr algn="l">
              <a:lnSpc>
                <a:spcPct val="102000"/>
              </a:lnSpc>
              <a:spcBef>
                <a:spcPts val="0"/>
              </a:spcBef>
              <a:spcAft>
                <a:spcPts val="0"/>
              </a:spcAft>
            </a:pPr>
            <a:r>
              <a:rPr sz="2500" b="1" i="0">
                <a:solidFill>
                  <a:srgbClr val="0F5B4C"/>
                </a:solidFill>
                <a:latin typeface="Cambria"/>
              </a:rPr>
              <a:t>Critères non fonctionnels — architecture, interface, marché</a:t>
            </a:r>
          </a:p>
        </p:txBody>
      </p:sp>
      <p:graphicFrame>
        <p:nvGraphicFramePr>
          <p:cNvPr id="4" name="Table 3"/>
          <p:cNvGraphicFramePr>
            <a:graphicFrameLocks noGrp="1"/>
          </p:cNvGraphicFramePr>
          <p:nvPr/>
        </p:nvGraphicFramePr>
        <p:xfrm>
          <a:off x="548640" y="1170432"/>
          <a:ext cx="11091671" cy="5029193"/>
        </p:xfrm>
        <a:graphic>
          <a:graphicData uri="http://schemas.openxmlformats.org/drawingml/2006/table">
            <a:tbl>
              <a:tblPr firstRow="1" bandRow="1">
                <a:tableStyleId>{5940675A-B579-460E-94D1-54222C63F5DA}</a:tableStyleId>
              </a:tblPr>
              <a:tblGrid>
                <a:gridCol w="2148840"/>
                <a:gridCol w="1783080"/>
                <a:gridCol w="1965960"/>
                <a:gridCol w="1417320"/>
                <a:gridCol w="1874519"/>
                <a:gridCol w="1901952"/>
              </a:tblGrid>
              <a:tr h="386861">
                <a:tc>
                  <a:txBody>
                    <a:bodyPr/>
                    <a:lstStyle/>
                    <a:p>
                      <a:pPr algn="l"/>
                      <a:r>
                        <a:rPr sz="1050" b="1">
                          <a:solidFill>
                            <a:srgbClr val="B8863B"/>
                          </a:solidFill>
                          <a:latin typeface="Calibri"/>
                        </a:rPr>
                        <a:t>Solution</a:t>
                      </a:r>
                    </a:p>
                  </a:txBody>
                  <a:tcPr marL="54864" marR="54864" marT="9144" marB="9144" anchor="ctr">
                    <a:solidFill>
                      <a:srgbClr val="0F5B4C"/>
                    </a:solidFill>
                  </a:tcPr>
                </a:tc>
                <a:tc>
                  <a:txBody>
                    <a:bodyPr/>
                    <a:lstStyle/>
                    <a:p>
                      <a:pPr algn="l"/>
                      <a:r>
                        <a:rPr sz="1050" b="1">
                          <a:solidFill>
                            <a:srgbClr val="B8863B"/>
                          </a:solidFill>
                          <a:latin typeface="Calibri"/>
                        </a:rPr>
                        <a:t>Architecture</a:t>
                      </a:r>
                    </a:p>
                  </a:txBody>
                  <a:tcPr marL="54864" marR="54864" marT="9144" marB="9144" anchor="ctr">
                    <a:solidFill>
                      <a:srgbClr val="0F5B4C"/>
                    </a:solidFill>
                  </a:tcPr>
                </a:tc>
                <a:tc>
                  <a:txBody>
                    <a:bodyPr/>
                    <a:lstStyle/>
                    <a:p>
                      <a:pPr algn="l"/>
                      <a:r>
                        <a:rPr sz="1050" b="1">
                          <a:solidFill>
                            <a:srgbClr val="B8863B"/>
                          </a:solidFill>
                          <a:latin typeface="Calibri"/>
                        </a:rPr>
                        <a:t>Interface</a:t>
                      </a:r>
                    </a:p>
                  </a:txBody>
                  <a:tcPr marL="54864" marR="54864" marT="9144" marB="9144" anchor="ctr">
                    <a:solidFill>
                      <a:srgbClr val="0F5B4C"/>
                    </a:solidFill>
                  </a:tcPr>
                </a:tc>
                <a:tc>
                  <a:txBody>
                    <a:bodyPr/>
                    <a:lstStyle/>
                    <a:p>
                      <a:pPr algn="l"/>
                      <a:r>
                        <a:rPr sz="1050" b="1">
                          <a:solidFill>
                            <a:srgbClr val="B8863B"/>
                          </a:solidFill>
                          <a:latin typeface="Calibri"/>
                        </a:rPr>
                        <a:t>Licence</a:t>
                      </a:r>
                    </a:p>
                  </a:txBody>
                  <a:tcPr marL="54864" marR="54864" marT="9144" marB="9144" anchor="ctr">
                    <a:solidFill>
                      <a:srgbClr val="0F5B4C"/>
                    </a:solidFill>
                  </a:tcPr>
                </a:tc>
                <a:tc>
                  <a:txBody>
                    <a:bodyPr/>
                    <a:lstStyle/>
                    <a:p>
                      <a:pPr algn="l"/>
                      <a:r>
                        <a:rPr sz="1050" b="1">
                          <a:solidFill>
                            <a:srgbClr val="B8863B"/>
                          </a:solidFill>
                          <a:latin typeface="Calibri"/>
                        </a:rPr>
                        <a:t>Hébergement</a:t>
                      </a:r>
                    </a:p>
                  </a:txBody>
                  <a:tcPr marL="54864" marR="54864" marT="9144" marB="9144" anchor="ctr">
                    <a:solidFill>
                      <a:srgbClr val="0F5B4C"/>
                    </a:solidFill>
                  </a:tcPr>
                </a:tc>
                <a:tc>
                  <a:txBody>
                    <a:bodyPr/>
                    <a:lstStyle/>
                    <a:p>
                      <a:pPr algn="l"/>
                      <a:r>
                        <a:rPr sz="1050" b="1">
                          <a:solidFill>
                            <a:srgbClr val="B8863B"/>
                          </a:solidFill>
                          <a:latin typeface="Calibri"/>
                        </a:rPr>
                        <a:t>Marché cible</a:t>
                      </a:r>
                    </a:p>
                  </a:txBody>
                  <a:tcPr marL="54864" marR="54864" marT="9144" marB="9144" anchor="ctr">
                    <a:solidFill>
                      <a:srgbClr val="0F5B4C"/>
                    </a:solidFill>
                  </a:tcPr>
                </a:tc>
              </a:tr>
              <a:tr h="386861">
                <a:tc>
                  <a:txBody>
                    <a:bodyPr/>
                    <a:lstStyle/>
                    <a:p>
                      <a:pPr algn="l"/>
                      <a:r>
                        <a:rPr sz="950" b="1">
                          <a:solidFill>
                            <a:srgbClr val="24312B"/>
                          </a:solidFill>
                          <a:latin typeface="Calibri"/>
                        </a:rPr>
                        <a:t>Digitailleur</a:t>
                      </a:r>
                    </a:p>
                  </a:txBody>
                  <a:tcPr marL="54864" marR="54864" marT="9144" marB="9144" anchor="ctr">
                    <a:solidFill>
                      <a:srgbClr val="FFFFFF"/>
                    </a:solidFill>
                  </a:tcPr>
                </a:tc>
                <a:tc>
                  <a:txBody>
                    <a:bodyPr/>
                    <a:lstStyle/>
                    <a:p>
                      <a:pPr algn="l"/>
                      <a:r>
                        <a:rPr sz="900" b="0">
                          <a:solidFill>
                            <a:srgbClr val="68796F"/>
                          </a:solidFill>
                          <a:latin typeface="Calibri"/>
                        </a:rPr>
                        <a:t>Non documentée</a:t>
                      </a:r>
                    </a:p>
                  </a:txBody>
                  <a:tcPr marL="54864" marR="54864" marT="9144" marB="9144" anchor="ctr">
                    <a:solidFill>
                      <a:srgbClr val="FFFFFF"/>
                    </a:solidFill>
                  </a:tcPr>
                </a:tc>
                <a:tc>
                  <a:txBody>
                    <a:bodyPr/>
                    <a:lstStyle/>
                    <a:p>
                      <a:pPr algn="l"/>
                      <a:r>
                        <a:rPr sz="900" b="0">
                          <a:solidFill>
                            <a:srgbClr val="68796F"/>
                          </a:solidFill>
                          <a:latin typeface="Calibri"/>
                        </a:rPr>
                        <a:t>Mobile + boutique en ligne</a:t>
                      </a:r>
                    </a:p>
                  </a:txBody>
                  <a:tcPr marL="54864" marR="54864" marT="9144" marB="9144" anchor="ctr">
                    <a:solidFill>
                      <a:srgbClr val="FFFFFF"/>
                    </a:solidFill>
                  </a:tcPr>
                </a:tc>
                <a:tc>
                  <a:txBody>
                    <a:bodyPr/>
                    <a:lstStyle/>
                    <a:p>
                      <a:pPr algn="l"/>
                      <a:r>
                        <a:rPr sz="900" b="0">
                          <a:solidFill>
                            <a:srgbClr val="68796F"/>
                          </a:solidFill>
                          <a:latin typeface="Calibri"/>
                        </a:rPr>
                        <a:t>Propriétaire</a:t>
                      </a:r>
                    </a:p>
                  </a:txBody>
                  <a:tcPr marL="54864" marR="54864" marT="9144" marB="9144" anchor="ctr">
                    <a:solidFill>
                      <a:srgbClr val="FFFFFF"/>
                    </a:solidFill>
                  </a:tcPr>
                </a:tc>
                <a:tc>
                  <a:txBody>
                    <a:bodyPr/>
                    <a:lstStyle/>
                    <a:p>
                      <a:pPr algn="l"/>
                      <a:r>
                        <a:rPr sz="900" b="0">
                          <a:solidFill>
                            <a:srgbClr val="68796F"/>
                          </a:solidFill>
                          <a:latin typeface="Calibri"/>
                        </a:rPr>
                        <a:t>Cloud</a:t>
                      </a:r>
                    </a:p>
                  </a:txBody>
                  <a:tcPr marL="54864" marR="54864" marT="9144" marB="9144" anchor="ctr">
                    <a:solidFill>
                      <a:srgbClr val="FFFFFF"/>
                    </a:solidFill>
                  </a:tcPr>
                </a:tc>
                <a:tc>
                  <a:txBody>
                    <a:bodyPr/>
                    <a:lstStyle/>
                    <a:p>
                      <a:pPr algn="l"/>
                      <a:r>
                        <a:rPr sz="900" b="0">
                          <a:solidFill>
                            <a:srgbClr val="24312B"/>
                          </a:solidFill>
                          <a:latin typeface="Calibri"/>
                        </a:rPr>
                        <a:t>Afrique de l'Ouest/Centrale</a:t>
                      </a:r>
                    </a:p>
                  </a:txBody>
                  <a:tcPr marL="54864" marR="54864" marT="9144" marB="9144" anchor="ctr">
                    <a:solidFill>
                      <a:srgbClr val="FFFFFF"/>
                    </a:solidFill>
                  </a:tcPr>
                </a:tc>
              </a:tr>
              <a:tr h="386861">
                <a:tc>
                  <a:txBody>
                    <a:bodyPr/>
                    <a:lstStyle/>
                    <a:p>
                      <a:pPr algn="l"/>
                      <a:r>
                        <a:rPr sz="950" b="1">
                          <a:solidFill>
                            <a:srgbClr val="24312B"/>
                          </a:solidFill>
                          <a:latin typeface="Calibri"/>
                        </a:rPr>
                        <a:t>Couturart</a:t>
                      </a:r>
                    </a:p>
                  </a:txBody>
                  <a:tcPr marL="54864" marR="54864" marT="9144" marB="9144" anchor="ctr">
                    <a:solidFill>
                      <a:srgbClr val="FAF7F0"/>
                    </a:solidFill>
                  </a:tcPr>
                </a:tc>
                <a:tc>
                  <a:txBody>
                    <a:bodyPr/>
                    <a:lstStyle/>
                    <a:p>
                      <a:pPr algn="l"/>
                      <a:r>
                        <a:rPr sz="900" b="0">
                          <a:solidFill>
                            <a:srgbClr val="68796F"/>
                          </a:solidFill>
                          <a:latin typeface="Calibri"/>
                        </a:rPr>
                        <a:t>Non documentée</a:t>
                      </a:r>
                    </a:p>
                  </a:txBody>
                  <a:tcPr marL="54864" marR="54864" marT="9144" marB="9144" anchor="ctr">
                    <a:solidFill>
                      <a:srgbClr val="FAF7F0"/>
                    </a:solidFill>
                  </a:tcPr>
                </a:tc>
                <a:tc>
                  <a:txBody>
                    <a:bodyPr/>
                    <a:lstStyle/>
                    <a:p>
                      <a:pPr algn="l"/>
                      <a:r>
                        <a:rPr sz="900" b="0">
                          <a:solidFill>
                            <a:srgbClr val="68796F"/>
                          </a:solidFill>
                          <a:latin typeface="Calibri"/>
                        </a:rPr>
                        <a:t>Mobile</a:t>
                      </a:r>
                    </a:p>
                  </a:txBody>
                  <a:tcPr marL="54864" marR="54864" marT="9144" marB="9144" anchor="ctr">
                    <a:solidFill>
                      <a:srgbClr val="FAF7F0"/>
                    </a:solidFill>
                  </a:tcPr>
                </a:tc>
                <a:tc>
                  <a:txBody>
                    <a:bodyPr/>
                    <a:lstStyle/>
                    <a:p>
                      <a:pPr algn="l"/>
                      <a:r>
                        <a:rPr sz="900" b="0">
                          <a:solidFill>
                            <a:srgbClr val="68796F"/>
                          </a:solidFill>
                          <a:latin typeface="Calibri"/>
                        </a:rPr>
                        <a:t>Propriétaire</a:t>
                      </a:r>
                    </a:p>
                  </a:txBody>
                  <a:tcPr marL="54864" marR="54864" marT="9144" marB="9144" anchor="ctr">
                    <a:solidFill>
                      <a:srgbClr val="FAF7F0"/>
                    </a:solidFill>
                  </a:tcPr>
                </a:tc>
                <a:tc>
                  <a:txBody>
                    <a:bodyPr/>
                    <a:lstStyle/>
                    <a:p>
                      <a:pPr algn="l"/>
                      <a:r>
                        <a:rPr sz="900" b="0">
                          <a:solidFill>
                            <a:srgbClr val="68796F"/>
                          </a:solidFill>
                          <a:latin typeface="Calibri"/>
                        </a:rPr>
                        <a:t>Cloud + cache offline</a:t>
                      </a:r>
                    </a:p>
                  </a:txBody>
                  <a:tcPr marL="54864" marR="54864" marT="9144" marB="9144" anchor="ctr">
                    <a:solidFill>
                      <a:srgbClr val="FAF7F0"/>
                    </a:solidFill>
                  </a:tcPr>
                </a:tc>
                <a:tc>
                  <a:txBody>
                    <a:bodyPr/>
                    <a:lstStyle/>
                    <a:p>
                      <a:pPr algn="l"/>
                      <a:r>
                        <a:rPr sz="900" b="0">
                          <a:solidFill>
                            <a:srgbClr val="24312B"/>
                          </a:solidFill>
                          <a:latin typeface="Calibri"/>
                        </a:rPr>
                        <a:t>Côte d'Ivoire, Sénégal, Cameroun</a:t>
                      </a:r>
                    </a:p>
                  </a:txBody>
                  <a:tcPr marL="54864" marR="54864" marT="9144" marB="9144" anchor="ctr">
                    <a:solidFill>
                      <a:srgbClr val="FAF7F0"/>
                    </a:solidFill>
                  </a:tcPr>
                </a:tc>
              </a:tr>
              <a:tr h="386861">
                <a:tc>
                  <a:txBody>
                    <a:bodyPr/>
                    <a:lstStyle/>
                    <a:p>
                      <a:pPr algn="l"/>
                      <a:r>
                        <a:rPr sz="950" b="1">
                          <a:solidFill>
                            <a:srgbClr val="24312B"/>
                          </a:solidFill>
                          <a:latin typeface="Calibri"/>
                        </a:rPr>
                        <a:t>Tailleur 2.0</a:t>
                      </a:r>
                    </a:p>
                  </a:txBody>
                  <a:tcPr marL="54864" marR="54864" marT="9144" marB="9144" anchor="ctr">
                    <a:solidFill>
                      <a:srgbClr val="FFFFFF"/>
                    </a:solidFill>
                  </a:tcPr>
                </a:tc>
                <a:tc>
                  <a:txBody>
                    <a:bodyPr/>
                    <a:lstStyle/>
                    <a:p>
                      <a:pPr algn="l"/>
                      <a:r>
                        <a:rPr sz="900" b="0">
                          <a:solidFill>
                            <a:srgbClr val="68796F"/>
                          </a:solidFill>
                          <a:latin typeface="Calibri"/>
                        </a:rPr>
                        <a:t>Non documentée</a:t>
                      </a:r>
                    </a:p>
                  </a:txBody>
                  <a:tcPr marL="54864" marR="54864" marT="9144" marB="9144" anchor="ctr">
                    <a:solidFill>
                      <a:srgbClr val="FFFFFF"/>
                    </a:solidFill>
                  </a:tcPr>
                </a:tc>
                <a:tc>
                  <a:txBody>
                    <a:bodyPr/>
                    <a:lstStyle/>
                    <a:p>
                      <a:pPr algn="l"/>
                      <a:r>
                        <a:rPr sz="900" b="0">
                          <a:solidFill>
                            <a:srgbClr val="68796F"/>
                          </a:solidFill>
                          <a:latin typeface="Calibri"/>
                        </a:rPr>
                        <a:t>Mobile</a:t>
                      </a:r>
                    </a:p>
                  </a:txBody>
                  <a:tcPr marL="54864" marR="54864" marT="9144" marB="9144" anchor="ctr">
                    <a:solidFill>
                      <a:srgbClr val="FFFFFF"/>
                    </a:solidFill>
                  </a:tcPr>
                </a:tc>
                <a:tc>
                  <a:txBody>
                    <a:bodyPr/>
                    <a:lstStyle/>
                    <a:p>
                      <a:pPr algn="l"/>
                      <a:r>
                        <a:rPr sz="900" b="0">
                          <a:solidFill>
                            <a:srgbClr val="68796F"/>
                          </a:solidFill>
                          <a:latin typeface="Calibri"/>
                        </a:rPr>
                        <a:t>Propriétaire</a:t>
                      </a:r>
                    </a:p>
                  </a:txBody>
                  <a:tcPr marL="54864" marR="54864" marT="9144" marB="9144" anchor="ctr">
                    <a:solidFill>
                      <a:srgbClr val="FFFFFF"/>
                    </a:solidFill>
                  </a:tcPr>
                </a:tc>
                <a:tc>
                  <a:txBody>
                    <a:bodyPr/>
                    <a:lstStyle/>
                    <a:p>
                      <a:pPr algn="l"/>
                      <a:r>
                        <a:rPr sz="900" b="0">
                          <a:solidFill>
                            <a:srgbClr val="68796F"/>
                          </a:solidFill>
                          <a:latin typeface="Calibri"/>
                        </a:rPr>
                        <a:t>Cloud (probable)</a:t>
                      </a:r>
                    </a:p>
                  </a:txBody>
                  <a:tcPr marL="54864" marR="54864" marT="9144" marB="9144" anchor="ctr">
                    <a:solidFill>
                      <a:srgbClr val="FFFFFF"/>
                    </a:solidFill>
                  </a:tcPr>
                </a:tc>
                <a:tc>
                  <a:txBody>
                    <a:bodyPr/>
                    <a:lstStyle/>
                    <a:p>
                      <a:pPr algn="l"/>
                      <a:r>
                        <a:rPr sz="900" b="0">
                          <a:solidFill>
                            <a:srgbClr val="24312B"/>
                          </a:solidFill>
                          <a:latin typeface="Calibri"/>
                        </a:rPr>
                        <a:t>Sénégal, Afrique de l'Ouest</a:t>
                      </a:r>
                    </a:p>
                  </a:txBody>
                  <a:tcPr marL="54864" marR="54864" marT="9144" marB="9144" anchor="ctr">
                    <a:solidFill>
                      <a:srgbClr val="FFFFFF"/>
                    </a:solidFill>
                  </a:tcPr>
                </a:tc>
              </a:tr>
              <a:tr h="386861">
                <a:tc>
                  <a:txBody>
                    <a:bodyPr/>
                    <a:lstStyle/>
                    <a:p>
                      <a:pPr algn="l"/>
                      <a:r>
                        <a:rPr sz="950" b="1">
                          <a:solidFill>
                            <a:srgbClr val="24312B"/>
                          </a:solidFill>
                          <a:latin typeface="Calibri"/>
                        </a:rPr>
                        <a:t>CoutureCiel</a:t>
                      </a:r>
                    </a:p>
                  </a:txBody>
                  <a:tcPr marL="54864" marR="54864" marT="9144" marB="9144" anchor="ctr">
                    <a:solidFill>
                      <a:srgbClr val="FAF7F0"/>
                    </a:solidFill>
                  </a:tcPr>
                </a:tc>
                <a:tc>
                  <a:txBody>
                    <a:bodyPr/>
                    <a:lstStyle/>
                    <a:p>
                      <a:pPr algn="l"/>
                      <a:r>
                        <a:rPr sz="900" b="0">
                          <a:solidFill>
                            <a:srgbClr val="68796F"/>
                          </a:solidFill>
                          <a:latin typeface="Calibri"/>
                        </a:rPr>
                        <a:t>Non documentée</a:t>
                      </a:r>
                    </a:p>
                  </a:txBody>
                  <a:tcPr marL="54864" marR="54864" marT="9144" marB="9144" anchor="ctr">
                    <a:solidFill>
                      <a:srgbClr val="FAF7F0"/>
                    </a:solidFill>
                  </a:tcPr>
                </a:tc>
                <a:tc>
                  <a:txBody>
                    <a:bodyPr/>
                    <a:lstStyle/>
                    <a:p>
                      <a:pPr algn="l"/>
                      <a:r>
                        <a:rPr sz="900" b="0">
                          <a:solidFill>
                            <a:srgbClr val="68796F"/>
                          </a:solidFill>
                          <a:latin typeface="Calibri"/>
                        </a:rPr>
                        <a:t>Web (mobile annoncé)</a:t>
                      </a:r>
                    </a:p>
                  </a:txBody>
                  <a:tcPr marL="54864" marR="54864" marT="9144" marB="9144" anchor="ctr">
                    <a:solidFill>
                      <a:srgbClr val="FAF7F0"/>
                    </a:solidFill>
                  </a:tcPr>
                </a:tc>
                <a:tc>
                  <a:txBody>
                    <a:bodyPr/>
                    <a:lstStyle/>
                    <a:p>
                      <a:pPr algn="l"/>
                      <a:r>
                        <a:rPr sz="900" b="0">
                          <a:solidFill>
                            <a:srgbClr val="68796F"/>
                          </a:solidFill>
                          <a:latin typeface="Calibri"/>
                        </a:rPr>
                        <a:t>Propriétaire</a:t>
                      </a:r>
                    </a:p>
                  </a:txBody>
                  <a:tcPr marL="54864" marR="54864" marT="9144" marB="9144" anchor="ctr">
                    <a:solidFill>
                      <a:srgbClr val="FAF7F0"/>
                    </a:solidFill>
                  </a:tcPr>
                </a:tc>
                <a:tc>
                  <a:txBody>
                    <a:bodyPr/>
                    <a:lstStyle/>
                    <a:p>
                      <a:pPr algn="l"/>
                      <a:r>
                        <a:rPr sz="900" b="0">
                          <a:solidFill>
                            <a:srgbClr val="68796F"/>
                          </a:solidFill>
                          <a:latin typeface="Calibri"/>
                        </a:rPr>
                        <a:t>Cloud</a:t>
                      </a:r>
                    </a:p>
                  </a:txBody>
                  <a:tcPr marL="54864" marR="54864" marT="9144" marB="9144" anchor="ctr">
                    <a:solidFill>
                      <a:srgbClr val="FAF7F0"/>
                    </a:solidFill>
                  </a:tcPr>
                </a:tc>
                <a:tc>
                  <a:txBody>
                    <a:bodyPr/>
                    <a:lstStyle/>
                    <a:p>
                      <a:pPr algn="l"/>
                      <a:r>
                        <a:rPr sz="900" b="0">
                          <a:solidFill>
                            <a:srgbClr val="24312B"/>
                          </a:solidFill>
                          <a:latin typeface="Calibri"/>
                        </a:rPr>
                        <a:t>Sénégal (Dakar)</a:t>
                      </a:r>
                    </a:p>
                  </a:txBody>
                  <a:tcPr marL="54864" marR="54864" marT="9144" marB="9144" anchor="ctr">
                    <a:solidFill>
                      <a:srgbClr val="FAF7F0"/>
                    </a:solidFill>
                  </a:tcPr>
                </a:tc>
              </a:tr>
              <a:tr h="386861">
                <a:tc>
                  <a:txBody>
                    <a:bodyPr/>
                    <a:lstStyle/>
                    <a:p>
                      <a:pPr algn="l"/>
                      <a:r>
                        <a:rPr sz="950" b="1">
                          <a:solidFill>
                            <a:srgbClr val="24312B"/>
                          </a:solidFill>
                          <a:latin typeface="Calibri"/>
                        </a:rPr>
                        <a:t>SmartCouture</a:t>
                      </a:r>
                    </a:p>
                  </a:txBody>
                  <a:tcPr marL="54864" marR="54864" marT="9144" marB="9144" anchor="ctr">
                    <a:solidFill>
                      <a:srgbClr val="FFFFFF"/>
                    </a:solidFill>
                  </a:tcPr>
                </a:tc>
                <a:tc>
                  <a:txBody>
                    <a:bodyPr/>
                    <a:lstStyle/>
                    <a:p>
                      <a:pPr algn="l"/>
                      <a:r>
                        <a:rPr sz="900" b="0">
                          <a:solidFill>
                            <a:srgbClr val="68796F"/>
                          </a:solidFill>
                          <a:latin typeface="Calibri"/>
                        </a:rPr>
                        <a:t>Non documentée</a:t>
                      </a:r>
                    </a:p>
                  </a:txBody>
                  <a:tcPr marL="54864" marR="54864" marT="9144" marB="9144" anchor="ctr">
                    <a:solidFill>
                      <a:srgbClr val="FFFFFF"/>
                    </a:solidFill>
                  </a:tcPr>
                </a:tc>
                <a:tc>
                  <a:txBody>
                    <a:bodyPr/>
                    <a:lstStyle/>
                    <a:p>
                      <a:pPr algn="l"/>
                      <a:r>
                        <a:rPr sz="900" b="0">
                          <a:solidFill>
                            <a:srgbClr val="68796F"/>
                          </a:solidFill>
                          <a:latin typeface="Calibri"/>
                        </a:rPr>
                        <a:t>Mobile + Web</a:t>
                      </a:r>
                    </a:p>
                  </a:txBody>
                  <a:tcPr marL="54864" marR="54864" marT="9144" marB="9144" anchor="ctr">
                    <a:solidFill>
                      <a:srgbClr val="FFFFFF"/>
                    </a:solidFill>
                  </a:tcPr>
                </a:tc>
                <a:tc>
                  <a:txBody>
                    <a:bodyPr/>
                    <a:lstStyle/>
                    <a:p>
                      <a:pPr algn="l"/>
                      <a:r>
                        <a:rPr sz="900" b="0">
                          <a:solidFill>
                            <a:srgbClr val="68796F"/>
                          </a:solidFill>
                          <a:latin typeface="Calibri"/>
                        </a:rPr>
                        <a:t>Propriétaire</a:t>
                      </a:r>
                    </a:p>
                  </a:txBody>
                  <a:tcPr marL="54864" marR="54864" marT="9144" marB="9144" anchor="ctr">
                    <a:solidFill>
                      <a:srgbClr val="FFFFFF"/>
                    </a:solidFill>
                  </a:tcPr>
                </a:tc>
                <a:tc>
                  <a:txBody>
                    <a:bodyPr/>
                    <a:lstStyle/>
                    <a:p>
                      <a:pPr algn="l"/>
                      <a:r>
                        <a:rPr sz="900" b="0">
                          <a:solidFill>
                            <a:srgbClr val="68796F"/>
                          </a:solidFill>
                          <a:latin typeface="Calibri"/>
                        </a:rPr>
                        <a:t>Cloud</a:t>
                      </a:r>
                    </a:p>
                  </a:txBody>
                  <a:tcPr marL="54864" marR="54864" marT="9144" marB="9144" anchor="ctr">
                    <a:solidFill>
                      <a:srgbClr val="FFFFFF"/>
                    </a:solidFill>
                  </a:tcPr>
                </a:tc>
                <a:tc>
                  <a:txBody>
                    <a:bodyPr/>
                    <a:lstStyle/>
                    <a:p>
                      <a:pPr algn="l"/>
                      <a:r>
                        <a:rPr sz="900" b="0">
                          <a:solidFill>
                            <a:srgbClr val="24312B"/>
                          </a:solidFill>
                          <a:latin typeface="Calibri"/>
                        </a:rPr>
                        <a:t>Sénégal, Ghana</a:t>
                      </a:r>
                    </a:p>
                  </a:txBody>
                  <a:tcPr marL="54864" marR="54864" marT="9144" marB="9144" anchor="ctr">
                    <a:solidFill>
                      <a:srgbClr val="FFFFFF"/>
                    </a:solidFill>
                  </a:tcPr>
                </a:tc>
              </a:tr>
              <a:tr h="386861">
                <a:tc>
                  <a:txBody>
                    <a:bodyPr/>
                    <a:lstStyle/>
                    <a:p>
                      <a:pPr algn="l"/>
                      <a:r>
                        <a:rPr sz="950" b="1">
                          <a:solidFill>
                            <a:srgbClr val="24312B"/>
                          </a:solidFill>
                          <a:latin typeface="Calibri"/>
                        </a:rPr>
                        <a:t>MonAtelier</a:t>
                      </a:r>
                    </a:p>
                  </a:txBody>
                  <a:tcPr marL="54864" marR="54864" marT="9144" marB="9144" anchor="ctr">
                    <a:solidFill>
                      <a:srgbClr val="FAF7F0"/>
                    </a:solidFill>
                  </a:tcPr>
                </a:tc>
                <a:tc>
                  <a:txBody>
                    <a:bodyPr/>
                    <a:lstStyle/>
                    <a:p>
                      <a:pPr algn="l"/>
                      <a:r>
                        <a:rPr sz="900" b="0">
                          <a:solidFill>
                            <a:srgbClr val="68796F"/>
                          </a:solidFill>
                          <a:latin typeface="Calibri"/>
                        </a:rPr>
                        <a:t>Non documentée</a:t>
                      </a:r>
                    </a:p>
                  </a:txBody>
                  <a:tcPr marL="54864" marR="54864" marT="9144" marB="9144" anchor="ctr">
                    <a:solidFill>
                      <a:srgbClr val="FAF7F0"/>
                    </a:solidFill>
                  </a:tcPr>
                </a:tc>
                <a:tc>
                  <a:txBody>
                    <a:bodyPr/>
                    <a:lstStyle/>
                    <a:p>
                      <a:pPr algn="l"/>
                      <a:r>
                        <a:rPr sz="900" b="0">
                          <a:solidFill>
                            <a:srgbClr val="68796F"/>
                          </a:solidFill>
                          <a:latin typeface="Calibri"/>
                        </a:rPr>
                        <a:t>Mobile</a:t>
                      </a:r>
                    </a:p>
                  </a:txBody>
                  <a:tcPr marL="54864" marR="54864" marT="9144" marB="9144" anchor="ctr">
                    <a:solidFill>
                      <a:srgbClr val="FAF7F0"/>
                    </a:solidFill>
                  </a:tcPr>
                </a:tc>
                <a:tc>
                  <a:txBody>
                    <a:bodyPr/>
                    <a:lstStyle/>
                    <a:p>
                      <a:pPr algn="l"/>
                      <a:r>
                        <a:rPr sz="900" b="0">
                          <a:solidFill>
                            <a:srgbClr val="68796F"/>
                          </a:solidFill>
                          <a:latin typeface="Calibri"/>
                        </a:rPr>
                        <a:t>Propriétaire</a:t>
                      </a:r>
                    </a:p>
                  </a:txBody>
                  <a:tcPr marL="54864" marR="54864" marT="9144" marB="9144" anchor="ctr">
                    <a:solidFill>
                      <a:srgbClr val="FAF7F0"/>
                    </a:solidFill>
                  </a:tcPr>
                </a:tc>
                <a:tc>
                  <a:txBody>
                    <a:bodyPr/>
                    <a:lstStyle/>
                    <a:p>
                      <a:pPr algn="l"/>
                      <a:r>
                        <a:rPr sz="900" b="0">
                          <a:solidFill>
                            <a:srgbClr val="68796F"/>
                          </a:solidFill>
                          <a:latin typeface="Calibri"/>
                        </a:rPr>
                        <a:t>Cloud + cache offline</a:t>
                      </a:r>
                    </a:p>
                  </a:txBody>
                  <a:tcPr marL="54864" marR="54864" marT="9144" marB="9144" anchor="ctr">
                    <a:solidFill>
                      <a:srgbClr val="FAF7F0"/>
                    </a:solidFill>
                  </a:tcPr>
                </a:tc>
                <a:tc>
                  <a:txBody>
                    <a:bodyPr/>
                    <a:lstStyle/>
                    <a:p>
                      <a:pPr algn="l"/>
                      <a:r>
                        <a:rPr sz="900" b="0">
                          <a:solidFill>
                            <a:srgbClr val="24312B"/>
                          </a:solidFill>
                          <a:latin typeface="Calibri"/>
                        </a:rPr>
                        <a:t>Afrique francophone</a:t>
                      </a:r>
                    </a:p>
                  </a:txBody>
                  <a:tcPr marL="54864" marR="54864" marT="9144" marB="9144" anchor="ctr">
                    <a:solidFill>
                      <a:srgbClr val="FAF7F0"/>
                    </a:solidFill>
                  </a:tcPr>
                </a:tc>
              </a:tr>
              <a:tr h="386861">
                <a:tc>
                  <a:txBody>
                    <a:bodyPr/>
                    <a:lstStyle/>
                    <a:p>
                      <a:pPr algn="l"/>
                      <a:r>
                        <a:rPr sz="950" b="1">
                          <a:solidFill>
                            <a:srgbClr val="24312B"/>
                          </a:solidFill>
                          <a:latin typeface="Calibri"/>
                        </a:rPr>
                        <a:t>TailorMate</a:t>
                      </a:r>
                    </a:p>
                  </a:txBody>
                  <a:tcPr marL="54864" marR="54864" marT="9144" marB="9144" anchor="ctr">
                    <a:solidFill>
                      <a:srgbClr val="FFFFFF"/>
                    </a:solidFill>
                  </a:tcPr>
                </a:tc>
                <a:tc>
                  <a:txBody>
                    <a:bodyPr/>
                    <a:lstStyle/>
                    <a:p>
                      <a:pPr algn="l"/>
                      <a:r>
                        <a:rPr sz="900" b="0">
                          <a:solidFill>
                            <a:srgbClr val="68796F"/>
                          </a:solidFill>
                          <a:latin typeface="Calibri"/>
                        </a:rPr>
                        <a:t>Non documentée</a:t>
                      </a:r>
                    </a:p>
                  </a:txBody>
                  <a:tcPr marL="54864" marR="54864" marT="9144" marB="9144" anchor="ctr">
                    <a:solidFill>
                      <a:srgbClr val="FFFFFF"/>
                    </a:solidFill>
                  </a:tcPr>
                </a:tc>
                <a:tc>
                  <a:txBody>
                    <a:bodyPr/>
                    <a:lstStyle/>
                    <a:p>
                      <a:pPr algn="l"/>
                      <a:r>
                        <a:rPr sz="900" b="0">
                          <a:solidFill>
                            <a:srgbClr val="68796F"/>
                          </a:solidFill>
                          <a:latin typeface="Calibri"/>
                        </a:rPr>
                        <a:t>Mobile + Web</a:t>
                      </a:r>
                    </a:p>
                  </a:txBody>
                  <a:tcPr marL="54864" marR="54864" marT="9144" marB="9144" anchor="ctr">
                    <a:solidFill>
                      <a:srgbClr val="FFFFFF"/>
                    </a:solidFill>
                  </a:tcPr>
                </a:tc>
                <a:tc>
                  <a:txBody>
                    <a:bodyPr/>
                    <a:lstStyle/>
                    <a:p>
                      <a:pPr algn="l"/>
                      <a:r>
                        <a:rPr sz="900" b="0">
                          <a:solidFill>
                            <a:srgbClr val="68796F"/>
                          </a:solidFill>
                          <a:latin typeface="Calibri"/>
                        </a:rPr>
                        <a:t>Propriétaire</a:t>
                      </a:r>
                    </a:p>
                  </a:txBody>
                  <a:tcPr marL="54864" marR="54864" marT="9144" marB="9144" anchor="ctr">
                    <a:solidFill>
                      <a:srgbClr val="FFFFFF"/>
                    </a:solidFill>
                  </a:tcPr>
                </a:tc>
                <a:tc>
                  <a:txBody>
                    <a:bodyPr/>
                    <a:lstStyle/>
                    <a:p>
                      <a:pPr algn="l"/>
                      <a:r>
                        <a:rPr sz="900" b="0">
                          <a:solidFill>
                            <a:srgbClr val="68796F"/>
                          </a:solidFill>
                          <a:latin typeface="Calibri"/>
                        </a:rPr>
                        <a:t>Cloud</a:t>
                      </a:r>
                    </a:p>
                  </a:txBody>
                  <a:tcPr marL="54864" marR="54864" marT="9144" marB="9144" anchor="ctr">
                    <a:solidFill>
                      <a:srgbClr val="FFFFFF"/>
                    </a:solidFill>
                  </a:tcPr>
                </a:tc>
                <a:tc>
                  <a:txBody>
                    <a:bodyPr/>
                    <a:lstStyle/>
                    <a:p>
                      <a:pPr algn="l"/>
                      <a:r>
                        <a:rPr sz="900" b="0">
                          <a:solidFill>
                            <a:srgbClr val="24312B"/>
                          </a:solidFill>
                          <a:latin typeface="Calibri"/>
                        </a:rPr>
                        <a:t>Inde / International</a:t>
                      </a:r>
                    </a:p>
                  </a:txBody>
                  <a:tcPr marL="54864" marR="54864" marT="9144" marB="9144" anchor="ctr">
                    <a:solidFill>
                      <a:srgbClr val="FFFFFF"/>
                    </a:solidFill>
                  </a:tcPr>
                </a:tc>
              </a:tr>
              <a:tr h="386861">
                <a:tc>
                  <a:txBody>
                    <a:bodyPr/>
                    <a:lstStyle/>
                    <a:p>
                      <a:pPr algn="l"/>
                      <a:r>
                        <a:rPr sz="950" b="1">
                          <a:solidFill>
                            <a:srgbClr val="24312B"/>
                          </a:solidFill>
                          <a:latin typeface="Calibri"/>
                        </a:rPr>
                        <a:t>TailorPad</a:t>
                      </a:r>
                    </a:p>
                  </a:txBody>
                  <a:tcPr marL="54864" marR="54864" marT="9144" marB="9144" anchor="ctr">
                    <a:solidFill>
                      <a:srgbClr val="FAF7F0"/>
                    </a:solidFill>
                  </a:tcPr>
                </a:tc>
                <a:tc>
                  <a:txBody>
                    <a:bodyPr/>
                    <a:lstStyle/>
                    <a:p>
                      <a:pPr algn="l"/>
                      <a:r>
                        <a:rPr sz="900" b="0">
                          <a:solidFill>
                            <a:srgbClr val="68796F"/>
                          </a:solidFill>
                          <a:latin typeface="Calibri"/>
                        </a:rPr>
                        <a:t>ERP modulaire</a:t>
                      </a:r>
                    </a:p>
                  </a:txBody>
                  <a:tcPr marL="54864" marR="54864" marT="9144" marB="9144" anchor="ctr">
                    <a:solidFill>
                      <a:srgbClr val="FAF7F0"/>
                    </a:solidFill>
                  </a:tcPr>
                </a:tc>
                <a:tc>
                  <a:txBody>
                    <a:bodyPr/>
                    <a:lstStyle/>
                    <a:p>
                      <a:pPr algn="l"/>
                      <a:r>
                        <a:rPr sz="900" b="0">
                          <a:solidFill>
                            <a:srgbClr val="68796F"/>
                          </a:solidFill>
                          <a:latin typeface="Calibri"/>
                        </a:rPr>
                        <a:t>Web</a:t>
                      </a:r>
                    </a:p>
                  </a:txBody>
                  <a:tcPr marL="54864" marR="54864" marT="9144" marB="9144" anchor="ctr">
                    <a:solidFill>
                      <a:srgbClr val="FAF7F0"/>
                    </a:solidFill>
                  </a:tcPr>
                </a:tc>
                <a:tc>
                  <a:txBody>
                    <a:bodyPr/>
                    <a:lstStyle/>
                    <a:p>
                      <a:pPr algn="l"/>
                      <a:r>
                        <a:rPr sz="900" b="0">
                          <a:solidFill>
                            <a:srgbClr val="68796F"/>
                          </a:solidFill>
                          <a:latin typeface="Calibri"/>
                        </a:rPr>
                        <a:t>Propriétaire</a:t>
                      </a:r>
                    </a:p>
                  </a:txBody>
                  <a:tcPr marL="54864" marR="54864" marT="9144" marB="9144" anchor="ctr">
                    <a:solidFill>
                      <a:srgbClr val="FAF7F0"/>
                    </a:solidFill>
                  </a:tcPr>
                </a:tc>
                <a:tc>
                  <a:txBody>
                    <a:bodyPr/>
                    <a:lstStyle/>
                    <a:p>
                      <a:pPr algn="l"/>
                      <a:r>
                        <a:rPr sz="900" b="0">
                          <a:solidFill>
                            <a:srgbClr val="68796F"/>
                          </a:solidFill>
                          <a:latin typeface="Calibri"/>
                        </a:rPr>
                        <a:t>Cloud</a:t>
                      </a:r>
                    </a:p>
                  </a:txBody>
                  <a:tcPr marL="54864" marR="54864" marT="9144" marB="9144" anchor="ctr">
                    <a:solidFill>
                      <a:srgbClr val="FAF7F0"/>
                    </a:solidFill>
                  </a:tcPr>
                </a:tc>
                <a:tc>
                  <a:txBody>
                    <a:bodyPr/>
                    <a:lstStyle/>
                    <a:p>
                      <a:pPr algn="l"/>
                      <a:r>
                        <a:rPr sz="900" b="0">
                          <a:solidFill>
                            <a:srgbClr val="24312B"/>
                          </a:solidFill>
                          <a:latin typeface="Calibri"/>
                        </a:rPr>
                        <a:t>Inde / International</a:t>
                      </a:r>
                    </a:p>
                  </a:txBody>
                  <a:tcPr marL="54864" marR="54864" marT="9144" marB="9144" anchor="ctr">
                    <a:solidFill>
                      <a:srgbClr val="FAF7F0"/>
                    </a:solidFill>
                  </a:tcPr>
                </a:tc>
              </a:tr>
              <a:tr h="386861">
                <a:tc>
                  <a:txBody>
                    <a:bodyPr/>
                    <a:lstStyle/>
                    <a:p>
                      <a:pPr algn="l"/>
                      <a:r>
                        <a:rPr sz="950" b="1">
                          <a:solidFill>
                            <a:srgbClr val="24312B"/>
                          </a:solidFill>
                          <a:latin typeface="Calibri"/>
                        </a:rPr>
                        <a:t>Atelierware</a:t>
                      </a:r>
                    </a:p>
                  </a:txBody>
                  <a:tcPr marL="54864" marR="54864" marT="9144" marB="9144" anchor="ctr">
                    <a:solidFill>
                      <a:srgbClr val="FFFFFF"/>
                    </a:solidFill>
                  </a:tcPr>
                </a:tc>
                <a:tc>
                  <a:txBody>
                    <a:bodyPr/>
                    <a:lstStyle/>
                    <a:p>
                      <a:pPr algn="l"/>
                      <a:r>
                        <a:rPr sz="900" b="0">
                          <a:solidFill>
                            <a:srgbClr val="68796F"/>
                          </a:solidFill>
                          <a:latin typeface="Calibri"/>
                        </a:rPr>
                        <a:t>Non documentée</a:t>
                      </a:r>
                    </a:p>
                  </a:txBody>
                  <a:tcPr marL="54864" marR="54864" marT="9144" marB="9144" anchor="ctr">
                    <a:solidFill>
                      <a:srgbClr val="FFFFFF"/>
                    </a:solidFill>
                  </a:tcPr>
                </a:tc>
                <a:tc>
                  <a:txBody>
                    <a:bodyPr/>
                    <a:lstStyle/>
                    <a:p>
                      <a:pPr algn="l"/>
                      <a:r>
                        <a:rPr sz="900" b="0">
                          <a:solidFill>
                            <a:srgbClr val="68796F"/>
                          </a:solidFill>
                          <a:latin typeface="Calibri"/>
                        </a:rPr>
                        <a:t>Web + Mobile</a:t>
                      </a:r>
                    </a:p>
                  </a:txBody>
                  <a:tcPr marL="54864" marR="54864" marT="9144" marB="9144" anchor="ctr">
                    <a:solidFill>
                      <a:srgbClr val="FFFFFF"/>
                    </a:solidFill>
                  </a:tcPr>
                </a:tc>
                <a:tc>
                  <a:txBody>
                    <a:bodyPr/>
                    <a:lstStyle/>
                    <a:p>
                      <a:pPr algn="l"/>
                      <a:r>
                        <a:rPr sz="900" b="0">
                          <a:solidFill>
                            <a:srgbClr val="68796F"/>
                          </a:solidFill>
                          <a:latin typeface="Calibri"/>
                        </a:rPr>
                        <a:t>Propriétaire</a:t>
                      </a:r>
                    </a:p>
                  </a:txBody>
                  <a:tcPr marL="54864" marR="54864" marT="9144" marB="9144" anchor="ctr">
                    <a:solidFill>
                      <a:srgbClr val="FFFFFF"/>
                    </a:solidFill>
                  </a:tcPr>
                </a:tc>
                <a:tc>
                  <a:txBody>
                    <a:bodyPr/>
                    <a:lstStyle/>
                    <a:p>
                      <a:pPr algn="l"/>
                      <a:r>
                        <a:rPr sz="900" b="0">
                          <a:solidFill>
                            <a:srgbClr val="68796F"/>
                          </a:solidFill>
                          <a:latin typeface="Calibri"/>
                        </a:rPr>
                        <a:t>Cloud</a:t>
                      </a:r>
                    </a:p>
                  </a:txBody>
                  <a:tcPr marL="54864" marR="54864" marT="9144" marB="9144" anchor="ctr">
                    <a:solidFill>
                      <a:srgbClr val="FFFFFF"/>
                    </a:solidFill>
                  </a:tcPr>
                </a:tc>
                <a:tc>
                  <a:txBody>
                    <a:bodyPr/>
                    <a:lstStyle/>
                    <a:p>
                      <a:pPr algn="l"/>
                      <a:r>
                        <a:rPr sz="900" b="0">
                          <a:solidFill>
                            <a:srgbClr val="24312B"/>
                          </a:solidFill>
                          <a:latin typeface="Calibri"/>
                        </a:rPr>
                        <a:t>Inde / International</a:t>
                      </a:r>
                    </a:p>
                  </a:txBody>
                  <a:tcPr marL="54864" marR="54864" marT="9144" marB="9144" anchor="ctr">
                    <a:solidFill>
                      <a:srgbClr val="FFFFFF"/>
                    </a:solidFill>
                  </a:tcPr>
                </a:tc>
              </a:tr>
              <a:tr h="386861">
                <a:tc>
                  <a:txBody>
                    <a:bodyPr/>
                    <a:lstStyle/>
                    <a:p>
                      <a:pPr algn="l"/>
                      <a:r>
                        <a:rPr sz="950" b="1">
                          <a:solidFill>
                            <a:srgbClr val="24312B"/>
                          </a:solidFill>
                          <a:latin typeface="Calibri"/>
                        </a:rPr>
                        <a:t>Orderry</a:t>
                      </a:r>
                    </a:p>
                  </a:txBody>
                  <a:tcPr marL="54864" marR="54864" marT="9144" marB="9144" anchor="ctr">
                    <a:solidFill>
                      <a:srgbClr val="FAF7F0"/>
                    </a:solidFill>
                  </a:tcPr>
                </a:tc>
                <a:tc>
                  <a:txBody>
                    <a:bodyPr/>
                    <a:lstStyle/>
                    <a:p>
                      <a:pPr algn="l"/>
                      <a:r>
                        <a:rPr sz="900" b="0">
                          <a:solidFill>
                            <a:srgbClr val="68796F"/>
                          </a:solidFill>
                          <a:latin typeface="Calibri"/>
                        </a:rPr>
                        <a:t>Non documentée</a:t>
                      </a:r>
                    </a:p>
                  </a:txBody>
                  <a:tcPr marL="54864" marR="54864" marT="9144" marB="9144" anchor="ctr">
                    <a:solidFill>
                      <a:srgbClr val="FAF7F0"/>
                    </a:solidFill>
                  </a:tcPr>
                </a:tc>
                <a:tc>
                  <a:txBody>
                    <a:bodyPr/>
                    <a:lstStyle/>
                    <a:p>
                      <a:pPr algn="l"/>
                      <a:r>
                        <a:rPr sz="900" b="0">
                          <a:solidFill>
                            <a:srgbClr val="68796F"/>
                          </a:solidFill>
                          <a:latin typeface="Calibri"/>
                        </a:rPr>
                        <a:t>Web + Mobile</a:t>
                      </a:r>
                    </a:p>
                  </a:txBody>
                  <a:tcPr marL="54864" marR="54864" marT="9144" marB="9144" anchor="ctr">
                    <a:solidFill>
                      <a:srgbClr val="FAF7F0"/>
                    </a:solidFill>
                  </a:tcPr>
                </a:tc>
                <a:tc>
                  <a:txBody>
                    <a:bodyPr/>
                    <a:lstStyle/>
                    <a:p>
                      <a:pPr algn="l"/>
                      <a:r>
                        <a:rPr sz="900" b="0">
                          <a:solidFill>
                            <a:srgbClr val="68796F"/>
                          </a:solidFill>
                          <a:latin typeface="Calibri"/>
                        </a:rPr>
                        <a:t>Propriétaire</a:t>
                      </a:r>
                    </a:p>
                  </a:txBody>
                  <a:tcPr marL="54864" marR="54864" marT="9144" marB="9144" anchor="ctr">
                    <a:solidFill>
                      <a:srgbClr val="FAF7F0"/>
                    </a:solidFill>
                  </a:tcPr>
                </a:tc>
                <a:tc>
                  <a:txBody>
                    <a:bodyPr/>
                    <a:lstStyle/>
                    <a:p>
                      <a:pPr algn="l"/>
                      <a:r>
                        <a:rPr sz="900" b="0">
                          <a:solidFill>
                            <a:srgbClr val="68796F"/>
                          </a:solidFill>
                          <a:latin typeface="Calibri"/>
                        </a:rPr>
                        <a:t>Cloud</a:t>
                      </a:r>
                    </a:p>
                  </a:txBody>
                  <a:tcPr marL="54864" marR="54864" marT="9144" marB="9144" anchor="ctr">
                    <a:solidFill>
                      <a:srgbClr val="FAF7F0"/>
                    </a:solidFill>
                  </a:tcPr>
                </a:tc>
                <a:tc>
                  <a:txBody>
                    <a:bodyPr/>
                    <a:lstStyle/>
                    <a:p>
                      <a:pPr algn="l"/>
                      <a:r>
                        <a:rPr sz="900" b="0">
                          <a:solidFill>
                            <a:srgbClr val="24312B"/>
                          </a:solidFill>
                          <a:latin typeface="Calibri"/>
                        </a:rPr>
                        <a:t>International</a:t>
                      </a:r>
                    </a:p>
                  </a:txBody>
                  <a:tcPr marL="54864" marR="54864" marT="9144" marB="9144" anchor="ctr">
                    <a:solidFill>
                      <a:srgbClr val="FAF7F0"/>
                    </a:solidFill>
                  </a:tcPr>
                </a:tc>
              </a:tr>
              <a:tr h="386861">
                <a:tc>
                  <a:txBody>
                    <a:bodyPr/>
                    <a:lstStyle/>
                    <a:p>
                      <a:pPr algn="l"/>
                      <a:r>
                        <a:rPr sz="950" b="1">
                          <a:solidFill>
                            <a:srgbClr val="24312B"/>
                          </a:solidFill>
                          <a:latin typeface="Calibri"/>
                        </a:rPr>
                        <a:t>Geelus</a:t>
                      </a:r>
                    </a:p>
                  </a:txBody>
                  <a:tcPr marL="54864" marR="54864" marT="9144" marB="9144" anchor="ctr">
                    <a:solidFill>
                      <a:srgbClr val="FFFFFF"/>
                    </a:solidFill>
                  </a:tcPr>
                </a:tc>
                <a:tc>
                  <a:txBody>
                    <a:bodyPr/>
                    <a:lstStyle/>
                    <a:p>
                      <a:pPr algn="l"/>
                      <a:r>
                        <a:rPr sz="900" b="0">
                          <a:solidFill>
                            <a:srgbClr val="68796F"/>
                          </a:solidFill>
                          <a:latin typeface="Calibri"/>
                        </a:rPr>
                        <a:t>Non documentée</a:t>
                      </a:r>
                    </a:p>
                  </a:txBody>
                  <a:tcPr marL="54864" marR="54864" marT="9144" marB="9144" anchor="ctr">
                    <a:solidFill>
                      <a:srgbClr val="FFFFFF"/>
                    </a:solidFill>
                  </a:tcPr>
                </a:tc>
                <a:tc>
                  <a:txBody>
                    <a:bodyPr/>
                    <a:lstStyle/>
                    <a:p>
                      <a:pPr algn="l"/>
                      <a:r>
                        <a:rPr sz="900" b="0">
                          <a:solidFill>
                            <a:srgbClr val="68796F"/>
                          </a:solidFill>
                          <a:latin typeface="Calibri"/>
                        </a:rPr>
                        <a:t>Web+Mobile+Desktop</a:t>
                      </a:r>
                    </a:p>
                  </a:txBody>
                  <a:tcPr marL="54864" marR="54864" marT="9144" marB="9144" anchor="ctr">
                    <a:solidFill>
                      <a:srgbClr val="FFFFFF"/>
                    </a:solidFill>
                  </a:tcPr>
                </a:tc>
                <a:tc>
                  <a:txBody>
                    <a:bodyPr/>
                    <a:lstStyle/>
                    <a:p>
                      <a:pPr algn="l"/>
                      <a:r>
                        <a:rPr sz="900" b="0">
                          <a:solidFill>
                            <a:srgbClr val="68796F"/>
                          </a:solidFill>
                          <a:latin typeface="Calibri"/>
                        </a:rPr>
                        <a:t>Propriétaire</a:t>
                      </a:r>
                    </a:p>
                  </a:txBody>
                  <a:tcPr marL="54864" marR="54864" marT="9144" marB="9144" anchor="ctr">
                    <a:solidFill>
                      <a:srgbClr val="FFFFFF"/>
                    </a:solidFill>
                  </a:tcPr>
                </a:tc>
                <a:tc>
                  <a:txBody>
                    <a:bodyPr/>
                    <a:lstStyle/>
                    <a:p>
                      <a:pPr algn="l"/>
                      <a:r>
                        <a:rPr sz="900" b="0">
                          <a:solidFill>
                            <a:srgbClr val="68796F"/>
                          </a:solidFill>
                          <a:latin typeface="Calibri"/>
                        </a:rPr>
                        <a:t>Cloud</a:t>
                      </a:r>
                    </a:p>
                  </a:txBody>
                  <a:tcPr marL="54864" marR="54864" marT="9144" marB="9144" anchor="ctr">
                    <a:solidFill>
                      <a:srgbClr val="FFFFFF"/>
                    </a:solidFill>
                  </a:tcPr>
                </a:tc>
                <a:tc>
                  <a:txBody>
                    <a:bodyPr/>
                    <a:lstStyle/>
                    <a:p>
                      <a:pPr algn="l"/>
                      <a:r>
                        <a:rPr sz="900" b="0">
                          <a:solidFill>
                            <a:srgbClr val="24312B"/>
                          </a:solidFill>
                          <a:latin typeface="Calibri"/>
                        </a:rPr>
                        <a:t>International (USA)</a:t>
                      </a:r>
                    </a:p>
                  </a:txBody>
                  <a:tcPr marL="54864" marR="54864" marT="9144" marB="9144" anchor="ctr">
                    <a:solidFill>
                      <a:srgbClr val="FFFFFF"/>
                    </a:solidFill>
                  </a:tcPr>
                </a:tc>
              </a:tr>
              <a:tr h="386861">
                <a:tc>
                  <a:txBody>
                    <a:bodyPr/>
                    <a:lstStyle/>
                    <a:p>
                      <a:pPr algn="l"/>
                      <a:r>
                        <a:rPr sz="950" b="1">
                          <a:solidFill>
                            <a:srgbClr val="24312B"/>
                          </a:solidFill>
                          <a:latin typeface="Calibri"/>
                        </a:rPr>
                        <a:t>Perfect Tailor Manager</a:t>
                      </a:r>
                    </a:p>
                  </a:txBody>
                  <a:tcPr marL="54864" marR="54864" marT="9144" marB="9144" anchor="ctr">
                    <a:solidFill>
                      <a:srgbClr val="FAF7F0"/>
                    </a:solidFill>
                  </a:tcPr>
                </a:tc>
                <a:tc>
                  <a:txBody>
                    <a:bodyPr/>
                    <a:lstStyle/>
                    <a:p>
                      <a:pPr algn="l"/>
                      <a:r>
                        <a:rPr sz="900" b="0">
                          <a:solidFill>
                            <a:srgbClr val="68796F"/>
                          </a:solidFill>
                          <a:latin typeface="Calibri"/>
                        </a:rPr>
                        <a:t>Non documentée</a:t>
                      </a:r>
                    </a:p>
                  </a:txBody>
                  <a:tcPr marL="54864" marR="54864" marT="9144" marB="9144" anchor="ctr">
                    <a:solidFill>
                      <a:srgbClr val="FAF7F0"/>
                    </a:solidFill>
                  </a:tcPr>
                </a:tc>
                <a:tc>
                  <a:txBody>
                    <a:bodyPr/>
                    <a:lstStyle/>
                    <a:p>
                      <a:pPr algn="l"/>
                      <a:r>
                        <a:rPr sz="900" b="0">
                          <a:solidFill>
                            <a:srgbClr val="68796F"/>
                          </a:solidFill>
                          <a:latin typeface="Calibri"/>
                        </a:rPr>
                        <a:t>Desktop/LAN + cloud option</a:t>
                      </a:r>
                    </a:p>
                  </a:txBody>
                  <a:tcPr marL="54864" marR="54864" marT="9144" marB="9144" anchor="ctr">
                    <a:solidFill>
                      <a:srgbClr val="FAF7F0"/>
                    </a:solidFill>
                  </a:tcPr>
                </a:tc>
                <a:tc>
                  <a:txBody>
                    <a:bodyPr/>
                    <a:lstStyle/>
                    <a:p>
                      <a:pPr algn="l"/>
                      <a:r>
                        <a:rPr sz="900" b="0">
                          <a:solidFill>
                            <a:srgbClr val="68796F"/>
                          </a:solidFill>
                          <a:latin typeface="Calibri"/>
                        </a:rPr>
                        <a:t>Propriétaire</a:t>
                      </a:r>
                    </a:p>
                  </a:txBody>
                  <a:tcPr marL="54864" marR="54864" marT="9144" marB="9144" anchor="ctr">
                    <a:solidFill>
                      <a:srgbClr val="FAF7F0"/>
                    </a:solidFill>
                  </a:tcPr>
                </a:tc>
                <a:tc>
                  <a:txBody>
                    <a:bodyPr/>
                    <a:lstStyle/>
                    <a:p>
                      <a:pPr algn="l"/>
                      <a:r>
                        <a:rPr sz="900" b="0">
                          <a:solidFill>
                            <a:srgbClr val="68796F"/>
                          </a:solidFill>
                          <a:latin typeface="Calibri"/>
                        </a:rPr>
                        <a:t>On-premise + Cloud</a:t>
                      </a:r>
                    </a:p>
                  </a:txBody>
                  <a:tcPr marL="54864" marR="54864" marT="9144" marB="9144" anchor="ctr">
                    <a:solidFill>
                      <a:srgbClr val="FAF7F0"/>
                    </a:solidFill>
                  </a:tcPr>
                </a:tc>
                <a:tc>
                  <a:txBody>
                    <a:bodyPr/>
                    <a:lstStyle/>
                    <a:p>
                      <a:pPr algn="l"/>
                      <a:r>
                        <a:rPr sz="900" b="0">
                          <a:solidFill>
                            <a:srgbClr val="24312B"/>
                          </a:solidFill>
                          <a:latin typeface="Calibri"/>
                        </a:rPr>
                        <a:t>International</a:t>
                      </a:r>
                    </a:p>
                  </a:txBody>
                  <a:tcPr marL="54864" marR="54864" marT="9144" marB="9144" anchor="ctr">
                    <a:solidFill>
                      <a:srgbClr val="FAF7F0"/>
                    </a:solidFill>
                  </a:tcPr>
                </a:tc>
              </a:tr>
            </a:tbl>
          </a:graphicData>
        </a:graphic>
      </p:graphicFrame>
      <p:sp>
        <p:nvSpPr>
          <p:cNvPr id="5" name="TextBox 4"/>
          <p:cNvSpPr txBox="1"/>
          <p:nvPr/>
        </p:nvSpPr>
        <p:spPr>
          <a:xfrm>
            <a:off x="640080" y="6519672"/>
            <a:ext cx="7315200" cy="274320"/>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68796F"/>
                </a:solidFill>
                <a:latin typeface="Calibri"/>
              </a:rPr>
              <a:t>Kayñiawlu — Soutenance de mémoire</a:t>
            </a:r>
          </a:p>
        </p:txBody>
      </p:sp>
      <p:sp>
        <p:nvSpPr>
          <p:cNvPr id="6" name="TextBox 5"/>
          <p:cNvSpPr txBox="1"/>
          <p:nvPr/>
        </p:nvSpPr>
        <p:spPr>
          <a:xfrm>
            <a:off x="10180015" y="6519672"/>
            <a:ext cx="1371600" cy="274320"/>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8796F"/>
                </a:solidFill>
                <a:latin typeface="Calibri"/>
              </a:rPr>
              <a:t>14</a:t>
            </a:r>
          </a:p>
        </p:txBody>
      </p:sp>
    </p:spTree>
  </p:cSld>
  <p:clrMapOvr>
    <a:masterClrMapping/>
  </p:clrMapOvr>
  <p:transition spd="med">
    <p:fade/>
  </p:transition>
  <p:timing>
    <p:tnLst>
      <p:par>
        <p:cTn id="104" dur="indefinite" restart="never" nodeType="tmRoot">
          <p:childTnLst>
            <p:seq concurrent="1" nextAc="seek">
              <p:cTn id="105" dur="indefinite" nodeType="mainSeq">
                <p:childTnLst>
                  <p:par>
                    <p:cTn id="106" fill="hold">
                      <p:stCondLst>
                        <p:cond delay="0"/>
                      </p:stCondLst>
                      <p:childTnLst>
                        <p:par>
                          <p:cTn id="101" presetID="10" presetClass="entr" presetSubtype="0" fill="hold" grpId="0" nodeType="afterEffect">
                            <p:stCondLst>
                              <p:cond delay="0"/>
                            </p:stCondLst>
                            <p:childTnLst>
                              <p:set>
                                <p:cBhvr>
                                  <p:cTn id="102" dur="1" fill="hold">
                                    <p:stCondLst>
                                      <p:cond delay="0"/>
                                    </p:stCondLst>
                                  </p:cTn>
                                  <p:tgtEl>
                                    <p:spTgt spid="4"/>
                                  </p:tgtEl>
                                  <p:attrNameLst>
                                    <p:attrName>style.visibility</p:attrName>
                                  </p:attrNameLst>
                                </p:cBhvr>
                                <p:to>
                                  <p:strVal val="visible"/>
                                </p:to>
                              </p:set>
                              <p:animEffect transition="in" filter="fade">
                                <p:cBhvr>
                                  <p:cTn id="103" dur="420"/>
                                  <p:tgtEl>
                                    <p:spTgt spid="4"/>
                                  </p:tgtEl>
                                </p:cBhvr>
                              </p:animEffect>
                            </p:childTnLst>
                          </p:cTn>
                        </p:par>
                      </p:childTnLst>
                    </p:cTn>
                  </p:par>
                </p:childTnLst>
              </p:cTn>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F5B4C"/>
        </a:solidFill>
        <a:effectLst/>
      </p:bgPr>
    </p:bg>
    <p:spTree>
      <p:nvGrpSpPr>
        <p:cNvPr id="1" name=""/>
        <p:cNvGrpSpPr/>
        <p:nvPr/>
      </p:nvGrpSpPr>
      <p:grpSpPr/>
      <p:sp>
        <p:nvSpPr>
          <p:cNvPr id="2" name="TextBox 1"/>
          <p:cNvSpPr txBox="1"/>
          <p:nvPr/>
        </p:nvSpPr>
        <p:spPr>
          <a:xfrm>
            <a:off x="640080" y="457200"/>
            <a:ext cx="10881360" cy="292608"/>
          </a:xfrm>
          <a:prstGeom prst="rect">
            <a:avLst/>
          </a:prstGeom>
          <a:noFill/>
        </p:spPr>
        <p:txBody>
          <a:bodyPr wrap="square" lIns="0" rIns="0" tIns="0" bIns="0" anchor="t">
            <a:spAutoFit/>
          </a:bodyPr>
          <a:lstStyle/>
          <a:p>
            <a:pPr algn="l">
              <a:lnSpc>
                <a:spcPct val="100000"/>
              </a:lnSpc>
              <a:spcBef>
                <a:spcPts val="0"/>
              </a:spcBef>
              <a:spcAft>
                <a:spcPts val="0"/>
              </a:spcAft>
            </a:pPr>
            <a:r>
              <a:rPr sz="1250" b="1" i="0">
                <a:solidFill>
                  <a:srgbClr val="E6BD7C"/>
                </a:solidFill>
                <a:latin typeface="Calibri"/>
              </a:rPr>
              <a:t>TRAVAUX SIMILAIRES · CONCLUSION</a:t>
            </a:r>
          </a:p>
        </p:txBody>
      </p:sp>
      <p:sp>
        <p:nvSpPr>
          <p:cNvPr id="3" name="TextBox 2"/>
          <p:cNvSpPr txBox="1"/>
          <p:nvPr/>
        </p:nvSpPr>
        <p:spPr>
          <a:xfrm>
            <a:off x="640080" y="786384"/>
            <a:ext cx="10881360" cy="777240"/>
          </a:xfrm>
          <a:prstGeom prst="rect">
            <a:avLst/>
          </a:prstGeom>
          <a:noFill/>
        </p:spPr>
        <p:txBody>
          <a:bodyPr wrap="square" lIns="0" rIns="0" tIns="0" bIns="0" anchor="t">
            <a:spAutoFit/>
          </a:bodyPr>
          <a:lstStyle/>
          <a:p>
            <a:pPr algn="l">
              <a:lnSpc>
                <a:spcPct val="102000"/>
              </a:lnSpc>
              <a:spcBef>
                <a:spcPts val="0"/>
              </a:spcBef>
              <a:spcAft>
                <a:spcPts val="0"/>
              </a:spcAft>
            </a:pPr>
            <a:r>
              <a:rPr sz="2700" b="1" i="0">
                <a:solidFill>
                  <a:srgbClr val="FFFFFF"/>
                </a:solidFill>
                <a:latin typeface="Cambria"/>
              </a:rPr>
              <a:t>Aucune solution ne couvre l'ensemble des besoins</a:t>
            </a:r>
          </a:p>
        </p:txBody>
      </p:sp>
      <p:sp>
        <p:nvSpPr>
          <p:cNvPr id="4" name="Rounded Rectangle 3"/>
          <p:cNvSpPr/>
          <p:nvPr/>
        </p:nvSpPr>
        <p:spPr>
          <a:xfrm>
            <a:off x="685800" y="1600200"/>
            <a:ext cx="2606040" cy="2926080"/>
          </a:xfrm>
          <a:prstGeom prst="roundRect">
            <a:avLst>
              <a:gd name="adj" fmla="val 7000"/>
            </a:avLst>
          </a:prstGeom>
          <a:solidFill>
            <a:srgbClr val="1B7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86968" y="1810512"/>
            <a:ext cx="2203704" cy="777240"/>
          </a:xfrm>
          <a:prstGeom prst="rect">
            <a:avLst/>
          </a:prstGeom>
          <a:noFill/>
        </p:spPr>
        <p:txBody>
          <a:bodyPr wrap="square" lIns="0" rIns="0" tIns="0" bIns="0" anchor="t">
            <a:spAutoFit/>
          </a:bodyPr>
          <a:lstStyle/>
          <a:p>
            <a:pPr algn="l">
              <a:lnSpc>
                <a:spcPct val="100000"/>
              </a:lnSpc>
              <a:spcBef>
                <a:spcPts val="0"/>
              </a:spcBef>
              <a:spcAft>
                <a:spcPts val="0"/>
              </a:spcAft>
            </a:pPr>
            <a:r>
              <a:rPr sz="3200" b="1" i="0">
                <a:solidFill>
                  <a:srgbClr val="E6BD7C"/>
                </a:solidFill>
                <a:latin typeface="Cambria"/>
              </a:rPr>
              <a:t>12/12</a:t>
            </a:r>
          </a:p>
        </p:txBody>
      </p:sp>
      <p:sp>
        <p:nvSpPr>
          <p:cNvPr id="6" name="TextBox 5"/>
          <p:cNvSpPr txBox="1"/>
          <p:nvPr/>
        </p:nvSpPr>
        <p:spPr>
          <a:xfrm>
            <a:off x="886968" y="2606040"/>
            <a:ext cx="2203704" cy="1783080"/>
          </a:xfrm>
          <a:prstGeom prst="rect">
            <a:avLst/>
          </a:prstGeom>
          <a:noFill/>
        </p:spPr>
        <p:txBody>
          <a:bodyPr wrap="square" lIns="0" rIns="0" tIns="0" bIns="0" anchor="t">
            <a:spAutoFit/>
          </a:bodyPr>
          <a:lstStyle/>
          <a:p>
            <a:pPr algn="l">
              <a:lnSpc>
                <a:spcPct val="128000"/>
              </a:lnSpc>
              <a:spcBef>
                <a:spcPts val="0"/>
              </a:spcBef>
              <a:spcAft>
                <a:spcPts val="0"/>
              </a:spcAft>
            </a:pPr>
            <a:r>
              <a:rPr sz="1150" b="0" i="0">
                <a:solidFill>
                  <a:srgbClr val="A7BCB1"/>
                </a:solidFill>
                <a:latin typeface="Calibri"/>
              </a:rPr>
              <a:t>solutions couvrent F1 et F3 : le socle fonctionnel minimal du marché</a:t>
            </a:r>
          </a:p>
        </p:txBody>
      </p:sp>
      <p:sp>
        <p:nvSpPr>
          <p:cNvPr id="7" name="Rounded Rectangle 6"/>
          <p:cNvSpPr/>
          <p:nvPr/>
        </p:nvSpPr>
        <p:spPr>
          <a:xfrm>
            <a:off x="3520440" y="1600200"/>
            <a:ext cx="2606040" cy="2926080"/>
          </a:xfrm>
          <a:prstGeom prst="roundRect">
            <a:avLst>
              <a:gd name="adj" fmla="val 7000"/>
            </a:avLst>
          </a:prstGeom>
          <a:solidFill>
            <a:srgbClr val="1B7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721608" y="1810512"/>
            <a:ext cx="2203704" cy="777240"/>
          </a:xfrm>
          <a:prstGeom prst="rect">
            <a:avLst/>
          </a:prstGeom>
          <a:noFill/>
        </p:spPr>
        <p:txBody>
          <a:bodyPr wrap="square" lIns="0" rIns="0" tIns="0" bIns="0" anchor="t">
            <a:spAutoFit/>
          </a:bodyPr>
          <a:lstStyle/>
          <a:p>
            <a:pPr algn="l">
              <a:lnSpc>
                <a:spcPct val="100000"/>
              </a:lnSpc>
              <a:spcBef>
                <a:spcPts val="0"/>
              </a:spcBef>
              <a:spcAft>
                <a:spcPts val="0"/>
              </a:spcAft>
            </a:pPr>
            <a:r>
              <a:rPr sz="3200" b="1" i="0">
                <a:solidFill>
                  <a:srgbClr val="E6BD7C"/>
                </a:solidFill>
                <a:latin typeface="Cambria"/>
              </a:rPr>
              <a:t>4/12</a:t>
            </a:r>
          </a:p>
        </p:txBody>
      </p:sp>
      <p:sp>
        <p:nvSpPr>
          <p:cNvPr id="9" name="TextBox 8"/>
          <p:cNvSpPr txBox="1"/>
          <p:nvPr/>
        </p:nvSpPr>
        <p:spPr>
          <a:xfrm>
            <a:off x="3721608" y="2606040"/>
            <a:ext cx="2203704" cy="1783080"/>
          </a:xfrm>
          <a:prstGeom prst="rect">
            <a:avLst/>
          </a:prstGeom>
          <a:noFill/>
        </p:spPr>
        <p:txBody>
          <a:bodyPr wrap="square" lIns="0" rIns="0" tIns="0" bIns="0" anchor="t">
            <a:spAutoFit/>
          </a:bodyPr>
          <a:lstStyle/>
          <a:p>
            <a:pPr algn="l">
              <a:lnSpc>
                <a:spcPct val="128000"/>
              </a:lnSpc>
              <a:spcBef>
                <a:spcPts val="0"/>
              </a:spcBef>
              <a:spcAft>
                <a:spcPts val="0"/>
              </a:spcAft>
            </a:pPr>
            <a:r>
              <a:rPr sz="1150" b="0" i="0">
                <a:solidFill>
                  <a:srgbClr val="A7BCB1"/>
                </a:solidFill>
                <a:latin typeface="Calibri"/>
              </a:rPr>
              <a:t>seulement documentent F7 (mode hors-ligne) — le critère le plus critique au Sénégal</a:t>
            </a:r>
          </a:p>
        </p:txBody>
      </p:sp>
      <p:sp>
        <p:nvSpPr>
          <p:cNvPr id="10" name="Rounded Rectangle 9"/>
          <p:cNvSpPr/>
          <p:nvPr/>
        </p:nvSpPr>
        <p:spPr>
          <a:xfrm>
            <a:off x="6355080" y="1600200"/>
            <a:ext cx="2606040" cy="2926080"/>
          </a:xfrm>
          <a:prstGeom prst="roundRect">
            <a:avLst>
              <a:gd name="adj" fmla="val 7000"/>
            </a:avLst>
          </a:prstGeom>
          <a:solidFill>
            <a:srgbClr val="1B7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56248" y="1810512"/>
            <a:ext cx="2203704" cy="777240"/>
          </a:xfrm>
          <a:prstGeom prst="rect">
            <a:avLst/>
          </a:prstGeom>
          <a:noFill/>
        </p:spPr>
        <p:txBody>
          <a:bodyPr wrap="square" lIns="0" rIns="0" tIns="0" bIns="0" anchor="t">
            <a:spAutoFit/>
          </a:bodyPr>
          <a:lstStyle/>
          <a:p>
            <a:pPr algn="l">
              <a:lnSpc>
                <a:spcPct val="100000"/>
              </a:lnSpc>
              <a:spcBef>
                <a:spcPts val="0"/>
              </a:spcBef>
              <a:spcAft>
                <a:spcPts val="0"/>
              </a:spcAft>
            </a:pPr>
            <a:r>
              <a:rPr sz="3200" b="1" i="0">
                <a:solidFill>
                  <a:srgbClr val="E6BD7C"/>
                </a:solidFill>
                <a:latin typeface="Cambria"/>
              </a:rPr>
              <a:t>6/12</a:t>
            </a:r>
          </a:p>
        </p:txBody>
      </p:sp>
      <p:sp>
        <p:nvSpPr>
          <p:cNvPr id="12" name="TextBox 11"/>
          <p:cNvSpPr txBox="1"/>
          <p:nvPr/>
        </p:nvSpPr>
        <p:spPr>
          <a:xfrm>
            <a:off x="6556248" y="2606040"/>
            <a:ext cx="2203704" cy="1783080"/>
          </a:xfrm>
          <a:prstGeom prst="rect">
            <a:avLst/>
          </a:prstGeom>
          <a:noFill/>
        </p:spPr>
        <p:txBody>
          <a:bodyPr wrap="square" lIns="0" rIns="0" tIns="0" bIns="0" anchor="t">
            <a:spAutoFit/>
          </a:bodyPr>
          <a:lstStyle/>
          <a:p>
            <a:pPr algn="l">
              <a:lnSpc>
                <a:spcPct val="128000"/>
              </a:lnSpc>
              <a:spcBef>
                <a:spcPts val="0"/>
              </a:spcBef>
              <a:spcAft>
                <a:spcPts val="0"/>
              </a:spcAft>
            </a:pPr>
            <a:r>
              <a:rPr sz="1150" b="0" i="0">
                <a:solidFill>
                  <a:srgbClr val="A7BCB1"/>
                </a:solidFill>
                <a:latin typeface="Calibri"/>
              </a:rPr>
              <a:t>gèrent le multi-points de vente (F4), besoin central de l'Atelier Kalmy's</a:t>
            </a:r>
          </a:p>
        </p:txBody>
      </p:sp>
      <p:sp>
        <p:nvSpPr>
          <p:cNvPr id="13" name="Rounded Rectangle 12"/>
          <p:cNvSpPr/>
          <p:nvPr/>
        </p:nvSpPr>
        <p:spPr>
          <a:xfrm>
            <a:off x="9189720" y="1600200"/>
            <a:ext cx="2606040" cy="2926080"/>
          </a:xfrm>
          <a:prstGeom prst="roundRect">
            <a:avLst>
              <a:gd name="adj" fmla="val 7000"/>
            </a:avLst>
          </a:prstGeom>
          <a:solidFill>
            <a:srgbClr val="1B7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90888" y="1810512"/>
            <a:ext cx="2203704" cy="777240"/>
          </a:xfrm>
          <a:prstGeom prst="rect">
            <a:avLst/>
          </a:prstGeom>
          <a:noFill/>
        </p:spPr>
        <p:txBody>
          <a:bodyPr wrap="square" lIns="0" rIns="0" tIns="0" bIns="0" anchor="t">
            <a:spAutoFit/>
          </a:bodyPr>
          <a:lstStyle/>
          <a:p>
            <a:pPr algn="l">
              <a:lnSpc>
                <a:spcPct val="100000"/>
              </a:lnSpc>
              <a:spcBef>
                <a:spcPts val="0"/>
              </a:spcBef>
              <a:spcAft>
                <a:spcPts val="0"/>
              </a:spcAft>
            </a:pPr>
            <a:r>
              <a:rPr sz="3200" b="1" i="0">
                <a:solidFill>
                  <a:srgbClr val="E6BD7C"/>
                </a:solidFill>
                <a:latin typeface="Cambria"/>
              </a:rPr>
              <a:t>1/12</a:t>
            </a:r>
          </a:p>
        </p:txBody>
      </p:sp>
      <p:sp>
        <p:nvSpPr>
          <p:cNvPr id="15" name="TextBox 14"/>
          <p:cNvSpPr txBox="1"/>
          <p:nvPr/>
        </p:nvSpPr>
        <p:spPr>
          <a:xfrm>
            <a:off x="9390888" y="2606040"/>
            <a:ext cx="2203704" cy="1783080"/>
          </a:xfrm>
          <a:prstGeom prst="rect">
            <a:avLst/>
          </a:prstGeom>
          <a:noFill/>
        </p:spPr>
        <p:txBody>
          <a:bodyPr wrap="square" lIns="0" rIns="0" tIns="0" bIns="0" anchor="t">
            <a:spAutoFit/>
          </a:bodyPr>
          <a:lstStyle/>
          <a:p>
            <a:pPr algn="l">
              <a:lnSpc>
                <a:spcPct val="128000"/>
              </a:lnSpc>
              <a:spcBef>
                <a:spcPts val="0"/>
              </a:spcBef>
              <a:spcAft>
                <a:spcPts val="0"/>
              </a:spcAft>
            </a:pPr>
            <a:r>
              <a:rPr sz="1150" b="0" i="0">
                <a:solidFill>
                  <a:srgbClr val="A7BCB1"/>
                </a:solidFill>
                <a:latin typeface="Calibri"/>
              </a:rPr>
              <a:t>(Perfect Tailor Manager) couvre les 8 critères — mais sans localisation Sénégal</a:t>
            </a:r>
          </a:p>
        </p:txBody>
      </p:sp>
      <p:sp>
        <p:nvSpPr>
          <p:cNvPr id="16" name="TextBox 15"/>
          <p:cNvSpPr txBox="1"/>
          <p:nvPr/>
        </p:nvSpPr>
        <p:spPr>
          <a:xfrm>
            <a:off x="777240" y="4892040"/>
            <a:ext cx="10607040" cy="1188720"/>
          </a:xfrm>
          <a:prstGeom prst="rect">
            <a:avLst/>
          </a:prstGeom>
          <a:noFill/>
        </p:spPr>
        <p:txBody>
          <a:bodyPr wrap="square" lIns="0" rIns="0" tIns="0" bIns="0" anchor="t">
            <a:spAutoFit/>
          </a:bodyPr>
          <a:lstStyle/>
          <a:p>
            <a:pPr algn="l">
              <a:lnSpc>
                <a:spcPct val="130000"/>
              </a:lnSpc>
              <a:spcBef>
                <a:spcPts val="0"/>
              </a:spcBef>
              <a:spcAft>
                <a:spcPts val="0"/>
              </a:spcAft>
            </a:pPr>
            <a:r>
              <a:rPr sz="1500" b="1" i="1">
                <a:solidFill>
                  <a:srgbClr val="FFFFFF"/>
                </a:solidFill>
                <a:latin typeface="Calibri"/>
              </a:rPr>
              <a:t>Kayñiawlu comble cet espace vacant : couverture fonctionnelle complète (F1 à F8) combinée à une localisation totale au marché sénégalais (langue, devise, paiement mobile, connectivité intermittente).</a:t>
            </a:r>
          </a:p>
        </p:txBody>
      </p:sp>
      <p:sp>
        <p:nvSpPr>
          <p:cNvPr id="17" name="TextBox 16"/>
          <p:cNvSpPr txBox="1"/>
          <p:nvPr/>
        </p:nvSpPr>
        <p:spPr>
          <a:xfrm>
            <a:off x="640080" y="6519672"/>
            <a:ext cx="7315200" cy="274320"/>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A7BCB1"/>
                </a:solidFill>
                <a:latin typeface="Calibri"/>
              </a:rPr>
              <a:t>Kayñiawlu — Soutenance de mémoire</a:t>
            </a:r>
          </a:p>
        </p:txBody>
      </p:sp>
      <p:sp>
        <p:nvSpPr>
          <p:cNvPr id="18" name="TextBox 17"/>
          <p:cNvSpPr txBox="1"/>
          <p:nvPr/>
        </p:nvSpPr>
        <p:spPr>
          <a:xfrm>
            <a:off x="10180015" y="6519672"/>
            <a:ext cx="1371600" cy="274320"/>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A7BCB1"/>
                </a:solidFill>
                <a:latin typeface="Calibri"/>
              </a:rPr>
              <a:t>15</a:t>
            </a:r>
          </a:p>
        </p:txBody>
      </p:sp>
    </p:spTree>
  </p:cSld>
  <p:clrMapOvr>
    <a:masterClrMapping/>
  </p:clrMapOvr>
  <p:transition spd="med">
    <p:fade/>
  </p:transition>
  <p:timing>
    <p:tnLst>
      <p:par>
        <p:cTn id="140" dur="indefinite" restart="never" nodeType="tmRoot">
          <p:childTnLst>
            <p:seq concurrent="1" nextAc="seek">
              <p:cTn id="141" dur="indefinite" nodeType="mainSeq">
                <p:childTnLst>
                  <p:par>
                    <p:cTn id="142" fill="hold">
                      <p:stCondLst>
                        <p:cond delay="0"/>
                      </p:stCondLst>
                      <p:childTnLst>
                        <p:par>
                          <p:cTn id="101" presetID="10" presetClass="entr" presetSubtype="0" fill="hold" grpId="0" nodeType="afterEffect">
                            <p:stCondLst>
                              <p:cond delay="0"/>
                            </p:stCondLst>
                            <p:childTnLst>
                              <p:set>
                                <p:cBhvr>
                                  <p:cTn id="102" dur="1" fill="hold">
                                    <p:stCondLst>
                                      <p:cond delay="0"/>
                                    </p:stCondLst>
                                  </p:cTn>
                                  <p:tgtEl>
                                    <p:spTgt spid="4"/>
                                  </p:tgtEl>
                                  <p:attrNameLst>
                                    <p:attrName>style.visibility</p:attrName>
                                  </p:attrNameLst>
                                </p:cBhvr>
                                <p:to>
                                  <p:strVal val="visible"/>
                                </p:to>
                              </p:set>
                              <p:animEffect transition="in" filter="fade">
                                <p:cBhvr>
                                  <p:cTn id="103" dur="420"/>
                                  <p:tgtEl>
                                    <p:spTgt spid="4"/>
                                  </p:tgtEl>
                                </p:cBhvr>
                              </p:animEffect>
                            </p:childTnLst>
                          </p:cTn>
                        </p:par>
                        <p:par>
                          <p:cTn id="104" presetID="10" presetClass="entr" presetSubtype="0" fill="hold" grpId="0" nodeType="afterEffect">
                            <p:stCondLst>
                              <p:cond delay="0"/>
                            </p:stCondLst>
                            <p:childTnLst>
                              <p:set>
                                <p:cBhvr>
                                  <p:cTn id="105" dur="1" fill="hold">
                                    <p:stCondLst>
                                      <p:cond delay="0"/>
                                    </p:stCondLst>
                                  </p:cTn>
                                  <p:tgtEl>
                                    <p:spTgt spid="5"/>
                                  </p:tgtEl>
                                  <p:attrNameLst>
                                    <p:attrName>style.visibility</p:attrName>
                                  </p:attrNameLst>
                                </p:cBhvr>
                                <p:to>
                                  <p:strVal val="visible"/>
                                </p:to>
                              </p:set>
                              <p:animEffect transition="in" filter="fade">
                                <p:cBhvr>
                                  <p:cTn id="106" dur="420"/>
                                  <p:tgtEl>
                                    <p:spTgt spid="5"/>
                                  </p:tgtEl>
                                </p:cBhvr>
                              </p:animEffect>
                            </p:childTnLst>
                          </p:cTn>
                        </p:par>
                        <p:par>
                          <p:cTn id="107" presetID="10" presetClass="entr" presetSubtype="0" fill="hold" grpId="0" nodeType="afterEffect">
                            <p:stCondLst>
                              <p:cond delay="0"/>
                            </p:stCondLst>
                            <p:childTnLst>
                              <p:set>
                                <p:cBhvr>
                                  <p:cTn id="108" dur="1" fill="hold">
                                    <p:stCondLst>
                                      <p:cond delay="0"/>
                                    </p:stCondLst>
                                  </p:cTn>
                                  <p:tgtEl>
                                    <p:spTgt spid="6"/>
                                  </p:tgtEl>
                                  <p:attrNameLst>
                                    <p:attrName>style.visibility</p:attrName>
                                  </p:attrNameLst>
                                </p:cBhvr>
                                <p:to>
                                  <p:strVal val="visible"/>
                                </p:to>
                              </p:set>
                              <p:animEffect transition="in" filter="fade">
                                <p:cBhvr>
                                  <p:cTn id="109" dur="420"/>
                                  <p:tgtEl>
                                    <p:spTgt spid="6"/>
                                  </p:tgtEl>
                                </p:cBhvr>
                              </p:animEffect>
                            </p:childTnLst>
                          </p:cTn>
                        </p:par>
                        <p:par>
                          <p:cTn id="110" presetID="10" presetClass="entr" presetSubtype="0" fill="hold" grpId="0" nodeType="afterEffect">
                            <p:stCondLst>
                              <p:cond delay="200"/>
                            </p:stCondLst>
                            <p:childTnLst>
                              <p:set>
                                <p:cBhvr>
                                  <p:cTn id="111" dur="1" fill="hold">
                                    <p:stCondLst>
                                      <p:cond delay="0"/>
                                    </p:stCondLst>
                                  </p:cTn>
                                  <p:tgtEl>
                                    <p:spTgt spid="7"/>
                                  </p:tgtEl>
                                  <p:attrNameLst>
                                    <p:attrName>style.visibility</p:attrName>
                                  </p:attrNameLst>
                                </p:cBhvr>
                                <p:to>
                                  <p:strVal val="visible"/>
                                </p:to>
                              </p:set>
                              <p:animEffect transition="in" filter="fade">
                                <p:cBhvr>
                                  <p:cTn id="112" dur="420"/>
                                  <p:tgtEl>
                                    <p:spTgt spid="7"/>
                                  </p:tgtEl>
                                </p:cBhvr>
                              </p:animEffect>
                            </p:childTnLst>
                          </p:cTn>
                        </p:par>
                        <p:par>
                          <p:cTn id="113" presetID="10" presetClass="entr" presetSubtype="0" fill="hold" grpId="0" nodeType="afterEffect">
                            <p:stCondLst>
                              <p:cond delay="200"/>
                            </p:stCondLst>
                            <p:childTnLst>
                              <p:set>
                                <p:cBhvr>
                                  <p:cTn id="114" dur="1" fill="hold">
                                    <p:stCondLst>
                                      <p:cond delay="0"/>
                                    </p:stCondLst>
                                  </p:cTn>
                                  <p:tgtEl>
                                    <p:spTgt spid="8"/>
                                  </p:tgtEl>
                                  <p:attrNameLst>
                                    <p:attrName>style.visibility</p:attrName>
                                  </p:attrNameLst>
                                </p:cBhvr>
                                <p:to>
                                  <p:strVal val="visible"/>
                                </p:to>
                              </p:set>
                              <p:animEffect transition="in" filter="fade">
                                <p:cBhvr>
                                  <p:cTn id="115" dur="420"/>
                                  <p:tgtEl>
                                    <p:spTgt spid="8"/>
                                  </p:tgtEl>
                                </p:cBhvr>
                              </p:animEffect>
                            </p:childTnLst>
                          </p:cTn>
                        </p:par>
                        <p:par>
                          <p:cTn id="116" presetID="10" presetClass="entr" presetSubtype="0" fill="hold" grpId="0" nodeType="afterEffect">
                            <p:stCondLst>
                              <p:cond delay="200"/>
                            </p:stCondLst>
                            <p:childTnLst>
                              <p:set>
                                <p:cBhvr>
                                  <p:cTn id="117" dur="1" fill="hold">
                                    <p:stCondLst>
                                      <p:cond delay="0"/>
                                    </p:stCondLst>
                                  </p:cTn>
                                  <p:tgtEl>
                                    <p:spTgt spid="9"/>
                                  </p:tgtEl>
                                  <p:attrNameLst>
                                    <p:attrName>style.visibility</p:attrName>
                                  </p:attrNameLst>
                                </p:cBhvr>
                                <p:to>
                                  <p:strVal val="visible"/>
                                </p:to>
                              </p:set>
                              <p:animEffect transition="in" filter="fade">
                                <p:cBhvr>
                                  <p:cTn id="118" dur="420"/>
                                  <p:tgtEl>
                                    <p:spTgt spid="9"/>
                                  </p:tgtEl>
                                </p:cBhvr>
                              </p:animEffect>
                            </p:childTnLst>
                          </p:cTn>
                        </p:par>
                        <p:par>
                          <p:cTn id="119" presetID="10" presetClass="entr" presetSubtype="0" fill="hold" grpId="0" nodeType="afterEffect">
                            <p:stCondLst>
                              <p:cond delay="400"/>
                            </p:stCondLst>
                            <p:childTnLst>
                              <p:set>
                                <p:cBhvr>
                                  <p:cTn id="120" dur="1" fill="hold">
                                    <p:stCondLst>
                                      <p:cond delay="0"/>
                                    </p:stCondLst>
                                  </p:cTn>
                                  <p:tgtEl>
                                    <p:spTgt spid="10"/>
                                  </p:tgtEl>
                                  <p:attrNameLst>
                                    <p:attrName>style.visibility</p:attrName>
                                  </p:attrNameLst>
                                </p:cBhvr>
                                <p:to>
                                  <p:strVal val="visible"/>
                                </p:to>
                              </p:set>
                              <p:animEffect transition="in" filter="fade">
                                <p:cBhvr>
                                  <p:cTn id="121" dur="420"/>
                                  <p:tgtEl>
                                    <p:spTgt spid="10"/>
                                  </p:tgtEl>
                                </p:cBhvr>
                              </p:animEffect>
                            </p:childTnLst>
                          </p:cTn>
                        </p:par>
                        <p:par>
                          <p:cTn id="122" presetID="10" presetClass="entr" presetSubtype="0" fill="hold" grpId="0" nodeType="afterEffect">
                            <p:stCondLst>
                              <p:cond delay="400"/>
                            </p:stCondLst>
                            <p:childTnLst>
                              <p:set>
                                <p:cBhvr>
                                  <p:cTn id="123" dur="1" fill="hold">
                                    <p:stCondLst>
                                      <p:cond delay="0"/>
                                    </p:stCondLst>
                                  </p:cTn>
                                  <p:tgtEl>
                                    <p:spTgt spid="11"/>
                                  </p:tgtEl>
                                  <p:attrNameLst>
                                    <p:attrName>style.visibility</p:attrName>
                                  </p:attrNameLst>
                                </p:cBhvr>
                                <p:to>
                                  <p:strVal val="visible"/>
                                </p:to>
                              </p:set>
                              <p:animEffect transition="in" filter="fade">
                                <p:cBhvr>
                                  <p:cTn id="124" dur="420"/>
                                  <p:tgtEl>
                                    <p:spTgt spid="11"/>
                                  </p:tgtEl>
                                </p:cBhvr>
                              </p:animEffect>
                            </p:childTnLst>
                          </p:cTn>
                        </p:par>
                        <p:par>
                          <p:cTn id="125" presetID="10" presetClass="entr" presetSubtype="0" fill="hold" grpId="0" nodeType="afterEffect">
                            <p:stCondLst>
                              <p:cond delay="400"/>
                            </p:stCondLst>
                            <p:childTnLst>
                              <p:set>
                                <p:cBhvr>
                                  <p:cTn id="126" dur="1" fill="hold">
                                    <p:stCondLst>
                                      <p:cond delay="0"/>
                                    </p:stCondLst>
                                  </p:cTn>
                                  <p:tgtEl>
                                    <p:spTgt spid="12"/>
                                  </p:tgtEl>
                                  <p:attrNameLst>
                                    <p:attrName>style.visibility</p:attrName>
                                  </p:attrNameLst>
                                </p:cBhvr>
                                <p:to>
                                  <p:strVal val="visible"/>
                                </p:to>
                              </p:set>
                              <p:animEffect transition="in" filter="fade">
                                <p:cBhvr>
                                  <p:cTn id="127" dur="420"/>
                                  <p:tgtEl>
                                    <p:spTgt spid="12"/>
                                  </p:tgtEl>
                                </p:cBhvr>
                              </p:animEffect>
                            </p:childTnLst>
                          </p:cTn>
                        </p:par>
                        <p:par>
                          <p:cTn id="128" presetID="10" presetClass="entr" presetSubtype="0" fill="hold" grpId="0" nodeType="afterEffect">
                            <p:stCondLst>
                              <p:cond delay="600"/>
                            </p:stCondLst>
                            <p:childTnLst>
                              <p:set>
                                <p:cBhvr>
                                  <p:cTn id="129" dur="1" fill="hold">
                                    <p:stCondLst>
                                      <p:cond delay="0"/>
                                    </p:stCondLst>
                                  </p:cTn>
                                  <p:tgtEl>
                                    <p:spTgt spid="13"/>
                                  </p:tgtEl>
                                  <p:attrNameLst>
                                    <p:attrName>style.visibility</p:attrName>
                                  </p:attrNameLst>
                                </p:cBhvr>
                                <p:to>
                                  <p:strVal val="visible"/>
                                </p:to>
                              </p:set>
                              <p:animEffect transition="in" filter="fade">
                                <p:cBhvr>
                                  <p:cTn id="130" dur="420"/>
                                  <p:tgtEl>
                                    <p:spTgt spid="13"/>
                                  </p:tgtEl>
                                </p:cBhvr>
                              </p:animEffect>
                            </p:childTnLst>
                          </p:cTn>
                        </p:par>
                        <p:par>
                          <p:cTn id="131" presetID="10" presetClass="entr" presetSubtype="0" fill="hold" grpId="0" nodeType="afterEffect">
                            <p:stCondLst>
                              <p:cond delay="600"/>
                            </p:stCondLst>
                            <p:childTnLst>
                              <p:set>
                                <p:cBhvr>
                                  <p:cTn id="132" dur="1" fill="hold">
                                    <p:stCondLst>
                                      <p:cond delay="0"/>
                                    </p:stCondLst>
                                  </p:cTn>
                                  <p:tgtEl>
                                    <p:spTgt spid="14"/>
                                  </p:tgtEl>
                                  <p:attrNameLst>
                                    <p:attrName>style.visibility</p:attrName>
                                  </p:attrNameLst>
                                </p:cBhvr>
                                <p:to>
                                  <p:strVal val="visible"/>
                                </p:to>
                              </p:set>
                              <p:animEffect transition="in" filter="fade">
                                <p:cBhvr>
                                  <p:cTn id="133" dur="420"/>
                                  <p:tgtEl>
                                    <p:spTgt spid="14"/>
                                  </p:tgtEl>
                                </p:cBhvr>
                              </p:animEffect>
                            </p:childTnLst>
                          </p:cTn>
                        </p:par>
                        <p:par>
                          <p:cTn id="134" presetID="10" presetClass="entr" presetSubtype="0" fill="hold" grpId="0" nodeType="afterEffect">
                            <p:stCondLst>
                              <p:cond delay="600"/>
                            </p:stCondLst>
                            <p:childTnLst>
                              <p:set>
                                <p:cBhvr>
                                  <p:cTn id="135" dur="1" fill="hold">
                                    <p:stCondLst>
                                      <p:cond delay="0"/>
                                    </p:stCondLst>
                                  </p:cTn>
                                  <p:tgtEl>
                                    <p:spTgt spid="15"/>
                                  </p:tgtEl>
                                  <p:attrNameLst>
                                    <p:attrName>style.visibility</p:attrName>
                                  </p:attrNameLst>
                                </p:cBhvr>
                                <p:to>
                                  <p:strVal val="visible"/>
                                </p:to>
                              </p:set>
                              <p:animEffect transition="in" filter="fade">
                                <p:cBhvr>
                                  <p:cTn id="136" dur="420"/>
                                  <p:tgtEl>
                                    <p:spTgt spid="15"/>
                                  </p:tgtEl>
                                </p:cBhvr>
                              </p:animEffect>
                            </p:childTnLst>
                          </p:cTn>
                        </p:par>
                        <p:par>
                          <p:cTn id="137" presetID="10" presetClass="entr" presetSubtype="0" fill="hold" grpId="0" nodeType="afterEffect">
                            <p:stCondLst>
                              <p:cond delay="800"/>
                            </p:stCondLst>
                            <p:childTnLst>
                              <p:set>
                                <p:cBhvr>
                                  <p:cTn id="138" dur="1" fill="hold">
                                    <p:stCondLst>
                                      <p:cond delay="0"/>
                                    </p:stCondLst>
                                  </p:cTn>
                                  <p:tgtEl>
                                    <p:spTgt spid="16"/>
                                  </p:tgtEl>
                                  <p:attrNameLst>
                                    <p:attrName>style.visibility</p:attrName>
                                  </p:attrNameLst>
                                </p:cBhvr>
                                <p:to>
                                  <p:strVal val="visible"/>
                                </p:to>
                              </p:set>
                              <p:animEffect transition="in" filter="fade">
                                <p:cBhvr>
                                  <p:cTn id="139" dur="420"/>
                                  <p:tgtEl>
                                    <p:spTgt spid="16"/>
                                  </p:tgtEl>
                                </p:cBhvr>
                              </p:animEffect>
                            </p:childTnLst>
                          </p:cTn>
                        </p:par>
                      </p:childTnLst>
                    </p:cTn>
                  </p:par>
                </p:childTnLst>
              </p:cTn>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F5B4C"/>
        </a:solidFill>
        <a:effectLst/>
      </p:bgPr>
    </p:bg>
    <p:spTree>
      <p:nvGrpSpPr>
        <p:cNvPr id="1" name=""/>
        <p:cNvGrpSpPr/>
        <p:nvPr/>
      </p:nvGrpSpPr>
      <p:grpSpPr/>
      <p:sp>
        <p:nvSpPr>
          <p:cNvPr id="2" name="TextBox 1"/>
          <p:cNvSpPr txBox="1"/>
          <p:nvPr/>
        </p:nvSpPr>
        <p:spPr>
          <a:xfrm>
            <a:off x="777240" y="502920"/>
            <a:ext cx="4114800" cy="1828800"/>
          </a:xfrm>
          <a:prstGeom prst="rect">
            <a:avLst/>
          </a:prstGeom>
          <a:noFill/>
        </p:spPr>
        <p:txBody>
          <a:bodyPr wrap="square" lIns="0" rIns="0" tIns="0" bIns="0" anchor="t">
            <a:spAutoFit/>
          </a:bodyPr>
          <a:lstStyle/>
          <a:p>
            <a:pPr algn="l">
              <a:lnSpc>
                <a:spcPct val="100000"/>
              </a:lnSpc>
              <a:spcBef>
                <a:spcPts val="0"/>
              </a:spcBef>
              <a:spcAft>
                <a:spcPts val="0"/>
              </a:spcAft>
            </a:pPr>
            <a:r>
              <a:rPr sz="14000" b="1" i="0">
                <a:solidFill>
                  <a:srgbClr val="1B7A66"/>
                </a:solidFill>
                <a:latin typeface="Cambria"/>
              </a:rPr>
              <a:t>03</a:t>
            </a:r>
          </a:p>
        </p:txBody>
      </p:sp>
      <p:sp>
        <p:nvSpPr>
          <p:cNvPr id="3" name="TextBox 2"/>
          <p:cNvSpPr txBox="1"/>
          <p:nvPr/>
        </p:nvSpPr>
        <p:spPr>
          <a:xfrm>
            <a:off x="868680" y="2880360"/>
            <a:ext cx="10058400" cy="1005840"/>
          </a:xfrm>
          <a:prstGeom prst="rect">
            <a:avLst/>
          </a:prstGeom>
          <a:noFill/>
        </p:spPr>
        <p:txBody>
          <a:bodyPr wrap="square" lIns="0" rIns="0" tIns="0" bIns="0" anchor="t">
            <a:spAutoFit/>
          </a:bodyPr>
          <a:lstStyle/>
          <a:p>
            <a:pPr algn="l">
              <a:lnSpc>
                <a:spcPct val="100000"/>
              </a:lnSpc>
              <a:spcBef>
                <a:spcPts val="0"/>
              </a:spcBef>
              <a:spcAft>
                <a:spcPts val="0"/>
              </a:spcAft>
            </a:pPr>
            <a:r>
              <a:rPr sz="4200" b="1" i="0">
                <a:solidFill>
                  <a:srgbClr val="FFFFFF"/>
                </a:solidFill>
                <a:latin typeface="Cambria"/>
              </a:rPr>
              <a:t>La solution Kayñiawlu</a:t>
            </a:r>
          </a:p>
        </p:txBody>
      </p:sp>
      <p:sp>
        <p:nvSpPr>
          <p:cNvPr id="4" name="TextBox 3"/>
          <p:cNvSpPr txBox="1"/>
          <p:nvPr/>
        </p:nvSpPr>
        <p:spPr>
          <a:xfrm>
            <a:off x="868680" y="3794760"/>
            <a:ext cx="10058400" cy="548640"/>
          </a:xfrm>
          <a:prstGeom prst="rect">
            <a:avLst/>
          </a:prstGeom>
          <a:noFill/>
        </p:spPr>
        <p:txBody>
          <a:bodyPr wrap="square" lIns="0" rIns="0" tIns="0" bIns="0" anchor="t">
            <a:spAutoFit/>
          </a:bodyPr>
          <a:lstStyle/>
          <a:p>
            <a:pPr algn="l">
              <a:lnSpc>
                <a:spcPct val="100000"/>
              </a:lnSpc>
              <a:spcBef>
                <a:spcPts val="0"/>
              </a:spcBef>
              <a:spcAft>
                <a:spcPts val="0"/>
              </a:spcAft>
            </a:pPr>
            <a:r>
              <a:rPr sz="1700" b="0" i="1">
                <a:solidFill>
                  <a:srgbClr val="E6BD7C"/>
                </a:solidFill>
                <a:latin typeface="Calibri"/>
              </a:rPr>
              <a:t>Cas d'utilisation et diagramme de classes</a:t>
            </a:r>
          </a:p>
        </p:txBody>
      </p:sp>
      <p:sp>
        <p:nvSpPr>
          <p:cNvPr id="5" name="TextBox 4"/>
          <p:cNvSpPr txBox="1"/>
          <p:nvPr/>
        </p:nvSpPr>
        <p:spPr>
          <a:xfrm>
            <a:off x="868680" y="6263640"/>
            <a:ext cx="10058400" cy="320040"/>
          </a:xfrm>
          <a:prstGeom prst="rect">
            <a:avLst/>
          </a:prstGeom>
          <a:noFill/>
        </p:spPr>
        <p:txBody>
          <a:bodyPr wrap="square" lIns="0" rIns="0" tIns="0" bIns="0" anchor="t">
            <a:spAutoFit/>
          </a:bodyPr>
          <a:lstStyle/>
          <a:p>
            <a:pPr algn="l">
              <a:lnSpc>
                <a:spcPct val="100000"/>
              </a:lnSpc>
              <a:spcBef>
                <a:spcPts val="0"/>
              </a:spcBef>
              <a:spcAft>
                <a:spcPts val="0"/>
              </a:spcAft>
            </a:pPr>
            <a:r>
              <a:rPr sz="1050" b="0" i="0">
                <a:solidFill>
                  <a:srgbClr val="A7BCB1"/>
                </a:solidFill>
                <a:latin typeface="Calibri"/>
              </a:rPr>
              <a:t>Kayñiawlu · Soutenance de mémoire — Adorand Jacques Merveille DEMBI</a:t>
            </a:r>
          </a:p>
        </p:txBody>
      </p:sp>
    </p:spTree>
  </p:cSld>
  <p:clrMapOvr>
    <a:masterClrMapping/>
  </p:clrMapOvr>
  <p:transition spd="med">
    <p:fade/>
  </p:transition>
  <p:timing>
    <p:tnLst>
      <p:par>
        <p:cTn id="113" dur="indefinite" restart="never" nodeType="tmRoot">
          <p:childTnLst>
            <p:seq concurrent="1" nextAc="seek">
              <p:cTn id="114" dur="indefinite" nodeType="mainSeq">
                <p:childTnLst>
                  <p:par>
                    <p:cTn id="115" fill="hold">
                      <p:stCondLst>
                        <p:cond delay="0"/>
                      </p:stCondLst>
                      <p:childTnLst>
                        <p:par>
                          <p:cTn id="101" presetID="10" presetClass="entr" presetSubtype="0" fill="hold" grpId="0" nodeType="afterEffect">
                            <p:stCondLst>
                              <p:cond delay="0"/>
                            </p:stCondLst>
                            <p:childTnLst>
                              <p:set>
                                <p:cBhvr>
                                  <p:cTn id="102" dur="1" fill="hold">
                                    <p:stCondLst>
                                      <p:cond delay="0"/>
                                    </p:stCondLst>
                                  </p:cTn>
                                  <p:tgtEl>
                                    <p:spTgt spid="2"/>
                                  </p:tgtEl>
                                  <p:attrNameLst>
                                    <p:attrName>style.visibility</p:attrName>
                                  </p:attrNameLst>
                                </p:cBhvr>
                                <p:to>
                                  <p:strVal val="visible"/>
                                </p:to>
                              </p:set>
                              <p:animEffect transition="in" filter="fade">
                                <p:cBhvr>
                                  <p:cTn id="103" dur="500"/>
                                  <p:tgtEl>
                                    <p:spTgt spid="2"/>
                                  </p:tgtEl>
                                </p:cBhvr>
                              </p:animEffect>
                            </p:childTnLst>
                          </p:cTn>
                        </p:par>
                        <p:par>
                          <p:cTn id="104" presetID="10" presetClass="entr" presetSubtype="0" fill="hold" grpId="0" nodeType="afterEffect">
                            <p:stCondLst>
                              <p:cond delay="220"/>
                            </p:stCondLst>
                            <p:childTnLst>
                              <p:set>
                                <p:cBhvr>
                                  <p:cTn id="105" dur="1" fill="hold">
                                    <p:stCondLst>
                                      <p:cond delay="0"/>
                                    </p:stCondLst>
                                  </p:cTn>
                                  <p:tgtEl>
                                    <p:spTgt spid="3"/>
                                  </p:tgtEl>
                                  <p:attrNameLst>
                                    <p:attrName>style.visibility</p:attrName>
                                  </p:attrNameLst>
                                </p:cBhvr>
                                <p:to>
                                  <p:strVal val="visible"/>
                                </p:to>
                              </p:set>
                              <p:animEffect transition="in" filter="fade">
                                <p:cBhvr>
                                  <p:cTn id="106" dur="500"/>
                                  <p:tgtEl>
                                    <p:spTgt spid="3"/>
                                  </p:tgtEl>
                                </p:cBhvr>
                              </p:animEffect>
                            </p:childTnLst>
                          </p:cTn>
                        </p:par>
                        <p:par>
                          <p:cTn id="107" presetID="10" presetClass="entr" presetSubtype="0" fill="hold" grpId="0" nodeType="afterEffect">
                            <p:stCondLst>
                              <p:cond delay="440"/>
                            </p:stCondLst>
                            <p:childTnLst>
                              <p:set>
                                <p:cBhvr>
                                  <p:cTn id="108" dur="1" fill="hold">
                                    <p:stCondLst>
                                      <p:cond delay="0"/>
                                    </p:stCondLst>
                                  </p:cTn>
                                  <p:tgtEl>
                                    <p:spTgt spid="4"/>
                                  </p:tgtEl>
                                  <p:attrNameLst>
                                    <p:attrName>style.visibility</p:attrName>
                                  </p:attrNameLst>
                                </p:cBhvr>
                                <p:to>
                                  <p:strVal val="visible"/>
                                </p:to>
                              </p:set>
                              <p:animEffect transition="in" filter="fade">
                                <p:cBhvr>
                                  <p:cTn id="109" dur="500"/>
                                  <p:tgtEl>
                                    <p:spTgt spid="4"/>
                                  </p:tgtEl>
                                </p:cBhvr>
                              </p:animEffect>
                            </p:childTnLst>
                          </p:cTn>
                        </p:par>
                        <p:par>
                          <p:cTn id="110" presetID="10" presetClass="entr" presetSubtype="0" fill="hold" grpId="0" nodeType="afterEffect">
                            <p:stCondLst>
                              <p:cond delay="660"/>
                            </p:stCondLst>
                            <p:childTnLst>
                              <p:set>
                                <p:cBhvr>
                                  <p:cTn id="111" dur="1" fill="hold">
                                    <p:stCondLst>
                                      <p:cond delay="0"/>
                                    </p:stCondLst>
                                  </p:cTn>
                                  <p:tgtEl>
                                    <p:spTgt spid="5"/>
                                  </p:tgtEl>
                                  <p:attrNameLst>
                                    <p:attrName>style.visibility</p:attrName>
                                  </p:attrNameLst>
                                </p:cBhvr>
                                <p:to>
                                  <p:strVal val="visible"/>
                                </p:to>
                              </p:set>
                              <p:animEffect transition="in" filter="fade">
                                <p:cBhvr>
                                  <p:cTn id="112" dur="500"/>
                                  <p:tgtEl>
                                    <p:spTgt spid="5"/>
                                  </p:tgtEl>
                                </p:cBhvr>
                              </p:animEffect>
                            </p:childTnLst>
                          </p:cTn>
                        </p:par>
                      </p:childTnLst>
                    </p:cTn>
                  </p:par>
                </p:childTnLst>
              </p:cTn>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881360" cy="292608"/>
          </a:xfrm>
          <a:prstGeom prst="rect">
            <a:avLst/>
          </a:prstGeom>
          <a:noFill/>
        </p:spPr>
        <p:txBody>
          <a:bodyPr wrap="square" lIns="0" rIns="0" tIns="0" bIns="0" anchor="t">
            <a:spAutoFit/>
          </a:bodyPr>
          <a:lstStyle/>
          <a:p>
            <a:pPr algn="l">
              <a:lnSpc>
                <a:spcPct val="100000"/>
              </a:lnSpc>
              <a:spcBef>
                <a:spcPts val="0"/>
              </a:spcBef>
              <a:spcAft>
                <a:spcPts val="0"/>
              </a:spcAft>
            </a:pPr>
            <a:r>
              <a:rPr sz="1250" b="1" i="0">
                <a:solidFill>
                  <a:srgbClr val="B8863B"/>
                </a:solidFill>
                <a:latin typeface="Calibri"/>
              </a:rPr>
              <a:t>LA SOLUTION KAYÑIAWLU</a:t>
            </a:r>
          </a:p>
        </p:txBody>
      </p:sp>
      <p:sp>
        <p:nvSpPr>
          <p:cNvPr id="3" name="TextBox 2"/>
          <p:cNvSpPr txBox="1"/>
          <p:nvPr/>
        </p:nvSpPr>
        <p:spPr>
          <a:xfrm>
            <a:off x="640080" y="786384"/>
            <a:ext cx="10881360" cy="777240"/>
          </a:xfrm>
          <a:prstGeom prst="rect">
            <a:avLst/>
          </a:prstGeom>
          <a:noFill/>
        </p:spPr>
        <p:txBody>
          <a:bodyPr wrap="square" lIns="0" rIns="0" tIns="0" bIns="0" anchor="t">
            <a:spAutoFit/>
          </a:bodyPr>
          <a:lstStyle/>
          <a:p>
            <a:pPr algn="l">
              <a:lnSpc>
                <a:spcPct val="102000"/>
              </a:lnSpc>
              <a:spcBef>
                <a:spcPts val="0"/>
              </a:spcBef>
              <a:spcAft>
                <a:spcPts val="0"/>
              </a:spcAft>
            </a:pPr>
            <a:r>
              <a:rPr sz="2700" b="1" i="0">
                <a:solidFill>
                  <a:srgbClr val="0F5B4C"/>
                </a:solidFill>
                <a:latin typeface="Cambria"/>
              </a:rPr>
              <a:t>Une plateforme, trois interfaces</a:t>
            </a:r>
          </a:p>
        </p:txBody>
      </p:sp>
      <p:sp>
        <p:nvSpPr>
          <p:cNvPr id="4" name="TextBox 3"/>
          <p:cNvSpPr txBox="1"/>
          <p:nvPr/>
        </p:nvSpPr>
        <p:spPr>
          <a:xfrm>
            <a:off x="640080" y="1417320"/>
            <a:ext cx="10881360" cy="1005840"/>
          </a:xfrm>
          <a:prstGeom prst="rect">
            <a:avLst/>
          </a:prstGeom>
          <a:noFill/>
        </p:spPr>
        <p:txBody>
          <a:bodyPr wrap="square" lIns="0" rIns="0" tIns="0" bIns="0" anchor="t">
            <a:spAutoFit/>
          </a:bodyPr>
          <a:lstStyle/>
          <a:p>
            <a:pPr algn="l">
              <a:lnSpc>
                <a:spcPct val="135000"/>
              </a:lnSpc>
              <a:spcBef>
                <a:spcPts val="0"/>
              </a:spcBef>
              <a:spcAft>
                <a:spcPts val="0"/>
              </a:spcAft>
            </a:pPr>
            <a:r>
              <a:rPr sz="1550" b="0" i="0">
                <a:solidFill>
                  <a:srgbClr val="24312B"/>
                </a:solidFill>
                <a:latin typeface="Calibri"/>
              </a:rPr>
              <a:t>Concevoir et réaliser une solution SaaS de gestion pour les couturiers du Sénégal, numérisant et centralisant la gestion des clients, des mesures, des commandes, des points de vente et des équipes d'un atelier de couture.</a:t>
            </a:r>
          </a:p>
        </p:txBody>
      </p:sp>
      <p:sp>
        <p:nvSpPr>
          <p:cNvPr id="5" name="Rounded Rectangle 4"/>
          <p:cNvSpPr/>
          <p:nvPr/>
        </p:nvSpPr>
        <p:spPr>
          <a:xfrm>
            <a:off x="777240" y="2743200"/>
            <a:ext cx="3429000" cy="3017520"/>
          </a:xfrm>
          <a:prstGeom prst="roundRect">
            <a:avLst>
              <a:gd name="adj" fmla="val 6000"/>
            </a:avLst>
          </a:prstGeom>
          <a:solidFill>
            <a:srgbClr val="F6F1E8"/>
          </a:solidFill>
          <a:ln>
            <a:noFill/>
          </a:ln>
          <a:effectLst>
            <a:outerShdw blurRad="127000" dist="38100" dir="5400000" rotWithShape="0">
              <a:srgbClr val="1A10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97280" y="3063240"/>
            <a:ext cx="502920" cy="502920"/>
          </a:xfrm>
          <a:prstGeom prst="ellipse">
            <a:avLst/>
          </a:prstGeom>
          <a:solidFill>
            <a:srgbClr val="0F5B4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600" b="1">
                <a:solidFill>
                  <a:srgbClr val="E6BD7C"/>
                </a:solidFill>
                <a:latin typeface="Calibri"/>
              </a:rPr>
              <a:t>◆</a:t>
            </a:r>
          </a:p>
        </p:txBody>
      </p:sp>
      <p:sp>
        <p:nvSpPr>
          <p:cNvPr id="7" name="TextBox 6"/>
          <p:cNvSpPr txBox="1"/>
          <p:nvPr/>
        </p:nvSpPr>
        <p:spPr>
          <a:xfrm>
            <a:off x="1097280" y="3703320"/>
            <a:ext cx="2788920" cy="502920"/>
          </a:xfrm>
          <a:prstGeom prst="rect">
            <a:avLst/>
          </a:prstGeom>
          <a:noFill/>
        </p:spPr>
        <p:txBody>
          <a:bodyPr wrap="square" lIns="0" rIns="0" tIns="0" bIns="0" anchor="t">
            <a:spAutoFit/>
          </a:bodyPr>
          <a:lstStyle/>
          <a:p>
            <a:pPr algn="l">
              <a:lnSpc>
                <a:spcPct val="100000"/>
              </a:lnSpc>
              <a:spcBef>
                <a:spcPts val="0"/>
              </a:spcBef>
              <a:spcAft>
                <a:spcPts val="0"/>
              </a:spcAft>
            </a:pPr>
            <a:r>
              <a:rPr sz="1600" b="1" i="0">
                <a:solidFill>
                  <a:srgbClr val="0F5B4C"/>
                </a:solidFill>
                <a:latin typeface="Cambria"/>
              </a:rPr>
              <a:t>Application mobile</a:t>
            </a:r>
          </a:p>
        </p:txBody>
      </p:sp>
      <p:sp>
        <p:nvSpPr>
          <p:cNvPr id="8" name="TextBox 7"/>
          <p:cNvSpPr txBox="1"/>
          <p:nvPr/>
        </p:nvSpPr>
        <p:spPr>
          <a:xfrm>
            <a:off x="1097280" y="4160520"/>
            <a:ext cx="2788920" cy="365760"/>
          </a:xfrm>
          <a:prstGeom prst="rect">
            <a:avLst/>
          </a:prstGeom>
          <a:noFill/>
        </p:spPr>
        <p:txBody>
          <a:bodyPr wrap="square" lIns="0" rIns="0" tIns="0" bIns="0" anchor="t">
            <a:spAutoFit/>
          </a:bodyPr>
          <a:lstStyle/>
          <a:p>
            <a:pPr algn="l">
              <a:lnSpc>
                <a:spcPct val="100000"/>
              </a:lnSpc>
              <a:spcBef>
                <a:spcPts val="0"/>
              </a:spcBef>
              <a:spcAft>
                <a:spcPts val="0"/>
              </a:spcAft>
            </a:pPr>
            <a:r>
              <a:rPr sz="1150" b="1" i="0">
                <a:solidFill>
                  <a:srgbClr val="B8863B"/>
                </a:solidFill>
                <a:latin typeface="Calibri"/>
              </a:rPr>
              <a:t>Flutter (iOS / Android)</a:t>
            </a:r>
          </a:p>
        </p:txBody>
      </p:sp>
      <p:sp>
        <p:nvSpPr>
          <p:cNvPr id="9" name="TextBox 8"/>
          <p:cNvSpPr txBox="1"/>
          <p:nvPr/>
        </p:nvSpPr>
        <p:spPr>
          <a:xfrm>
            <a:off x="1097280" y="4572000"/>
            <a:ext cx="2788920" cy="1005840"/>
          </a:xfrm>
          <a:prstGeom prst="rect">
            <a:avLst/>
          </a:prstGeom>
          <a:noFill/>
        </p:spPr>
        <p:txBody>
          <a:bodyPr wrap="square" lIns="0" rIns="0" tIns="0" bIns="0" anchor="t">
            <a:spAutoFit/>
          </a:bodyPr>
          <a:lstStyle/>
          <a:p>
            <a:pPr algn="l">
              <a:lnSpc>
                <a:spcPct val="125000"/>
              </a:lnSpc>
              <a:spcBef>
                <a:spcPts val="0"/>
              </a:spcBef>
              <a:spcAft>
                <a:spcPts val="0"/>
              </a:spcAft>
            </a:pPr>
            <a:r>
              <a:rPr sz="1200" b="0" i="0">
                <a:solidFill>
                  <a:srgbClr val="68796F"/>
                </a:solidFill>
                <a:latin typeface="Calibri"/>
              </a:rPr>
              <a:t>Travail de terrain, mode hors-ligne</a:t>
            </a:r>
          </a:p>
        </p:txBody>
      </p:sp>
      <p:sp>
        <p:nvSpPr>
          <p:cNvPr id="10" name="Rounded Rectangle 9"/>
          <p:cNvSpPr/>
          <p:nvPr/>
        </p:nvSpPr>
        <p:spPr>
          <a:xfrm>
            <a:off x="4526279" y="2743200"/>
            <a:ext cx="3429000" cy="3017520"/>
          </a:xfrm>
          <a:prstGeom prst="roundRect">
            <a:avLst>
              <a:gd name="adj" fmla="val 6000"/>
            </a:avLst>
          </a:prstGeom>
          <a:solidFill>
            <a:srgbClr val="F6F1E8"/>
          </a:solidFill>
          <a:ln>
            <a:noFill/>
          </a:ln>
          <a:effectLst>
            <a:outerShdw blurRad="127000" dist="38100" dir="5400000" rotWithShape="0">
              <a:srgbClr val="1A10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846319" y="3063240"/>
            <a:ext cx="502920" cy="502920"/>
          </a:xfrm>
          <a:prstGeom prst="ellipse">
            <a:avLst/>
          </a:prstGeom>
          <a:solidFill>
            <a:srgbClr val="0F5B4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600" b="1">
                <a:solidFill>
                  <a:srgbClr val="E6BD7C"/>
                </a:solidFill>
                <a:latin typeface="Calibri"/>
              </a:rPr>
              <a:t>◆</a:t>
            </a:r>
          </a:p>
        </p:txBody>
      </p:sp>
      <p:sp>
        <p:nvSpPr>
          <p:cNvPr id="12" name="TextBox 11"/>
          <p:cNvSpPr txBox="1"/>
          <p:nvPr/>
        </p:nvSpPr>
        <p:spPr>
          <a:xfrm>
            <a:off x="4846319" y="3703320"/>
            <a:ext cx="2788920" cy="502920"/>
          </a:xfrm>
          <a:prstGeom prst="rect">
            <a:avLst/>
          </a:prstGeom>
          <a:noFill/>
        </p:spPr>
        <p:txBody>
          <a:bodyPr wrap="square" lIns="0" rIns="0" tIns="0" bIns="0" anchor="t">
            <a:spAutoFit/>
          </a:bodyPr>
          <a:lstStyle/>
          <a:p>
            <a:pPr algn="l">
              <a:lnSpc>
                <a:spcPct val="100000"/>
              </a:lnSpc>
              <a:spcBef>
                <a:spcPts val="0"/>
              </a:spcBef>
              <a:spcAft>
                <a:spcPts val="0"/>
              </a:spcAft>
            </a:pPr>
            <a:r>
              <a:rPr sz="1600" b="1" i="0">
                <a:solidFill>
                  <a:srgbClr val="0F5B4C"/>
                </a:solidFill>
                <a:latin typeface="Cambria"/>
              </a:rPr>
              <a:t>Backoffice web</a:t>
            </a:r>
          </a:p>
        </p:txBody>
      </p:sp>
      <p:sp>
        <p:nvSpPr>
          <p:cNvPr id="13" name="TextBox 12"/>
          <p:cNvSpPr txBox="1"/>
          <p:nvPr/>
        </p:nvSpPr>
        <p:spPr>
          <a:xfrm>
            <a:off x="4846319" y="4160520"/>
            <a:ext cx="2788920" cy="365760"/>
          </a:xfrm>
          <a:prstGeom prst="rect">
            <a:avLst/>
          </a:prstGeom>
          <a:noFill/>
        </p:spPr>
        <p:txBody>
          <a:bodyPr wrap="square" lIns="0" rIns="0" tIns="0" bIns="0" anchor="t">
            <a:spAutoFit/>
          </a:bodyPr>
          <a:lstStyle/>
          <a:p>
            <a:pPr algn="l">
              <a:lnSpc>
                <a:spcPct val="100000"/>
              </a:lnSpc>
              <a:spcBef>
                <a:spcPts val="0"/>
              </a:spcBef>
              <a:spcAft>
                <a:spcPts val="0"/>
              </a:spcAft>
            </a:pPr>
            <a:r>
              <a:rPr sz="1150" b="1" i="0">
                <a:solidFill>
                  <a:srgbClr val="B8863B"/>
                </a:solidFill>
                <a:latin typeface="Calibri"/>
              </a:rPr>
              <a:t>Next.js + Tailwind CSS</a:t>
            </a:r>
          </a:p>
        </p:txBody>
      </p:sp>
      <p:sp>
        <p:nvSpPr>
          <p:cNvPr id="14" name="TextBox 13"/>
          <p:cNvSpPr txBox="1"/>
          <p:nvPr/>
        </p:nvSpPr>
        <p:spPr>
          <a:xfrm>
            <a:off x="4846319" y="4572000"/>
            <a:ext cx="2788920" cy="1005840"/>
          </a:xfrm>
          <a:prstGeom prst="rect">
            <a:avLst/>
          </a:prstGeom>
          <a:noFill/>
        </p:spPr>
        <p:txBody>
          <a:bodyPr wrap="square" lIns="0" rIns="0" tIns="0" bIns="0" anchor="t">
            <a:spAutoFit/>
          </a:bodyPr>
          <a:lstStyle/>
          <a:p>
            <a:pPr algn="l">
              <a:lnSpc>
                <a:spcPct val="125000"/>
              </a:lnSpc>
              <a:spcBef>
                <a:spcPts val="0"/>
              </a:spcBef>
              <a:spcAft>
                <a:spcPts val="0"/>
              </a:spcAft>
            </a:pPr>
            <a:r>
              <a:rPr sz="1200" b="0" i="0">
                <a:solidFill>
                  <a:srgbClr val="68796F"/>
                </a:solidFill>
                <a:latin typeface="Calibri"/>
              </a:rPr>
              <a:t>Administration de l'atelier et de la plateforme</a:t>
            </a:r>
          </a:p>
        </p:txBody>
      </p:sp>
      <p:sp>
        <p:nvSpPr>
          <p:cNvPr id="15" name="Rounded Rectangle 14"/>
          <p:cNvSpPr/>
          <p:nvPr/>
        </p:nvSpPr>
        <p:spPr>
          <a:xfrm>
            <a:off x="8275319" y="2743200"/>
            <a:ext cx="3429000" cy="3017520"/>
          </a:xfrm>
          <a:prstGeom prst="roundRect">
            <a:avLst>
              <a:gd name="adj" fmla="val 6000"/>
            </a:avLst>
          </a:prstGeom>
          <a:solidFill>
            <a:srgbClr val="F6F1E8"/>
          </a:solidFill>
          <a:ln>
            <a:noFill/>
          </a:ln>
          <a:effectLst>
            <a:outerShdw blurRad="127000" dist="38100" dir="5400000" rotWithShape="0">
              <a:srgbClr val="1A10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595359" y="3063240"/>
            <a:ext cx="502920" cy="502920"/>
          </a:xfrm>
          <a:prstGeom prst="ellipse">
            <a:avLst/>
          </a:prstGeom>
          <a:solidFill>
            <a:srgbClr val="0F5B4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600" b="1">
                <a:solidFill>
                  <a:srgbClr val="E6BD7C"/>
                </a:solidFill>
                <a:latin typeface="Calibri"/>
              </a:rPr>
              <a:t>◆</a:t>
            </a:r>
          </a:p>
        </p:txBody>
      </p:sp>
      <p:sp>
        <p:nvSpPr>
          <p:cNvPr id="17" name="TextBox 16"/>
          <p:cNvSpPr txBox="1"/>
          <p:nvPr/>
        </p:nvSpPr>
        <p:spPr>
          <a:xfrm>
            <a:off x="8595359" y="3703320"/>
            <a:ext cx="2788920" cy="502920"/>
          </a:xfrm>
          <a:prstGeom prst="rect">
            <a:avLst/>
          </a:prstGeom>
          <a:noFill/>
        </p:spPr>
        <p:txBody>
          <a:bodyPr wrap="square" lIns="0" rIns="0" tIns="0" bIns="0" anchor="t">
            <a:spAutoFit/>
          </a:bodyPr>
          <a:lstStyle/>
          <a:p>
            <a:pPr algn="l">
              <a:lnSpc>
                <a:spcPct val="100000"/>
              </a:lnSpc>
              <a:spcBef>
                <a:spcPts val="0"/>
              </a:spcBef>
              <a:spcAft>
                <a:spcPts val="0"/>
              </a:spcAft>
            </a:pPr>
            <a:r>
              <a:rPr sz="1600" b="1" i="0">
                <a:solidFill>
                  <a:srgbClr val="0F5B4C"/>
                </a:solidFill>
                <a:latin typeface="Cambria"/>
              </a:rPr>
              <a:t>API centrale</a:t>
            </a:r>
          </a:p>
        </p:txBody>
      </p:sp>
      <p:sp>
        <p:nvSpPr>
          <p:cNvPr id="18" name="TextBox 17"/>
          <p:cNvSpPr txBox="1"/>
          <p:nvPr/>
        </p:nvSpPr>
        <p:spPr>
          <a:xfrm>
            <a:off x="8595359" y="4160520"/>
            <a:ext cx="2788920" cy="365760"/>
          </a:xfrm>
          <a:prstGeom prst="rect">
            <a:avLst/>
          </a:prstGeom>
          <a:noFill/>
        </p:spPr>
        <p:txBody>
          <a:bodyPr wrap="square" lIns="0" rIns="0" tIns="0" bIns="0" anchor="t">
            <a:spAutoFit/>
          </a:bodyPr>
          <a:lstStyle/>
          <a:p>
            <a:pPr algn="l">
              <a:lnSpc>
                <a:spcPct val="100000"/>
              </a:lnSpc>
              <a:spcBef>
                <a:spcPts val="0"/>
              </a:spcBef>
              <a:spcAft>
                <a:spcPts val="0"/>
              </a:spcAft>
            </a:pPr>
            <a:r>
              <a:rPr sz="1150" b="1" i="0">
                <a:solidFill>
                  <a:srgbClr val="B8863B"/>
                </a:solidFill>
                <a:latin typeface="Calibri"/>
              </a:rPr>
              <a:t>Laravel · GraphQL + REST</a:t>
            </a:r>
          </a:p>
        </p:txBody>
      </p:sp>
      <p:sp>
        <p:nvSpPr>
          <p:cNvPr id="19" name="TextBox 18"/>
          <p:cNvSpPr txBox="1"/>
          <p:nvPr/>
        </p:nvSpPr>
        <p:spPr>
          <a:xfrm>
            <a:off x="8595359" y="4572000"/>
            <a:ext cx="2788920" cy="1005840"/>
          </a:xfrm>
          <a:prstGeom prst="rect">
            <a:avLst/>
          </a:prstGeom>
          <a:noFill/>
        </p:spPr>
        <p:txBody>
          <a:bodyPr wrap="square" lIns="0" rIns="0" tIns="0" bIns="0" anchor="t">
            <a:spAutoFit/>
          </a:bodyPr>
          <a:lstStyle/>
          <a:p>
            <a:pPr algn="l">
              <a:lnSpc>
                <a:spcPct val="125000"/>
              </a:lnSpc>
              <a:spcBef>
                <a:spcPts val="0"/>
              </a:spcBef>
              <a:spcAft>
                <a:spcPts val="0"/>
              </a:spcAft>
            </a:pPr>
            <a:r>
              <a:rPr sz="1200" b="0" i="0">
                <a:solidFill>
                  <a:srgbClr val="68796F"/>
                </a:solidFill>
                <a:latin typeface="Calibri"/>
              </a:rPr>
              <a:t>Point d'entrée unique, sécurisé, multi-tenant</a:t>
            </a:r>
          </a:p>
        </p:txBody>
      </p:sp>
      <p:sp>
        <p:nvSpPr>
          <p:cNvPr id="20" name="TextBox 19"/>
          <p:cNvSpPr txBox="1"/>
          <p:nvPr/>
        </p:nvSpPr>
        <p:spPr>
          <a:xfrm>
            <a:off x="640080" y="6519672"/>
            <a:ext cx="7315200" cy="274320"/>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68796F"/>
                </a:solidFill>
                <a:latin typeface="Calibri"/>
              </a:rPr>
              <a:t>Kayñiawlu — Soutenance de mémoire</a:t>
            </a:r>
          </a:p>
        </p:txBody>
      </p:sp>
      <p:sp>
        <p:nvSpPr>
          <p:cNvPr id="21" name="TextBox 20"/>
          <p:cNvSpPr txBox="1"/>
          <p:nvPr/>
        </p:nvSpPr>
        <p:spPr>
          <a:xfrm>
            <a:off x="10180015" y="6519672"/>
            <a:ext cx="1371600" cy="274320"/>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8796F"/>
                </a:solidFill>
                <a:latin typeface="Calibri"/>
              </a:rPr>
              <a:t>17</a:t>
            </a:r>
          </a:p>
        </p:txBody>
      </p:sp>
    </p:spTree>
  </p:cSld>
  <p:clrMapOvr>
    <a:masterClrMapping/>
  </p:clrMapOvr>
  <p:transition spd="med">
    <p:fade/>
  </p:transition>
  <p:timing>
    <p:tnLst>
      <p:par>
        <p:cTn id="149" dur="indefinite" restart="never" nodeType="tmRoot">
          <p:childTnLst>
            <p:seq concurrent="1" nextAc="seek">
              <p:cTn id="150" dur="indefinite" nodeType="mainSeq">
                <p:childTnLst>
                  <p:par>
                    <p:cTn id="151" fill="hold">
                      <p:stCondLst>
                        <p:cond delay="0"/>
                      </p:stCondLst>
                      <p:childTnLst>
                        <p:par>
                          <p:cTn id="101" presetID="10" presetClass="entr" presetSubtype="0" fill="hold" grpId="0" nodeType="afterEffect">
                            <p:stCondLst>
                              <p:cond delay="0"/>
                            </p:stCondLst>
                            <p:childTnLst>
                              <p:set>
                                <p:cBhvr>
                                  <p:cTn id="102" dur="1" fill="hold">
                                    <p:stCondLst>
                                      <p:cond delay="0"/>
                                    </p:stCondLst>
                                  </p:cTn>
                                  <p:tgtEl>
                                    <p:spTgt spid="4"/>
                                  </p:tgtEl>
                                  <p:attrNameLst>
                                    <p:attrName>style.visibility</p:attrName>
                                  </p:attrNameLst>
                                </p:cBhvr>
                                <p:to>
                                  <p:strVal val="visible"/>
                                </p:to>
                              </p:set>
                              <p:animEffect transition="in" filter="fade">
                                <p:cBhvr>
                                  <p:cTn id="103" dur="420"/>
                                  <p:tgtEl>
                                    <p:spTgt spid="4"/>
                                  </p:tgtEl>
                                </p:cBhvr>
                              </p:animEffect>
                            </p:childTnLst>
                          </p:cTn>
                        </p:par>
                        <p:par>
                          <p:cTn id="104" presetID="10" presetClass="entr" presetSubtype="0" fill="hold" grpId="0" nodeType="afterEffect">
                            <p:stCondLst>
                              <p:cond delay="200"/>
                            </p:stCondLst>
                            <p:childTnLst>
                              <p:set>
                                <p:cBhvr>
                                  <p:cTn id="105" dur="1" fill="hold">
                                    <p:stCondLst>
                                      <p:cond delay="0"/>
                                    </p:stCondLst>
                                  </p:cTn>
                                  <p:tgtEl>
                                    <p:spTgt spid="5"/>
                                  </p:tgtEl>
                                  <p:attrNameLst>
                                    <p:attrName>style.visibility</p:attrName>
                                  </p:attrNameLst>
                                </p:cBhvr>
                                <p:to>
                                  <p:strVal val="visible"/>
                                </p:to>
                              </p:set>
                              <p:animEffect transition="in" filter="fade">
                                <p:cBhvr>
                                  <p:cTn id="106" dur="420"/>
                                  <p:tgtEl>
                                    <p:spTgt spid="5"/>
                                  </p:tgtEl>
                                </p:cBhvr>
                              </p:animEffect>
                            </p:childTnLst>
                          </p:cTn>
                        </p:par>
                        <p:par>
                          <p:cTn id="107" presetID="10" presetClass="entr" presetSubtype="0" fill="hold" grpId="0" nodeType="afterEffect">
                            <p:stCondLst>
                              <p:cond delay="200"/>
                            </p:stCondLst>
                            <p:childTnLst>
                              <p:set>
                                <p:cBhvr>
                                  <p:cTn id="108" dur="1" fill="hold">
                                    <p:stCondLst>
                                      <p:cond delay="0"/>
                                    </p:stCondLst>
                                  </p:cTn>
                                  <p:tgtEl>
                                    <p:spTgt spid="6"/>
                                  </p:tgtEl>
                                  <p:attrNameLst>
                                    <p:attrName>style.visibility</p:attrName>
                                  </p:attrNameLst>
                                </p:cBhvr>
                                <p:to>
                                  <p:strVal val="visible"/>
                                </p:to>
                              </p:set>
                              <p:animEffect transition="in" filter="fade">
                                <p:cBhvr>
                                  <p:cTn id="109" dur="420"/>
                                  <p:tgtEl>
                                    <p:spTgt spid="6"/>
                                  </p:tgtEl>
                                </p:cBhvr>
                              </p:animEffect>
                            </p:childTnLst>
                          </p:cTn>
                        </p:par>
                        <p:par>
                          <p:cTn id="110" presetID="10" presetClass="entr" presetSubtype="0" fill="hold" grpId="0" nodeType="afterEffect">
                            <p:stCondLst>
                              <p:cond delay="200"/>
                            </p:stCondLst>
                            <p:childTnLst>
                              <p:set>
                                <p:cBhvr>
                                  <p:cTn id="111" dur="1" fill="hold">
                                    <p:stCondLst>
                                      <p:cond delay="0"/>
                                    </p:stCondLst>
                                  </p:cTn>
                                  <p:tgtEl>
                                    <p:spTgt spid="7"/>
                                  </p:tgtEl>
                                  <p:attrNameLst>
                                    <p:attrName>style.visibility</p:attrName>
                                  </p:attrNameLst>
                                </p:cBhvr>
                                <p:to>
                                  <p:strVal val="visible"/>
                                </p:to>
                              </p:set>
                              <p:animEffect transition="in" filter="fade">
                                <p:cBhvr>
                                  <p:cTn id="112" dur="420"/>
                                  <p:tgtEl>
                                    <p:spTgt spid="7"/>
                                  </p:tgtEl>
                                </p:cBhvr>
                              </p:animEffect>
                            </p:childTnLst>
                          </p:cTn>
                        </p:par>
                        <p:par>
                          <p:cTn id="113" presetID="10" presetClass="entr" presetSubtype="0" fill="hold" grpId="0" nodeType="afterEffect">
                            <p:stCondLst>
                              <p:cond delay="200"/>
                            </p:stCondLst>
                            <p:childTnLst>
                              <p:set>
                                <p:cBhvr>
                                  <p:cTn id="114" dur="1" fill="hold">
                                    <p:stCondLst>
                                      <p:cond delay="0"/>
                                    </p:stCondLst>
                                  </p:cTn>
                                  <p:tgtEl>
                                    <p:spTgt spid="8"/>
                                  </p:tgtEl>
                                  <p:attrNameLst>
                                    <p:attrName>style.visibility</p:attrName>
                                  </p:attrNameLst>
                                </p:cBhvr>
                                <p:to>
                                  <p:strVal val="visible"/>
                                </p:to>
                              </p:set>
                              <p:animEffect transition="in" filter="fade">
                                <p:cBhvr>
                                  <p:cTn id="115" dur="420"/>
                                  <p:tgtEl>
                                    <p:spTgt spid="8"/>
                                  </p:tgtEl>
                                </p:cBhvr>
                              </p:animEffect>
                            </p:childTnLst>
                          </p:cTn>
                        </p:par>
                        <p:par>
                          <p:cTn id="116" presetID="10" presetClass="entr" presetSubtype="0" fill="hold" grpId="0" nodeType="afterEffect">
                            <p:stCondLst>
                              <p:cond delay="200"/>
                            </p:stCondLst>
                            <p:childTnLst>
                              <p:set>
                                <p:cBhvr>
                                  <p:cTn id="117" dur="1" fill="hold">
                                    <p:stCondLst>
                                      <p:cond delay="0"/>
                                    </p:stCondLst>
                                  </p:cTn>
                                  <p:tgtEl>
                                    <p:spTgt spid="9"/>
                                  </p:tgtEl>
                                  <p:attrNameLst>
                                    <p:attrName>style.visibility</p:attrName>
                                  </p:attrNameLst>
                                </p:cBhvr>
                                <p:to>
                                  <p:strVal val="visible"/>
                                </p:to>
                              </p:set>
                              <p:animEffect transition="in" filter="fade">
                                <p:cBhvr>
                                  <p:cTn id="118" dur="420"/>
                                  <p:tgtEl>
                                    <p:spTgt spid="9"/>
                                  </p:tgtEl>
                                </p:cBhvr>
                              </p:animEffect>
                            </p:childTnLst>
                          </p:cTn>
                        </p:par>
                        <p:par>
                          <p:cTn id="119" presetID="10" presetClass="entr" presetSubtype="0" fill="hold" grpId="0" nodeType="afterEffect">
                            <p:stCondLst>
                              <p:cond delay="400"/>
                            </p:stCondLst>
                            <p:childTnLst>
                              <p:set>
                                <p:cBhvr>
                                  <p:cTn id="120" dur="1" fill="hold">
                                    <p:stCondLst>
                                      <p:cond delay="0"/>
                                    </p:stCondLst>
                                  </p:cTn>
                                  <p:tgtEl>
                                    <p:spTgt spid="10"/>
                                  </p:tgtEl>
                                  <p:attrNameLst>
                                    <p:attrName>style.visibility</p:attrName>
                                  </p:attrNameLst>
                                </p:cBhvr>
                                <p:to>
                                  <p:strVal val="visible"/>
                                </p:to>
                              </p:set>
                              <p:animEffect transition="in" filter="fade">
                                <p:cBhvr>
                                  <p:cTn id="121" dur="420"/>
                                  <p:tgtEl>
                                    <p:spTgt spid="10"/>
                                  </p:tgtEl>
                                </p:cBhvr>
                              </p:animEffect>
                            </p:childTnLst>
                          </p:cTn>
                        </p:par>
                        <p:par>
                          <p:cTn id="122" presetID="10" presetClass="entr" presetSubtype="0" fill="hold" grpId="0" nodeType="afterEffect">
                            <p:stCondLst>
                              <p:cond delay="400"/>
                            </p:stCondLst>
                            <p:childTnLst>
                              <p:set>
                                <p:cBhvr>
                                  <p:cTn id="123" dur="1" fill="hold">
                                    <p:stCondLst>
                                      <p:cond delay="0"/>
                                    </p:stCondLst>
                                  </p:cTn>
                                  <p:tgtEl>
                                    <p:spTgt spid="11"/>
                                  </p:tgtEl>
                                  <p:attrNameLst>
                                    <p:attrName>style.visibility</p:attrName>
                                  </p:attrNameLst>
                                </p:cBhvr>
                                <p:to>
                                  <p:strVal val="visible"/>
                                </p:to>
                              </p:set>
                              <p:animEffect transition="in" filter="fade">
                                <p:cBhvr>
                                  <p:cTn id="124" dur="420"/>
                                  <p:tgtEl>
                                    <p:spTgt spid="11"/>
                                  </p:tgtEl>
                                </p:cBhvr>
                              </p:animEffect>
                            </p:childTnLst>
                          </p:cTn>
                        </p:par>
                        <p:par>
                          <p:cTn id="125" presetID="10" presetClass="entr" presetSubtype="0" fill="hold" grpId="0" nodeType="afterEffect">
                            <p:stCondLst>
                              <p:cond delay="400"/>
                            </p:stCondLst>
                            <p:childTnLst>
                              <p:set>
                                <p:cBhvr>
                                  <p:cTn id="126" dur="1" fill="hold">
                                    <p:stCondLst>
                                      <p:cond delay="0"/>
                                    </p:stCondLst>
                                  </p:cTn>
                                  <p:tgtEl>
                                    <p:spTgt spid="12"/>
                                  </p:tgtEl>
                                  <p:attrNameLst>
                                    <p:attrName>style.visibility</p:attrName>
                                  </p:attrNameLst>
                                </p:cBhvr>
                                <p:to>
                                  <p:strVal val="visible"/>
                                </p:to>
                              </p:set>
                              <p:animEffect transition="in" filter="fade">
                                <p:cBhvr>
                                  <p:cTn id="127" dur="420"/>
                                  <p:tgtEl>
                                    <p:spTgt spid="12"/>
                                  </p:tgtEl>
                                </p:cBhvr>
                              </p:animEffect>
                            </p:childTnLst>
                          </p:cTn>
                        </p:par>
                        <p:par>
                          <p:cTn id="128" presetID="10" presetClass="entr" presetSubtype="0" fill="hold" grpId="0" nodeType="afterEffect">
                            <p:stCondLst>
                              <p:cond delay="400"/>
                            </p:stCondLst>
                            <p:childTnLst>
                              <p:set>
                                <p:cBhvr>
                                  <p:cTn id="129" dur="1" fill="hold">
                                    <p:stCondLst>
                                      <p:cond delay="0"/>
                                    </p:stCondLst>
                                  </p:cTn>
                                  <p:tgtEl>
                                    <p:spTgt spid="13"/>
                                  </p:tgtEl>
                                  <p:attrNameLst>
                                    <p:attrName>style.visibility</p:attrName>
                                  </p:attrNameLst>
                                </p:cBhvr>
                                <p:to>
                                  <p:strVal val="visible"/>
                                </p:to>
                              </p:set>
                              <p:animEffect transition="in" filter="fade">
                                <p:cBhvr>
                                  <p:cTn id="130" dur="420"/>
                                  <p:tgtEl>
                                    <p:spTgt spid="13"/>
                                  </p:tgtEl>
                                </p:cBhvr>
                              </p:animEffect>
                            </p:childTnLst>
                          </p:cTn>
                        </p:par>
                        <p:par>
                          <p:cTn id="131" presetID="10" presetClass="entr" presetSubtype="0" fill="hold" grpId="0" nodeType="afterEffect">
                            <p:stCondLst>
                              <p:cond delay="400"/>
                            </p:stCondLst>
                            <p:childTnLst>
                              <p:set>
                                <p:cBhvr>
                                  <p:cTn id="132" dur="1" fill="hold">
                                    <p:stCondLst>
                                      <p:cond delay="0"/>
                                    </p:stCondLst>
                                  </p:cTn>
                                  <p:tgtEl>
                                    <p:spTgt spid="14"/>
                                  </p:tgtEl>
                                  <p:attrNameLst>
                                    <p:attrName>style.visibility</p:attrName>
                                  </p:attrNameLst>
                                </p:cBhvr>
                                <p:to>
                                  <p:strVal val="visible"/>
                                </p:to>
                              </p:set>
                              <p:animEffect transition="in" filter="fade">
                                <p:cBhvr>
                                  <p:cTn id="133" dur="420"/>
                                  <p:tgtEl>
                                    <p:spTgt spid="14"/>
                                  </p:tgtEl>
                                </p:cBhvr>
                              </p:animEffect>
                            </p:childTnLst>
                          </p:cTn>
                        </p:par>
                        <p:par>
                          <p:cTn id="134" presetID="10" presetClass="entr" presetSubtype="0" fill="hold" grpId="0" nodeType="afterEffect">
                            <p:stCondLst>
                              <p:cond delay="600"/>
                            </p:stCondLst>
                            <p:childTnLst>
                              <p:set>
                                <p:cBhvr>
                                  <p:cTn id="135" dur="1" fill="hold">
                                    <p:stCondLst>
                                      <p:cond delay="0"/>
                                    </p:stCondLst>
                                  </p:cTn>
                                  <p:tgtEl>
                                    <p:spTgt spid="15"/>
                                  </p:tgtEl>
                                  <p:attrNameLst>
                                    <p:attrName>style.visibility</p:attrName>
                                  </p:attrNameLst>
                                </p:cBhvr>
                                <p:to>
                                  <p:strVal val="visible"/>
                                </p:to>
                              </p:set>
                              <p:animEffect transition="in" filter="fade">
                                <p:cBhvr>
                                  <p:cTn id="136" dur="420"/>
                                  <p:tgtEl>
                                    <p:spTgt spid="15"/>
                                  </p:tgtEl>
                                </p:cBhvr>
                              </p:animEffect>
                            </p:childTnLst>
                          </p:cTn>
                        </p:par>
                        <p:par>
                          <p:cTn id="137" presetID="10" presetClass="entr" presetSubtype="0" fill="hold" grpId="0" nodeType="afterEffect">
                            <p:stCondLst>
                              <p:cond delay="600"/>
                            </p:stCondLst>
                            <p:childTnLst>
                              <p:set>
                                <p:cBhvr>
                                  <p:cTn id="138" dur="1" fill="hold">
                                    <p:stCondLst>
                                      <p:cond delay="0"/>
                                    </p:stCondLst>
                                  </p:cTn>
                                  <p:tgtEl>
                                    <p:spTgt spid="16"/>
                                  </p:tgtEl>
                                  <p:attrNameLst>
                                    <p:attrName>style.visibility</p:attrName>
                                  </p:attrNameLst>
                                </p:cBhvr>
                                <p:to>
                                  <p:strVal val="visible"/>
                                </p:to>
                              </p:set>
                              <p:animEffect transition="in" filter="fade">
                                <p:cBhvr>
                                  <p:cTn id="139" dur="420"/>
                                  <p:tgtEl>
                                    <p:spTgt spid="16"/>
                                  </p:tgtEl>
                                </p:cBhvr>
                              </p:animEffect>
                            </p:childTnLst>
                          </p:cTn>
                        </p:par>
                        <p:par>
                          <p:cTn id="140" presetID="10" presetClass="entr" presetSubtype="0" fill="hold" grpId="0" nodeType="afterEffect">
                            <p:stCondLst>
                              <p:cond delay="600"/>
                            </p:stCondLst>
                            <p:childTnLst>
                              <p:set>
                                <p:cBhvr>
                                  <p:cTn id="141" dur="1" fill="hold">
                                    <p:stCondLst>
                                      <p:cond delay="0"/>
                                    </p:stCondLst>
                                  </p:cTn>
                                  <p:tgtEl>
                                    <p:spTgt spid="17"/>
                                  </p:tgtEl>
                                  <p:attrNameLst>
                                    <p:attrName>style.visibility</p:attrName>
                                  </p:attrNameLst>
                                </p:cBhvr>
                                <p:to>
                                  <p:strVal val="visible"/>
                                </p:to>
                              </p:set>
                              <p:animEffect transition="in" filter="fade">
                                <p:cBhvr>
                                  <p:cTn id="142" dur="420"/>
                                  <p:tgtEl>
                                    <p:spTgt spid="17"/>
                                  </p:tgtEl>
                                </p:cBhvr>
                              </p:animEffect>
                            </p:childTnLst>
                          </p:cTn>
                        </p:par>
                        <p:par>
                          <p:cTn id="143" presetID="10" presetClass="entr" presetSubtype="0" fill="hold" grpId="0" nodeType="afterEffect">
                            <p:stCondLst>
                              <p:cond delay="600"/>
                            </p:stCondLst>
                            <p:childTnLst>
                              <p:set>
                                <p:cBhvr>
                                  <p:cTn id="144" dur="1" fill="hold">
                                    <p:stCondLst>
                                      <p:cond delay="0"/>
                                    </p:stCondLst>
                                  </p:cTn>
                                  <p:tgtEl>
                                    <p:spTgt spid="18"/>
                                  </p:tgtEl>
                                  <p:attrNameLst>
                                    <p:attrName>style.visibility</p:attrName>
                                  </p:attrNameLst>
                                </p:cBhvr>
                                <p:to>
                                  <p:strVal val="visible"/>
                                </p:to>
                              </p:set>
                              <p:animEffect transition="in" filter="fade">
                                <p:cBhvr>
                                  <p:cTn id="145" dur="420"/>
                                  <p:tgtEl>
                                    <p:spTgt spid="18"/>
                                  </p:tgtEl>
                                </p:cBhvr>
                              </p:animEffect>
                            </p:childTnLst>
                          </p:cTn>
                        </p:par>
                        <p:par>
                          <p:cTn id="146" presetID="10" presetClass="entr" presetSubtype="0" fill="hold" grpId="0" nodeType="afterEffect">
                            <p:stCondLst>
                              <p:cond delay="600"/>
                            </p:stCondLst>
                            <p:childTnLst>
                              <p:set>
                                <p:cBhvr>
                                  <p:cTn id="147" dur="1" fill="hold">
                                    <p:stCondLst>
                                      <p:cond delay="0"/>
                                    </p:stCondLst>
                                  </p:cTn>
                                  <p:tgtEl>
                                    <p:spTgt spid="19"/>
                                  </p:tgtEl>
                                  <p:attrNameLst>
                                    <p:attrName>style.visibility</p:attrName>
                                  </p:attrNameLst>
                                </p:cBhvr>
                                <p:to>
                                  <p:strVal val="visible"/>
                                </p:to>
                              </p:set>
                              <p:animEffect transition="in" filter="fade">
                                <p:cBhvr>
                                  <p:cTn id="148" dur="420"/>
                                  <p:tgtEl>
                                    <p:spTgt spid="19"/>
                                  </p:tgtEl>
                                </p:cBhvr>
                              </p:animEffect>
                            </p:childTnLst>
                          </p:cTn>
                        </p:par>
                      </p:childTnLst>
                    </p:cTn>
                  </p:par>
                </p:childTnLst>
              </p:cTn>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881360" cy="292608"/>
          </a:xfrm>
          <a:prstGeom prst="rect">
            <a:avLst/>
          </a:prstGeom>
          <a:noFill/>
        </p:spPr>
        <p:txBody>
          <a:bodyPr wrap="square" lIns="0" rIns="0" tIns="0" bIns="0" anchor="t">
            <a:spAutoFit/>
          </a:bodyPr>
          <a:lstStyle/>
          <a:p>
            <a:pPr algn="l">
              <a:lnSpc>
                <a:spcPct val="100000"/>
              </a:lnSpc>
              <a:spcBef>
                <a:spcPts val="0"/>
              </a:spcBef>
              <a:spcAft>
                <a:spcPts val="0"/>
              </a:spcAft>
            </a:pPr>
            <a:r>
              <a:rPr sz="1250" b="1" i="0">
                <a:solidFill>
                  <a:srgbClr val="B8863B"/>
                </a:solidFill>
                <a:latin typeface="Calibri"/>
              </a:rPr>
              <a:t>LA SOLUTION KAYÑIAWLU · CAS D'UTILISATION</a:t>
            </a:r>
          </a:p>
        </p:txBody>
      </p:sp>
      <p:sp>
        <p:nvSpPr>
          <p:cNvPr id="3" name="TextBox 2"/>
          <p:cNvSpPr txBox="1"/>
          <p:nvPr/>
        </p:nvSpPr>
        <p:spPr>
          <a:xfrm>
            <a:off x="640080" y="786384"/>
            <a:ext cx="10881360" cy="777240"/>
          </a:xfrm>
          <a:prstGeom prst="rect">
            <a:avLst/>
          </a:prstGeom>
          <a:noFill/>
        </p:spPr>
        <p:txBody>
          <a:bodyPr wrap="square" lIns="0" rIns="0" tIns="0" bIns="0" anchor="t">
            <a:spAutoFit/>
          </a:bodyPr>
          <a:lstStyle/>
          <a:p>
            <a:pPr algn="l">
              <a:lnSpc>
                <a:spcPct val="102000"/>
              </a:lnSpc>
              <a:spcBef>
                <a:spcPts val="0"/>
              </a:spcBef>
              <a:spcAft>
                <a:spcPts val="0"/>
              </a:spcAft>
            </a:pPr>
            <a:r>
              <a:rPr sz="2700" b="1" i="0">
                <a:solidFill>
                  <a:srgbClr val="0F5B4C"/>
                </a:solidFill>
                <a:latin typeface="Cambria"/>
              </a:rPr>
              <a:t>Propriétaire de l'atelier</a:t>
            </a:r>
          </a:p>
        </p:txBody>
      </p:sp>
      <p:pic>
        <p:nvPicPr>
          <p:cNvPr id="4" name="Picture 3" descr="fig05_uc_nouveau_proprietaire.png"/>
          <p:cNvPicPr>
            <a:picLocks noChangeAspect="1"/>
          </p:cNvPicPr>
          <p:nvPr/>
        </p:nvPicPr>
        <p:blipFill>
          <a:blip r:embed="rId2"/>
          <a:stretch>
            <a:fillRect/>
          </a:stretch>
        </p:blipFill>
        <p:spPr>
          <a:xfrm>
            <a:off x="857851" y="1371600"/>
            <a:ext cx="4136456" cy="5074920"/>
          </a:xfrm>
          <a:prstGeom prst="rect">
            <a:avLst/>
          </a:prstGeom>
        </p:spPr>
      </p:pic>
      <p:sp>
        <p:nvSpPr>
          <p:cNvPr id="5" name="Oval 4"/>
          <p:cNvSpPr/>
          <p:nvPr/>
        </p:nvSpPr>
        <p:spPr>
          <a:xfrm>
            <a:off x="5623560" y="1463040"/>
            <a:ext cx="310896" cy="310896"/>
          </a:xfrm>
          <a:prstGeom prst="ellipse">
            <a:avLst/>
          </a:prstGeom>
          <a:solidFill>
            <a:srgbClr val="B8863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Calibri"/>
              </a:rPr>
              <a:t>✓</a:t>
            </a:r>
          </a:p>
        </p:txBody>
      </p:sp>
      <p:sp>
        <p:nvSpPr>
          <p:cNvPr id="6" name="TextBox 5"/>
          <p:cNvSpPr txBox="1"/>
          <p:nvPr/>
        </p:nvSpPr>
        <p:spPr>
          <a:xfrm>
            <a:off x="6080760" y="1435608"/>
            <a:ext cx="5486400" cy="365760"/>
          </a:xfrm>
          <a:prstGeom prst="rect">
            <a:avLst/>
          </a:prstGeom>
          <a:noFill/>
        </p:spPr>
        <p:txBody>
          <a:bodyPr wrap="square" lIns="0" rIns="0" tIns="0" bIns="0" anchor="ctr">
            <a:spAutoFit/>
          </a:bodyPr>
          <a:lstStyle/>
          <a:p>
            <a:pPr algn="l">
              <a:lnSpc>
                <a:spcPct val="100000"/>
              </a:lnSpc>
              <a:spcBef>
                <a:spcPts val="0"/>
              </a:spcBef>
              <a:spcAft>
                <a:spcPts val="0"/>
              </a:spcAft>
            </a:pPr>
            <a:r>
              <a:rPr sz="1300" b="0" i="0">
                <a:solidFill>
                  <a:srgbClr val="24312B"/>
                </a:solidFill>
                <a:latin typeface="Calibri"/>
              </a:rPr>
              <a:t>Gérer les clients de l'atelier</a:t>
            </a:r>
          </a:p>
        </p:txBody>
      </p:sp>
      <p:sp>
        <p:nvSpPr>
          <p:cNvPr id="7" name="Oval 6"/>
          <p:cNvSpPr/>
          <p:nvPr/>
        </p:nvSpPr>
        <p:spPr>
          <a:xfrm>
            <a:off x="5623560" y="1993392"/>
            <a:ext cx="310896" cy="310896"/>
          </a:xfrm>
          <a:prstGeom prst="ellipse">
            <a:avLst/>
          </a:prstGeom>
          <a:solidFill>
            <a:srgbClr val="B8863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Calibri"/>
              </a:rPr>
              <a:t>✓</a:t>
            </a:r>
          </a:p>
        </p:txBody>
      </p:sp>
      <p:sp>
        <p:nvSpPr>
          <p:cNvPr id="8" name="TextBox 7"/>
          <p:cNvSpPr txBox="1"/>
          <p:nvPr/>
        </p:nvSpPr>
        <p:spPr>
          <a:xfrm>
            <a:off x="6080760" y="1965960"/>
            <a:ext cx="5486400" cy="365760"/>
          </a:xfrm>
          <a:prstGeom prst="rect">
            <a:avLst/>
          </a:prstGeom>
          <a:noFill/>
        </p:spPr>
        <p:txBody>
          <a:bodyPr wrap="square" lIns="0" rIns="0" tIns="0" bIns="0" anchor="ctr">
            <a:spAutoFit/>
          </a:bodyPr>
          <a:lstStyle/>
          <a:p>
            <a:pPr algn="l">
              <a:lnSpc>
                <a:spcPct val="100000"/>
              </a:lnSpc>
              <a:spcBef>
                <a:spcPts val="0"/>
              </a:spcBef>
              <a:spcAft>
                <a:spcPts val="0"/>
              </a:spcAft>
            </a:pPr>
            <a:r>
              <a:rPr sz="1300" b="0" i="0">
                <a:solidFill>
                  <a:srgbClr val="24312B"/>
                </a:solidFill>
                <a:latin typeface="Calibri"/>
              </a:rPr>
              <a:t>Gérer les fiches de mesures personnalisables</a:t>
            </a:r>
          </a:p>
        </p:txBody>
      </p:sp>
      <p:sp>
        <p:nvSpPr>
          <p:cNvPr id="9" name="Oval 8"/>
          <p:cNvSpPr/>
          <p:nvPr/>
        </p:nvSpPr>
        <p:spPr>
          <a:xfrm>
            <a:off x="5623560" y="2523744"/>
            <a:ext cx="310896" cy="310896"/>
          </a:xfrm>
          <a:prstGeom prst="ellipse">
            <a:avLst/>
          </a:prstGeom>
          <a:solidFill>
            <a:srgbClr val="B8863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Calibri"/>
              </a:rPr>
              <a:t>✓</a:t>
            </a:r>
          </a:p>
        </p:txBody>
      </p:sp>
      <p:sp>
        <p:nvSpPr>
          <p:cNvPr id="10" name="TextBox 9"/>
          <p:cNvSpPr txBox="1"/>
          <p:nvPr/>
        </p:nvSpPr>
        <p:spPr>
          <a:xfrm>
            <a:off x="6080760" y="2496312"/>
            <a:ext cx="5486400" cy="365760"/>
          </a:xfrm>
          <a:prstGeom prst="rect">
            <a:avLst/>
          </a:prstGeom>
          <a:noFill/>
        </p:spPr>
        <p:txBody>
          <a:bodyPr wrap="square" lIns="0" rIns="0" tIns="0" bIns="0" anchor="ctr">
            <a:spAutoFit/>
          </a:bodyPr>
          <a:lstStyle/>
          <a:p>
            <a:pPr algn="l">
              <a:lnSpc>
                <a:spcPct val="100000"/>
              </a:lnSpc>
              <a:spcBef>
                <a:spcPts val="0"/>
              </a:spcBef>
              <a:spcAft>
                <a:spcPts val="0"/>
              </a:spcAft>
            </a:pPr>
            <a:r>
              <a:rPr sz="1300" b="0" i="0">
                <a:solidFill>
                  <a:srgbClr val="24312B"/>
                </a:solidFill>
                <a:latin typeface="Calibri"/>
              </a:rPr>
              <a:t>Gérer les commandes et leurs statuts</a:t>
            </a:r>
          </a:p>
        </p:txBody>
      </p:sp>
      <p:sp>
        <p:nvSpPr>
          <p:cNvPr id="11" name="Oval 10"/>
          <p:cNvSpPr/>
          <p:nvPr/>
        </p:nvSpPr>
        <p:spPr>
          <a:xfrm>
            <a:off x="5623560" y="3054096"/>
            <a:ext cx="310896" cy="310896"/>
          </a:xfrm>
          <a:prstGeom prst="ellipse">
            <a:avLst/>
          </a:prstGeom>
          <a:solidFill>
            <a:srgbClr val="B8863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Calibri"/>
              </a:rPr>
              <a:t>✓</a:t>
            </a:r>
          </a:p>
        </p:txBody>
      </p:sp>
      <p:sp>
        <p:nvSpPr>
          <p:cNvPr id="12" name="TextBox 11"/>
          <p:cNvSpPr txBox="1"/>
          <p:nvPr/>
        </p:nvSpPr>
        <p:spPr>
          <a:xfrm>
            <a:off x="6080760" y="3026664"/>
            <a:ext cx="5486400" cy="365760"/>
          </a:xfrm>
          <a:prstGeom prst="rect">
            <a:avLst/>
          </a:prstGeom>
          <a:noFill/>
        </p:spPr>
        <p:txBody>
          <a:bodyPr wrap="square" lIns="0" rIns="0" tIns="0" bIns="0" anchor="ctr">
            <a:spAutoFit/>
          </a:bodyPr>
          <a:lstStyle/>
          <a:p>
            <a:pPr algn="l">
              <a:lnSpc>
                <a:spcPct val="100000"/>
              </a:lnSpc>
              <a:spcBef>
                <a:spcPts val="0"/>
              </a:spcBef>
              <a:spcAft>
                <a:spcPts val="0"/>
              </a:spcAft>
            </a:pPr>
            <a:r>
              <a:rPr sz="1300" b="0" i="0">
                <a:solidFill>
                  <a:srgbClr val="24312B"/>
                </a:solidFill>
                <a:latin typeface="Calibri"/>
              </a:rPr>
              <a:t>Gérer plusieurs points de vente</a:t>
            </a:r>
          </a:p>
        </p:txBody>
      </p:sp>
      <p:sp>
        <p:nvSpPr>
          <p:cNvPr id="13" name="Oval 12"/>
          <p:cNvSpPr/>
          <p:nvPr/>
        </p:nvSpPr>
        <p:spPr>
          <a:xfrm>
            <a:off x="5623560" y="3584448"/>
            <a:ext cx="310896" cy="310896"/>
          </a:xfrm>
          <a:prstGeom prst="ellipse">
            <a:avLst/>
          </a:prstGeom>
          <a:solidFill>
            <a:srgbClr val="B8863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Calibri"/>
              </a:rPr>
              <a:t>✓</a:t>
            </a:r>
          </a:p>
        </p:txBody>
      </p:sp>
      <p:sp>
        <p:nvSpPr>
          <p:cNvPr id="14" name="TextBox 13"/>
          <p:cNvSpPr txBox="1"/>
          <p:nvPr/>
        </p:nvSpPr>
        <p:spPr>
          <a:xfrm>
            <a:off x="6080760" y="3557016"/>
            <a:ext cx="5486400" cy="365760"/>
          </a:xfrm>
          <a:prstGeom prst="rect">
            <a:avLst/>
          </a:prstGeom>
          <a:noFill/>
        </p:spPr>
        <p:txBody>
          <a:bodyPr wrap="square" lIns="0" rIns="0" tIns="0" bIns="0" anchor="ctr">
            <a:spAutoFit/>
          </a:bodyPr>
          <a:lstStyle/>
          <a:p>
            <a:pPr algn="l">
              <a:lnSpc>
                <a:spcPct val="100000"/>
              </a:lnSpc>
              <a:spcBef>
                <a:spcPts val="0"/>
              </a:spcBef>
              <a:spcAft>
                <a:spcPts val="0"/>
              </a:spcAft>
            </a:pPr>
            <a:r>
              <a:rPr sz="1300" b="0" i="0">
                <a:solidFill>
                  <a:srgbClr val="24312B"/>
                </a:solidFill>
                <a:latin typeface="Calibri"/>
              </a:rPr>
              <a:t>Gérer l'équipe et les rôles</a:t>
            </a:r>
          </a:p>
        </p:txBody>
      </p:sp>
      <p:sp>
        <p:nvSpPr>
          <p:cNvPr id="15" name="Oval 14"/>
          <p:cNvSpPr/>
          <p:nvPr/>
        </p:nvSpPr>
        <p:spPr>
          <a:xfrm>
            <a:off x="5623560" y="4114800"/>
            <a:ext cx="310896" cy="310896"/>
          </a:xfrm>
          <a:prstGeom prst="ellipse">
            <a:avLst/>
          </a:prstGeom>
          <a:solidFill>
            <a:srgbClr val="B8863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Calibri"/>
              </a:rPr>
              <a:t>✓</a:t>
            </a:r>
          </a:p>
        </p:txBody>
      </p:sp>
      <p:sp>
        <p:nvSpPr>
          <p:cNvPr id="16" name="TextBox 15"/>
          <p:cNvSpPr txBox="1"/>
          <p:nvPr/>
        </p:nvSpPr>
        <p:spPr>
          <a:xfrm>
            <a:off x="6080760" y="4087368"/>
            <a:ext cx="5486400" cy="365760"/>
          </a:xfrm>
          <a:prstGeom prst="rect">
            <a:avLst/>
          </a:prstGeom>
          <a:noFill/>
        </p:spPr>
        <p:txBody>
          <a:bodyPr wrap="square" lIns="0" rIns="0" tIns="0" bIns="0" anchor="ctr">
            <a:spAutoFit/>
          </a:bodyPr>
          <a:lstStyle/>
          <a:p>
            <a:pPr algn="l">
              <a:lnSpc>
                <a:spcPct val="100000"/>
              </a:lnSpc>
              <a:spcBef>
                <a:spcPts val="0"/>
              </a:spcBef>
              <a:spcAft>
                <a:spcPts val="0"/>
              </a:spcAft>
            </a:pPr>
            <a:r>
              <a:rPr sz="1300" b="0" i="0">
                <a:solidFill>
                  <a:srgbClr val="24312B"/>
                </a:solidFill>
                <a:latin typeface="Calibri"/>
              </a:rPr>
              <a:t>Recevoir les rappels de livraison</a:t>
            </a:r>
          </a:p>
        </p:txBody>
      </p:sp>
      <p:sp>
        <p:nvSpPr>
          <p:cNvPr id="17" name="Oval 16"/>
          <p:cNvSpPr/>
          <p:nvPr/>
        </p:nvSpPr>
        <p:spPr>
          <a:xfrm>
            <a:off x="5623560" y="4645152"/>
            <a:ext cx="310896" cy="310896"/>
          </a:xfrm>
          <a:prstGeom prst="ellipse">
            <a:avLst/>
          </a:prstGeom>
          <a:solidFill>
            <a:srgbClr val="B8863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Calibri"/>
              </a:rPr>
              <a:t>✓</a:t>
            </a:r>
          </a:p>
        </p:txBody>
      </p:sp>
      <p:sp>
        <p:nvSpPr>
          <p:cNvPr id="18" name="TextBox 17"/>
          <p:cNvSpPr txBox="1"/>
          <p:nvPr/>
        </p:nvSpPr>
        <p:spPr>
          <a:xfrm>
            <a:off x="6080760" y="4617720"/>
            <a:ext cx="5486400" cy="365760"/>
          </a:xfrm>
          <a:prstGeom prst="rect">
            <a:avLst/>
          </a:prstGeom>
          <a:noFill/>
        </p:spPr>
        <p:txBody>
          <a:bodyPr wrap="square" lIns="0" rIns="0" tIns="0" bIns="0" anchor="ctr">
            <a:spAutoFit/>
          </a:bodyPr>
          <a:lstStyle/>
          <a:p>
            <a:pPr algn="l">
              <a:lnSpc>
                <a:spcPct val="100000"/>
              </a:lnSpc>
              <a:spcBef>
                <a:spcPts val="0"/>
              </a:spcBef>
              <a:spcAft>
                <a:spcPts val="0"/>
              </a:spcAft>
            </a:pPr>
            <a:r>
              <a:rPr sz="1300" b="0" i="0">
                <a:solidFill>
                  <a:srgbClr val="24312B"/>
                </a:solidFill>
                <a:latin typeface="Calibri"/>
              </a:rPr>
              <a:t>Consulter le tableau de bord de l'atelier</a:t>
            </a:r>
          </a:p>
        </p:txBody>
      </p:sp>
      <p:sp>
        <p:nvSpPr>
          <p:cNvPr id="19" name="Oval 18"/>
          <p:cNvSpPr/>
          <p:nvPr/>
        </p:nvSpPr>
        <p:spPr>
          <a:xfrm>
            <a:off x="5623560" y="5175504"/>
            <a:ext cx="310896" cy="310896"/>
          </a:xfrm>
          <a:prstGeom prst="ellipse">
            <a:avLst/>
          </a:prstGeom>
          <a:solidFill>
            <a:srgbClr val="B8863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Calibri"/>
              </a:rPr>
              <a:t>✓</a:t>
            </a:r>
          </a:p>
        </p:txBody>
      </p:sp>
      <p:sp>
        <p:nvSpPr>
          <p:cNvPr id="20" name="TextBox 19"/>
          <p:cNvSpPr txBox="1"/>
          <p:nvPr/>
        </p:nvSpPr>
        <p:spPr>
          <a:xfrm>
            <a:off x="6080760" y="5148072"/>
            <a:ext cx="5486400" cy="365760"/>
          </a:xfrm>
          <a:prstGeom prst="rect">
            <a:avLst/>
          </a:prstGeom>
          <a:noFill/>
        </p:spPr>
        <p:txBody>
          <a:bodyPr wrap="square" lIns="0" rIns="0" tIns="0" bIns="0" anchor="ctr">
            <a:spAutoFit/>
          </a:bodyPr>
          <a:lstStyle/>
          <a:p>
            <a:pPr algn="l">
              <a:lnSpc>
                <a:spcPct val="100000"/>
              </a:lnSpc>
              <a:spcBef>
                <a:spcPts val="0"/>
              </a:spcBef>
              <a:spcAft>
                <a:spcPts val="0"/>
              </a:spcAft>
            </a:pPr>
            <a:r>
              <a:rPr sz="1300" b="0" i="0">
                <a:solidFill>
                  <a:srgbClr val="24312B"/>
                </a:solidFill>
                <a:latin typeface="Calibri"/>
              </a:rPr>
              <a:t>Générer des reçus PDF</a:t>
            </a:r>
          </a:p>
        </p:txBody>
      </p:sp>
      <p:sp>
        <p:nvSpPr>
          <p:cNvPr id="21" name="TextBox 20"/>
          <p:cNvSpPr txBox="1"/>
          <p:nvPr/>
        </p:nvSpPr>
        <p:spPr>
          <a:xfrm>
            <a:off x="640080" y="6519672"/>
            <a:ext cx="7315200" cy="274320"/>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68796F"/>
                </a:solidFill>
                <a:latin typeface="Calibri"/>
              </a:rPr>
              <a:t>Kayñiawlu — Soutenance de mémoire</a:t>
            </a:r>
          </a:p>
        </p:txBody>
      </p:sp>
      <p:sp>
        <p:nvSpPr>
          <p:cNvPr id="22" name="TextBox 21"/>
          <p:cNvSpPr txBox="1"/>
          <p:nvPr/>
        </p:nvSpPr>
        <p:spPr>
          <a:xfrm>
            <a:off x="10180015" y="6519672"/>
            <a:ext cx="1371600" cy="274320"/>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8796F"/>
                </a:solidFill>
                <a:latin typeface="Calibri"/>
              </a:rPr>
              <a:t>18</a:t>
            </a:r>
          </a:p>
        </p:txBody>
      </p:sp>
    </p:spTree>
  </p:cSld>
  <p:clrMapOvr>
    <a:masterClrMapping/>
  </p:clrMapOvr>
  <p:transition spd="med">
    <p:fade/>
  </p:transition>
  <p:timing>
    <p:tnLst>
      <p:par>
        <p:cTn id="152" dur="indefinite" restart="never" nodeType="tmRoot">
          <p:childTnLst>
            <p:seq concurrent="1" nextAc="seek">
              <p:cTn id="153" dur="indefinite" nodeType="mainSeq">
                <p:childTnLst>
                  <p:par>
                    <p:cTn id="154" fill="hold">
                      <p:stCondLst>
                        <p:cond delay="0"/>
                      </p:stCondLst>
                      <p:childTnLst>
                        <p:par>
                          <p:cTn id="101" presetID="10" presetClass="entr" presetSubtype="0" fill="hold" grpId="0" nodeType="afterEffect">
                            <p:stCondLst>
                              <p:cond delay="0"/>
                            </p:stCondLst>
                            <p:childTnLst>
                              <p:set>
                                <p:cBhvr>
                                  <p:cTn id="102" dur="1" fill="hold">
                                    <p:stCondLst>
                                      <p:cond delay="0"/>
                                    </p:stCondLst>
                                  </p:cTn>
                                  <p:tgtEl>
                                    <p:spTgt spid="4"/>
                                  </p:tgtEl>
                                  <p:attrNameLst>
                                    <p:attrName>style.visibility</p:attrName>
                                  </p:attrNameLst>
                                </p:cBhvr>
                                <p:to>
                                  <p:strVal val="visible"/>
                                </p:to>
                              </p:set>
                              <p:animEffect transition="in" filter="fade">
                                <p:cBhvr>
                                  <p:cTn id="103" dur="420"/>
                                  <p:tgtEl>
                                    <p:spTgt spid="4"/>
                                  </p:tgtEl>
                                </p:cBhvr>
                              </p:animEffect>
                            </p:childTnLst>
                          </p:cTn>
                        </p:par>
                        <p:par>
                          <p:cTn id="104" presetID="10" presetClass="entr" presetSubtype="0" fill="hold" grpId="0" nodeType="afterEffect">
                            <p:stCondLst>
                              <p:cond delay="130"/>
                            </p:stCondLst>
                            <p:childTnLst>
                              <p:set>
                                <p:cBhvr>
                                  <p:cTn id="105" dur="1" fill="hold">
                                    <p:stCondLst>
                                      <p:cond delay="0"/>
                                    </p:stCondLst>
                                  </p:cTn>
                                  <p:tgtEl>
                                    <p:spTgt spid="5"/>
                                  </p:tgtEl>
                                  <p:attrNameLst>
                                    <p:attrName>style.visibility</p:attrName>
                                  </p:attrNameLst>
                                </p:cBhvr>
                                <p:to>
                                  <p:strVal val="visible"/>
                                </p:to>
                              </p:set>
                              <p:animEffect transition="in" filter="fade">
                                <p:cBhvr>
                                  <p:cTn id="106" dur="420"/>
                                  <p:tgtEl>
                                    <p:spTgt spid="5"/>
                                  </p:tgtEl>
                                </p:cBhvr>
                              </p:animEffect>
                            </p:childTnLst>
                          </p:cTn>
                        </p:par>
                        <p:par>
                          <p:cTn id="107" presetID="10" presetClass="entr" presetSubtype="0" fill="hold" grpId="0" nodeType="afterEffect">
                            <p:stCondLst>
                              <p:cond delay="130"/>
                            </p:stCondLst>
                            <p:childTnLst>
                              <p:set>
                                <p:cBhvr>
                                  <p:cTn id="108" dur="1" fill="hold">
                                    <p:stCondLst>
                                      <p:cond delay="0"/>
                                    </p:stCondLst>
                                  </p:cTn>
                                  <p:tgtEl>
                                    <p:spTgt spid="6"/>
                                  </p:tgtEl>
                                  <p:attrNameLst>
                                    <p:attrName>style.visibility</p:attrName>
                                  </p:attrNameLst>
                                </p:cBhvr>
                                <p:to>
                                  <p:strVal val="visible"/>
                                </p:to>
                              </p:set>
                              <p:animEffect transition="in" filter="fade">
                                <p:cBhvr>
                                  <p:cTn id="109" dur="420"/>
                                  <p:tgtEl>
                                    <p:spTgt spid="6"/>
                                  </p:tgtEl>
                                </p:cBhvr>
                              </p:animEffect>
                            </p:childTnLst>
                          </p:cTn>
                        </p:par>
                        <p:par>
                          <p:cTn id="110" presetID="10" presetClass="entr" presetSubtype="0" fill="hold" grpId="0" nodeType="afterEffect">
                            <p:stCondLst>
                              <p:cond delay="260"/>
                            </p:stCondLst>
                            <p:childTnLst>
                              <p:set>
                                <p:cBhvr>
                                  <p:cTn id="111" dur="1" fill="hold">
                                    <p:stCondLst>
                                      <p:cond delay="0"/>
                                    </p:stCondLst>
                                  </p:cTn>
                                  <p:tgtEl>
                                    <p:spTgt spid="7"/>
                                  </p:tgtEl>
                                  <p:attrNameLst>
                                    <p:attrName>style.visibility</p:attrName>
                                  </p:attrNameLst>
                                </p:cBhvr>
                                <p:to>
                                  <p:strVal val="visible"/>
                                </p:to>
                              </p:set>
                              <p:animEffect transition="in" filter="fade">
                                <p:cBhvr>
                                  <p:cTn id="112" dur="420"/>
                                  <p:tgtEl>
                                    <p:spTgt spid="7"/>
                                  </p:tgtEl>
                                </p:cBhvr>
                              </p:animEffect>
                            </p:childTnLst>
                          </p:cTn>
                        </p:par>
                        <p:par>
                          <p:cTn id="113" presetID="10" presetClass="entr" presetSubtype="0" fill="hold" grpId="0" nodeType="afterEffect">
                            <p:stCondLst>
                              <p:cond delay="260"/>
                            </p:stCondLst>
                            <p:childTnLst>
                              <p:set>
                                <p:cBhvr>
                                  <p:cTn id="114" dur="1" fill="hold">
                                    <p:stCondLst>
                                      <p:cond delay="0"/>
                                    </p:stCondLst>
                                  </p:cTn>
                                  <p:tgtEl>
                                    <p:spTgt spid="8"/>
                                  </p:tgtEl>
                                  <p:attrNameLst>
                                    <p:attrName>style.visibility</p:attrName>
                                  </p:attrNameLst>
                                </p:cBhvr>
                                <p:to>
                                  <p:strVal val="visible"/>
                                </p:to>
                              </p:set>
                              <p:animEffect transition="in" filter="fade">
                                <p:cBhvr>
                                  <p:cTn id="115" dur="420"/>
                                  <p:tgtEl>
                                    <p:spTgt spid="8"/>
                                  </p:tgtEl>
                                </p:cBhvr>
                              </p:animEffect>
                            </p:childTnLst>
                          </p:cTn>
                        </p:par>
                        <p:par>
                          <p:cTn id="116" presetID="10" presetClass="entr" presetSubtype="0" fill="hold" grpId="0" nodeType="afterEffect">
                            <p:stCondLst>
                              <p:cond delay="390"/>
                            </p:stCondLst>
                            <p:childTnLst>
                              <p:set>
                                <p:cBhvr>
                                  <p:cTn id="117" dur="1" fill="hold">
                                    <p:stCondLst>
                                      <p:cond delay="0"/>
                                    </p:stCondLst>
                                  </p:cTn>
                                  <p:tgtEl>
                                    <p:spTgt spid="9"/>
                                  </p:tgtEl>
                                  <p:attrNameLst>
                                    <p:attrName>style.visibility</p:attrName>
                                  </p:attrNameLst>
                                </p:cBhvr>
                                <p:to>
                                  <p:strVal val="visible"/>
                                </p:to>
                              </p:set>
                              <p:animEffect transition="in" filter="fade">
                                <p:cBhvr>
                                  <p:cTn id="118" dur="420"/>
                                  <p:tgtEl>
                                    <p:spTgt spid="9"/>
                                  </p:tgtEl>
                                </p:cBhvr>
                              </p:animEffect>
                            </p:childTnLst>
                          </p:cTn>
                        </p:par>
                        <p:par>
                          <p:cTn id="119" presetID="10" presetClass="entr" presetSubtype="0" fill="hold" grpId="0" nodeType="afterEffect">
                            <p:stCondLst>
                              <p:cond delay="390"/>
                            </p:stCondLst>
                            <p:childTnLst>
                              <p:set>
                                <p:cBhvr>
                                  <p:cTn id="120" dur="1" fill="hold">
                                    <p:stCondLst>
                                      <p:cond delay="0"/>
                                    </p:stCondLst>
                                  </p:cTn>
                                  <p:tgtEl>
                                    <p:spTgt spid="10"/>
                                  </p:tgtEl>
                                  <p:attrNameLst>
                                    <p:attrName>style.visibility</p:attrName>
                                  </p:attrNameLst>
                                </p:cBhvr>
                                <p:to>
                                  <p:strVal val="visible"/>
                                </p:to>
                              </p:set>
                              <p:animEffect transition="in" filter="fade">
                                <p:cBhvr>
                                  <p:cTn id="121" dur="420"/>
                                  <p:tgtEl>
                                    <p:spTgt spid="10"/>
                                  </p:tgtEl>
                                </p:cBhvr>
                              </p:animEffect>
                            </p:childTnLst>
                          </p:cTn>
                        </p:par>
                        <p:par>
                          <p:cTn id="122" presetID="10" presetClass="entr" presetSubtype="0" fill="hold" grpId="0" nodeType="afterEffect">
                            <p:stCondLst>
                              <p:cond delay="520"/>
                            </p:stCondLst>
                            <p:childTnLst>
                              <p:set>
                                <p:cBhvr>
                                  <p:cTn id="123" dur="1" fill="hold">
                                    <p:stCondLst>
                                      <p:cond delay="0"/>
                                    </p:stCondLst>
                                  </p:cTn>
                                  <p:tgtEl>
                                    <p:spTgt spid="11"/>
                                  </p:tgtEl>
                                  <p:attrNameLst>
                                    <p:attrName>style.visibility</p:attrName>
                                  </p:attrNameLst>
                                </p:cBhvr>
                                <p:to>
                                  <p:strVal val="visible"/>
                                </p:to>
                              </p:set>
                              <p:animEffect transition="in" filter="fade">
                                <p:cBhvr>
                                  <p:cTn id="124" dur="420"/>
                                  <p:tgtEl>
                                    <p:spTgt spid="11"/>
                                  </p:tgtEl>
                                </p:cBhvr>
                              </p:animEffect>
                            </p:childTnLst>
                          </p:cTn>
                        </p:par>
                        <p:par>
                          <p:cTn id="125" presetID="10" presetClass="entr" presetSubtype="0" fill="hold" grpId="0" nodeType="afterEffect">
                            <p:stCondLst>
                              <p:cond delay="520"/>
                            </p:stCondLst>
                            <p:childTnLst>
                              <p:set>
                                <p:cBhvr>
                                  <p:cTn id="126" dur="1" fill="hold">
                                    <p:stCondLst>
                                      <p:cond delay="0"/>
                                    </p:stCondLst>
                                  </p:cTn>
                                  <p:tgtEl>
                                    <p:spTgt spid="12"/>
                                  </p:tgtEl>
                                  <p:attrNameLst>
                                    <p:attrName>style.visibility</p:attrName>
                                  </p:attrNameLst>
                                </p:cBhvr>
                                <p:to>
                                  <p:strVal val="visible"/>
                                </p:to>
                              </p:set>
                              <p:animEffect transition="in" filter="fade">
                                <p:cBhvr>
                                  <p:cTn id="127" dur="420"/>
                                  <p:tgtEl>
                                    <p:spTgt spid="12"/>
                                  </p:tgtEl>
                                </p:cBhvr>
                              </p:animEffect>
                            </p:childTnLst>
                          </p:cTn>
                        </p:par>
                        <p:par>
                          <p:cTn id="128" presetID="10" presetClass="entr" presetSubtype="0" fill="hold" grpId="0" nodeType="afterEffect">
                            <p:stCondLst>
                              <p:cond delay="650"/>
                            </p:stCondLst>
                            <p:childTnLst>
                              <p:set>
                                <p:cBhvr>
                                  <p:cTn id="129" dur="1" fill="hold">
                                    <p:stCondLst>
                                      <p:cond delay="0"/>
                                    </p:stCondLst>
                                  </p:cTn>
                                  <p:tgtEl>
                                    <p:spTgt spid="13"/>
                                  </p:tgtEl>
                                  <p:attrNameLst>
                                    <p:attrName>style.visibility</p:attrName>
                                  </p:attrNameLst>
                                </p:cBhvr>
                                <p:to>
                                  <p:strVal val="visible"/>
                                </p:to>
                              </p:set>
                              <p:animEffect transition="in" filter="fade">
                                <p:cBhvr>
                                  <p:cTn id="130" dur="420"/>
                                  <p:tgtEl>
                                    <p:spTgt spid="13"/>
                                  </p:tgtEl>
                                </p:cBhvr>
                              </p:animEffect>
                            </p:childTnLst>
                          </p:cTn>
                        </p:par>
                        <p:par>
                          <p:cTn id="131" presetID="10" presetClass="entr" presetSubtype="0" fill="hold" grpId="0" nodeType="afterEffect">
                            <p:stCondLst>
                              <p:cond delay="650"/>
                            </p:stCondLst>
                            <p:childTnLst>
                              <p:set>
                                <p:cBhvr>
                                  <p:cTn id="132" dur="1" fill="hold">
                                    <p:stCondLst>
                                      <p:cond delay="0"/>
                                    </p:stCondLst>
                                  </p:cTn>
                                  <p:tgtEl>
                                    <p:spTgt spid="14"/>
                                  </p:tgtEl>
                                  <p:attrNameLst>
                                    <p:attrName>style.visibility</p:attrName>
                                  </p:attrNameLst>
                                </p:cBhvr>
                                <p:to>
                                  <p:strVal val="visible"/>
                                </p:to>
                              </p:set>
                              <p:animEffect transition="in" filter="fade">
                                <p:cBhvr>
                                  <p:cTn id="133" dur="420"/>
                                  <p:tgtEl>
                                    <p:spTgt spid="14"/>
                                  </p:tgtEl>
                                </p:cBhvr>
                              </p:animEffect>
                            </p:childTnLst>
                          </p:cTn>
                        </p:par>
                        <p:par>
                          <p:cTn id="134" presetID="10" presetClass="entr" presetSubtype="0" fill="hold" grpId="0" nodeType="afterEffect">
                            <p:stCondLst>
                              <p:cond delay="780"/>
                            </p:stCondLst>
                            <p:childTnLst>
                              <p:set>
                                <p:cBhvr>
                                  <p:cTn id="135" dur="1" fill="hold">
                                    <p:stCondLst>
                                      <p:cond delay="0"/>
                                    </p:stCondLst>
                                  </p:cTn>
                                  <p:tgtEl>
                                    <p:spTgt spid="15"/>
                                  </p:tgtEl>
                                  <p:attrNameLst>
                                    <p:attrName>style.visibility</p:attrName>
                                  </p:attrNameLst>
                                </p:cBhvr>
                                <p:to>
                                  <p:strVal val="visible"/>
                                </p:to>
                              </p:set>
                              <p:animEffect transition="in" filter="fade">
                                <p:cBhvr>
                                  <p:cTn id="136" dur="420"/>
                                  <p:tgtEl>
                                    <p:spTgt spid="15"/>
                                  </p:tgtEl>
                                </p:cBhvr>
                              </p:animEffect>
                            </p:childTnLst>
                          </p:cTn>
                        </p:par>
                        <p:par>
                          <p:cTn id="137" presetID="10" presetClass="entr" presetSubtype="0" fill="hold" grpId="0" nodeType="afterEffect">
                            <p:stCondLst>
                              <p:cond delay="780"/>
                            </p:stCondLst>
                            <p:childTnLst>
                              <p:set>
                                <p:cBhvr>
                                  <p:cTn id="138" dur="1" fill="hold">
                                    <p:stCondLst>
                                      <p:cond delay="0"/>
                                    </p:stCondLst>
                                  </p:cTn>
                                  <p:tgtEl>
                                    <p:spTgt spid="16"/>
                                  </p:tgtEl>
                                  <p:attrNameLst>
                                    <p:attrName>style.visibility</p:attrName>
                                  </p:attrNameLst>
                                </p:cBhvr>
                                <p:to>
                                  <p:strVal val="visible"/>
                                </p:to>
                              </p:set>
                              <p:animEffect transition="in" filter="fade">
                                <p:cBhvr>
                                  <p:cTn id="139" dur="420"/>
                                  <p:tgtEl>
                                    <p:spTgt spid="16"/>
                                  </p:tgtEl>
                                </p:cBhvr>
                              </p:animEffect>
                            </p:childTnLst>
                          </p:cTn>
                        </p:par>
                        <p:par>
                          <p:cTn id="140" presetID="10" presetClass="entr" presetSubtype="0" fill="hold" grpId="0" nodeType="afterEffect">
                            <p:stCondLst>
                              <p:cond delay="910"/>
                            </p:stCondLst>
                            <p:childTnLst>
                              <p:set>
                                <p:cBhvr>
                                  <p:cTn id="141" dur="1" fill="hold">
                                    <p:stCondLst>
                                      <p:cond delay="0"/>
                                    </p:stCondLst>
                                  </p:cTn>
                                  <p:tgtEl>
                                    <p:spTgt spid="17"/>
                                  </p:tgtEl>
                                  <p:attrNameLst>
                                    <p:attrName>style.visibility</p:attrName>
                                  </p:attrNameLst>
                                </p:cBhvr>
                                <p:to>
                                  <p:strVal val="visible"/>
                                </p:to>
                              </p:set>
                              <p:animEffect transition="in" filter="fade">
                                <p:cBhvr>
                                  <p:cTn id="142" dur="420"/>
                                  <p:tgtEl>
                                    <p:spTgt spid="17"/>
                                  </p:tgtEl>
                                </p:cBhvr>
                              </p:animEffect>
                            </p:childTnLst>
                          </p:cTn>
                        </p:par>
                        <p:par>
                          <p:cTn id="143" presetID="10" presetClass="entr" presetSubtype="0" fill="hold" grpId="0" nodeType="afterEffect">
                            <p:stCondLst>
                              <p:cond delay="910"/>
                            </p:stCondLst>
                            <p:childTnLst>
                              <p:set>
                                <p:cBhvr>
                                  <p:cTn id="144" dur="1" fill="hold">
                                    <p:stCondLst>
                                      <p:cond delay="0"/>
                                    </p:stCondLst>
                                  </p:cTn>
                                  <p:tgtEl>
                                    <p:spTgt spid="18"/>
                                  </p:tgtEl>
                                  <p:attrNameLst>
                                    <p:attrName>style.visibility</p:attrName>
                                  </p:attrNameLst>
                                </p:cBhvr>
                                <p:to>
                                  <p:strVal val="visible"/>
                                </p:to>
                              </p:set>
                              <p:animEffect transition="in" filter="fade">
                                <p:cBhvr>
                                  <p:cTn id="145" dur="420"/>
                                  <p:tgtEl>
                                    <p:spTgt spid="18"/>
                                  </p:tgtEl>
                                </p:cBhvr>
                              </p:animEffect>
                            </p:childTnLst>
                          </p:cTn>
                        </p:par>
                        <p:par>
                          <p:cTn id="146" presetID="10" presetClass="entr" presetSubtype="0" fill="hold" grpId="0" nodeType="afterEffect">
                            <p:stCondLst>
                              <p:cond delay="1040"/>
                            </p:stCondLst>
                            <p:childTnLst>
                              <p:set>
                                <p:cBhvr>
                                  <p:cTn id="147" dur="1" fill="hold">
                                    <p:stCondLst>
                                      <p:cond delay="0"/>
                                    </p:stCondLst>
                                  </p:cTn>
                                  <p:tgtEl>
                                    <p:spTgt spid="19"/>
                                  </p:tgtEl>
                                  <p:attrNameLst>
                                    <p:attrName>style.visibility</p:attrName>
                                  </p:attrNameLst>
                                </p:cBhvr>
                                <p:to>
                                  <p:strVal val="visible"/>
                                </p:to>
                              </p:set>
                              <p:animEffect transition="in" filter="fade">
                                <p:cBhvr>
                                  <p:cTn id="148" dur="420"/>
                                  <p:tgtEl>
                                    <p:spTgt spid="19"/>
                                  </p:tgtEl>
                                </p:cBhvr>
                              </p:animEffect>
                            </p:childTnLst>
                          </p:cTn>
                        </p:par>
                        <p:par>
                          <p:cTn id="149" presetID="10" presetClass="entr" presetSubtype="0" fill="hold" grpId="0" nodeType="afterEffect">
                            <p:stCondLst>
                              <p:cond delay="1040"/>
                            </p:stCondLst>
                            <p:childTnLst>
                              <p:set>
                                <p:cBhvr>
                                  <p:cTn id="150" dur="1" fill="hold">
                                    <p:stCondLst>
                                      <p:cond delay="0"/>
                                    </p:stCondLst>
                                  </p:cTn>
                                  <p:tgtEl>
                                    <p:spTgt spid="20"/>
                                  </p:tgtEl>
                                  <p:attrNameLst>
                                    <p:attrName>style.visibility</p:attrName>
                                  </p:attrNameLst>
                                </p:cBhvr>
                                <p:to>
                                  <p:strVal val="visible"/>
                                </p:to>
                              </p:set>
                              <p:animEffect transition="in" filter="fade">
                                <p:cBhvr>
                                  <p:cTn id="151" dur="420"/>
                                  <p:tgtEl>
                                    <p:spTgt spid="20"/>
                                  </p:tgtEl>
                                </p:cBhvr>
                              </p:animEffect>
                            </p:childTnLst>
                          </p:cTn>
                        </p:par>
                      </p:childTnLst>
                    </p:cTn>
                  </p:par>
                </p:childTnLst>
              </p:cTn>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881360" cy="292608"/>
          </a:xfrm>
          <a:prstGeom prst="rect">
            <a:avLst/>
          </a:prstGeom>
          <a:noFill/>
        </p:spPr>
        <p:txBody>
          <a:bodyPr wrap="square" lIns="0" rIns="0" tIns="0" bIns="0" anchor="t">
            <a:spAutoFit/>
          </a:bodyPr>
          <a:lstStyle/>
          <a:p>
            <a:pPr algn="l">
              <a:lnSpc>
                <a:spcPct val="100000"/>
              </a:lnSpc>
              <a:spcBef>
                <a:spcPts val="0"/>
              </a:spcBef>
              <a:spcAft>
                <a:spcPts val="0"/>
              </a:spcAft>
            </a:pPr>
            <a:r>
              <a:rPr sz="1250" b="1" i="0">
                <a:solidFill>
                  <a:srgbClr val="B8863B"/>
                </a:solidFill>
                <a:latin typeface="Calibri"/>
              </a:rPr>
              <a:t>LA SOLUTION KAYÑIAWLU · CAS D'UTILISATION</a:t>
            </a:r>
          </a:p>
        </p:txBody>
      </p:sp>
      <p:sp>
        <p:nvSpPr>
          <p:cNvPr id="3" name="TextBox 2"/>
          <p:cNvSpPr txBox="1"/>
          <p:nvPr/>
        </p:nvSpPr>
        <p:spPr>
          <a:xfrm>
            <a:off x="640080" y="786384"/>
            <a:ext cx="10881360" cy="777240"/>
          </a:xfrm>
          <a:prstGeom prst="rect">
            <a:avLst/>
          </a:prstGeom>
          <a:noFill/>
        </p:spPr>
        <p:txBody>
          <a:bodyPr wrap="square" lIns="0" rIns="0" tIns="0" bIns="0" anchor="t">
            <a:spAutoFit/>
          </a:bodyPr>
          <a:lstStyle/>
          <a:p>
            <a:pPr algn="l">
              <a:lnSpc>
                <a:spcPct val="102000"/>
              </a:lnSpc>
              <a:spcBef>
                <a:spcPts val="0"/>
              </a:spcBef>
              <a:spcAft>
                <a:spcPts val="0"/>
              </a:spcAft>
            </a:pPr>
            <a:r>
              <a:rPr sz="2700" b="1" i="0">
                <a:solidFill>
                  <a:srgbClr val="0F5B4C"/>
                </a:solidFill>
                <a:latin typeface="Cambria"/>
              </a:rPr>
              <a:t>Employé et Superadmin</a:t>
            </a:r>
          </a:p>
        </p:txBody>
      </p:sp>
      <p:pic>
        <p:nvPicPr>
          <p:cNvPr id="4" name="Picture 3" descr="fig06_uc_nouveau_employe.png"/>
          <p:cNvPicPr>
            <a:picLocks noChangeAspect="1"/>
          </p:cNvPicPr>
          <p:nvPr/>
        </p:nvPicPr>
        <p:blipFill>
          <a:blip r:embed="rId2"/>
          <a:stretch>
            <a:fillRect/>
          </a:stretch>
        </p:blipFill>
        <p:spPr>
          <a:xfrm>
            <a:off x="1204319" y="1417320"/>
            <a:ext cx="4266480" cy="4297680"/>
          </a:xfrm>
          <a:prstGeom prst="rect">
            <a:avLst/>
          </a:prstGeom>
        </p:spPr>
      </p:pic>
      <p:sp>
        <p:nvSpPr>
          <p:cNvPr id="5" name="TextBox 4"/>
          <p:cNvSpPr txBox="1"/>
          <p:nvPr/>
        </p:nvSpPr>
        <p:spPr>
          <a:xfrm>
            <a:off x="640080" y="5806440"/>
            <a:ext cx="5394960" cy="320040"/>
          </a:xfrm>
          <a:prstGeom prst="rect">
            <a:avLst/>
          </a:prstGeom>
          <a:noFill/>
        </p:spPr>
        <p:txBody>
          <a:bodyPr wrap="square" lIns="0" rIns="0" tIns="0" bIns="0" anchor="t">
            <a:spAutoFit/>
          </a:bodyPr>
          <a:lstStyle/>
          <a:p>
            <a:pPr algn="ctr">
              <a:lnSpc>
                <a:spcPct val="100000"/>
              </a:lnSpc>
              <a:spcBef>
                <a:spcPts val="0"/>
              </a:spcBef>
              <a:spcAft>
                <a:spcPts val="0"/>
              </a:spcAft>
            </a:pPr>
            <a:r>
              <a:rPr sz="1300" b="1" i="0">
                <a:solidFill>
                  <a:srgbClr val="0F5B4C"/>
                </a:solidFill>
                <a:latin typeface="Calibri"/>
              </a:rPr>
              <a:t>Employé</a:t>
            </a:r>
          </a:p>
        </p:txBody>
      </p:sp>
      <p:pic>
        <p:nvPicPr>
          <p:cNvPr id="6" name="Picture 5" descr="fig07_uc_nouveau_superadmin.png"/>
          <p:cNvPicPr>
            <a:picLocks noChangeAspect="1"/>
          </p:cNvPicPr>
          <p:nvPr/>
        </p:nvPicPr>
        <p:blipFill>
          <a:blip r:embed="rId3"/>
          <a:stretch>
            <a:fillRect/>
          </a:stretch>
        </p:blipFill>
        <p:spPr>
          <a:xfrm>
            <a:off x="6172200" y="1417320"/>
            <a:ext cx="5394960" cy="3785773"/>
          </a:xfrm>
          <a:prstGeom prst="rect">
            <a:avLst/>
          </a:prstGeom>
        </p:spPr>
      </p:pic>
      <p:sp>
        <p:nvSpPr>
          <p:cNvPr id="7" name="TextBox 6"/>
          <p:cNvSpPr txBox="1"/>
          <p:nvPr/>
        </p:nvSpPr>
        <p:spPr>
          <a:xfrm>
            <a:off x="6172200" y="5806440"/>
            <a:ext cx="5394960" cy="320040"/>
          </a:xfrm>
          <a:prstGeom prst="rect">
            <a:avLst/>
          </a:prstGeom>
          <a:noFill/>
        </p:spPr>
        <p:txBody>
          <a:bodyPr wrap="square" lIns="0" rIns="0" tIns="0" bIns="0" anchor="t">
            <a:spAutoFit/>
          </a:bodyPr>
          <a:lstStyle/>
          <a:p>
            <a:pPr algn="ctr">
              <a:lnSpc>
                <a:spcPct val="100000"/>
              </a:lnSpc>
              <a:spcBef>
                <a:spcPts val="0"/>
              </a:spcBef>
              <a:spcAft>
                <a:spcPts val="0"/>
              </a:spcAft>
            </a:pPr>
            <a:r>
              <a:rPr sz="1300" b="1" i="0">
                <a:solidFill>
                  <a:srgbClr val="0F5B4C"/>
                </a:solidFill>
                <a:latin typeface="Calibri"/>
              </a:rPr>
              <a:t>Superadmin</a:t>
            </a:r>
          </a:p>
        </p:txBody>
      </p:sp>
      <p:sp>
        <p:nvSpPr>
          <p:cNvPr id="8" name="TextBox 7"/>
          <p:cNvSpPr txBox="1"/>
          <p:nvPr/>
        </p:nvSpPr>
        <p:spPr>
          <a:xfrm>
            <a:off x="640080" y="6519672"/>
            <a:ext cx="7315200" cy="274320"/>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68796F"/>
                </a:solidFill>
                <a:latin typeface="Calibri"/>
              </a:rPr>
              <a:t>Kayñiawlu — Soutenance de mémoire</a:t>
            </a:r>
          </a:p>
        </p:txBody>
      </p:sp>
      <p:sp>
        <p:nvSpPr>
          <p:cNvPr id="9" name="TextBox 8"/>
          <p:cNvSpPr txBox="1"/>
          <p:nvPr/>
        </p:nvSpPr>
        <p:spPr>
          <a:xfrm>
            <a:off x="10180015" y="6519672"/>
            <a:ext cx="1371600" cy="274320"/>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8796F"/>
                </a:solidFill>
                <a:latin typeface="Calibri"/>
              </a:rPr>
              <a:t>19</a:t>
            </a:r>
          </a:p>
        </p:txBody>
      </p:sp>
    </p:spTree>
  </p:cSld>
  <p:clrMapOvr>
    <a:masterClrMapping/>
  </p:clrMapOvr>
  <p:transition spd="med">
    <p:fade/>
  </p:transition>
  <p:timing>
    <p:tnLst>
      <p:par>
        <p:cTn id="113" dur="indefinite" restart="never" nodeType="tmRoot">
          <p:childTnLst>
            <p:seq concurrent="1" nextAc="seek">
              <p:cTn id="114" dur="indefinite" nodeType="mainSeq">
                <p:childTnLst>
                  <p:par>
                    <p:cTn id="115" fill="hold">
                      <p:stCondLst>
                        <p:cond delay="0"/>
                      </p:stCondLst>
                      <p:childTnLst>
                        <p:par>
                          <p:cTn id="101" presetID="10" presetClass="entr" presetSubtype="0" fill="hold" grpId="0" nodeType="afterEffect">
                            <p:stCondLst>
                              <p:cond delay="0"/>
                            </p:stCondLst>
                            <p:childTnLst>
                              <p:set>
                                <p:cBhvr>
                                  <p:cTn id="102" dur="1" fill="hold">
                                    <p:stCondLst>
                                      <p:cond delay="0"/>
                                    </p:stCondLst>
                                  </p:cTn>
                                  <p:tgtEl>
                                    <p:spTgt spid="4"/>
                                  </p:tgtEl>
                                  <p:attrNameLst>
                                    <p:attrName>style.visibility</p:attrName>
                                  </p:attrNameLst>
                                </p:cBhvr>
                                <p:to>
                                  <p:strVal val="visible"/>
                                </p:to>
                              </p:set>
                              <p:animEffect transition="in" filter="fade">
                                <p:cBhvr>
                                  <p:cTn id="103" dur="420"/>
                                  <p:tgtEl>
                                    <p:spTgt spid="4"/>
                                  </p:tgtEl>
                                </p:cBhvr>
                              </p:animEffect>
                            </p:childTnLst>
                          </p:cTn>
                        </p:par>
                        <p:par>
                          <p:cTn id="104" presetID="10" presetClass="entr" presetSubtype="0" fill="hold" grpId="0" nodeType="afterEffect">
                            <p:stCondLst>
                              <p:cond delay="0"/>
                            </p:stCondLst>
                            <p:childTnLst>
                              <p:set>
                                <p:cBhvr>
                                  <p:cTn id="105" dur="1" fill="hold">
                                    <p:stCondLst>
                                      <p:cond delay="0"/>
                                    </p:stCondLst>
                                  </p:cTn>
                                  <p:tgtEl>
                                    <p:spTgt spid="5"/>
                                  </p:tgtEl>
                                  <p:attrNameLst>
                                    <p:attrName>style.visibility</p:attrName>
                                  </p:attrNameLst>
                                </p:cBhvr>
                                <p:to>
                                  <p:strVal val="visible"/>
                                </p:to>
                              </p:set>
                              <p:animEffect transition="in" filter="fade">
                                <p:cBhvr>
                                  <p:cTn id="106" dur="420"/>
                                  <p:tgtEl>
                                    <p:spTgt spid="5"/>
                                  </p:tgtEl>
                                </p:cBhvr>
                              </p:animEffect>
                            </p:childTnLst>
                          </p:cTn>
                        </p:par>
                        <p:par>
                          <p:cTn id="107" presetID="10" presetClass="entr" presetSubtype="0" fill="hold" grpId="0" nodeType="afterEffect">
                            <p:stCondLst>
                              <p:cond delay="220"/>
                            </p:stCondLst>
                            <p:childTnLst>
                              <p:set>
                                <p:cBhvr>
                                  <p:cTn id="108" dur="1" fill="hold">
                                    <p:stCondLst>
                                      <p:cond delay="0"/>
                                    </p:stCondLst>
                                  </p:cTn>
                                  <p:tgtEl>
                                    <p:spTgt spid="6"/>
                                  </p:tgtEl>
                                  <p:attrNameLst>
                                    <p:attrName>style.visibility</p:attrName>
                                  </p:attrNameLst>
                                </p:cBhvr>
                                <p:to>
                                  <p:strVal val="visible"/>
                                </p:to>
                              </p:set>
                              <p:animEffect transition="in" filter="fade">
                                <p:cBhvr>
                                  <p:cTn id="109" dur="420"/>
                                  <p:tgtEl>
                                    <p:spTgt spid="6"/>
                                  </p:tgtEl>
                                </p:cBhvr>
                              </p:animEffect>
                            </p:childTnLst>
                          </p:cTn>
                        </p:par>
                        <p:par>
                          <p:cTn id="110" presetID="10" presetClass="entr" presetSubtype="0" fill="hold" grpId="0" nodeType="afterEffect">
                            <p:stCondLst>
                              <p:cond delay="220"/>
                            </p:stCondLst>
                            <p:childTnLst>
                              <p:set>
                                <p:cBhvr>
                                  <p:cTn id="111" dur="1" fill="hold">
                                    <p:stCondLst>
                                      <p:cond delay="0"/>
                                    </p:stCondLst>
                                  </p:cTn>
                                  <p:tgtEl>
                                    <p:spTgt spid="7"/>
                                  </p:tgtEl>
                                  <p:attrNameLst>
                                    <p:attrName>style.visibility</p:attrName>
                                  </p:attrNameLst>
                                </p:cBhvr>
                                <p:to>
                                  <p:strVal val="visible"/>
                                </p:to>
                              </p:set>
                              <p:animEffect transition="in" filter="fade">
                                <p:cBhvr>
                                  <p:cTn id="112" dur="420"/>
                                  <p:tgtEl>
                                    <p:spTgt spid="7"/>
                                  </p:tgtEl>
                                </p:cBhvr>
                              </p:animEffect>
                            </p:childTnLst>
                          </p:cTn>
                        </p:par>
                      </p:childTnLst>
                    </p:cTn>
                  </p:par>
                </p:childTnLst>
              </p:cTn>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881360" cy="292608"/>
          </a:xfrm>
          <a:prstGeom prst="rect">
            <a:avLst/>
          </a:prstGeom>
          <a:noFill/>
        </p:spPr>
        <p:txBody>
          <a:bodyPr wrap="square" lIns="0" rIns="0" tIns="0" bIns="0" anchor="t">
            <a:spAutoFit/>
          </a:bodyPr>
          <a:lstStyle/>
          <a:p>
            <a:pPr algn="l">
              <a:lnSpc>
                <a:spcPct val="100000"/>
              </a:lnSpc>
              <a:spcBef>
                <a:spcPts val="0"/>
              </a:spcBef>
              <a:spcAft>
                <a:spcPts val="0"/>
              </a:spcAft>
            </a:pPr>
            <a:r>
              <a:rPr sz="1250" b="1" i="0">
                <a:solidFill>
                  <a:srgbClr val="B8863B"/>
                </a:solidFill>
                <a:latin typeface="Calibri"/>
              </a:rPr>
              <a:t>LA SOLUTION KAYÑIAWLU</a:t>
            </a:r>
          </a:p>
        </p:txBody>
      </p:sp>
      <p:sp>
        <p:nvSpPr>
          <p:cNvPr id="3" name="TextBox 2"/>
          <p:cNvSpPr txBox="1"/>
          <p:nvPr/>
        </p:nvSpPr>
        <p:spPr>
          <a:xfrm>
            <a:off x="640080" y="786384"/>
            <a:ext cx="10881360" cy="777240"/>
          </a:xfrm>
          <a:prstGeom prst="rect">
            <a:avLst/>
          </a:prstGeom>
          <a:noFill/>
        </p:spPr>
        <p:txBody>
          <a:bodyPr wrap="square" lIns="0" rIns="0" tIns="0" bIns="0" anchor="t">
            <a:spAutoFit/>
          </a:bodyPr>
          <a:lstStyle/>
          <a:p>
            <a:pPr algn="l">
              <a:lnSpc>
                <a:spcPct val="102000"/>
              </a:lnSpc>
              <a:spcBef>
                <a:spcPts val="0"/>
              </a:spcBef>
              <a:spcAft>
                <a:spcPts val="0"/>
              </a:spcAft>
            </a:pPr>
            <a:r>
              <a:rPr sz="2700" b="1" i="0">
                <a:solidFill>
                  <a:srgbClr val="0F5B4C"/>
                </a:solidFill>
                <a:latin typeface="Cambria"/>
              </a:rPr>
              <a:t>Diagramme de classes du domaine</a:t>
            </a:r>
          </a:p>
        </p:txBody>
      </p:sp>
      <p:pic>
        <p:nvPicPr>
          <p:cNvPr id="4" name="Picture 3" descr="fig08_diagramme_classes.png"/>
          <p:cNvPicPr>
            <a:picLocks noChangeAspect="1"/>
          </p:cNvPicPr>
          <p:nvPr/>
        </p:nvPicPr>
        <p:blipFill>
          <a:blip r:embed="rId2"/>
          <a:stretch>
            <a:fillRect/>
          </a:stretch>
        </p:blipFill>
        <p:spPr>
          <a:xfrm>
            <a:off x="4247070" y="1280160"/>
            <a:ext cx="3667379" cy="4800600"/>
          </a:xfrm>
          <a:prstGeom prst="rect">
            <a:avLst/>
          </a:prstGeom>
        </p:spPr>
      </p:pic>
      <p:sp>
        <p:nvSpPr>
          <p:cNvPr id="5" name="TextBox 4"/>
          <p:cNvSpPr txBox="1"/>
          <p:nvPr/>
        </p:nvSpPr>
        <p:spPr>
          <a:xfrm>
            <a:off x="640080" y="6199632"/>
            <a:ext cx="10881360" cy="292608"/>
          </a:xfrm>
          <a:prstGeom prst="rect">
            <a:avLst/>
          </a:prstGeom>
          <a:noFill/>
        </p:spPr>
        <p:txBody>
          <a:bodyPr wrap="square" lIns="0" rIns="0" tIns="0" bIns="0" anchor="t">
            <a:spAutoFit/>
          </a:bodyPr>
          <a:lstStyle/>
          <a:p>
            <a:pPr algn="ctr">
              <a:lnSpc>
                <a:spcPct val="100000"/>
              </a:lnSpc>
              <a:spcBef>
                <a:spcPts val="0"/>
              </a:spcBef>
              <a:spcAft>
                <a:spcPts val="0"/>
              </a:spcAft>
            </a:pPr>
            <a:r>
              <a:rPr sz="1050" b="0" i="1">
                <a:solidFill>
                  <a:srgbClr val="68796F"/>
                </a:solidFill>
                <a:latin typeface="Calibri"/>
              </a:rPr>
              <a:t>11 entités · isolation multi-tenant par atelier · commande à plusieurs lignes d'articles (CommandeLigne)</a:t>
            </a:r>
          </a:p>
        </p:txBody>
      </p:sp>
      <p:sp>
        <p:nvSpPr>
          <p:cNvPr id="6" name="TextBox 5"/>
          <p:cNvSpPr txBox="1"/>
          <p:nvPr/>
        </p:nvSpPr>
        <p:spPr>
          <a:xfrm>
            <a:off x="640080" y="6519672"/>
            <a:ext cx="7315200" cy="274320"/>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68796F"/>
                </a:solidFill>
                <a:latin typeface="Calibri"/>
              </a:rPr>
              <a:t>Kayñiawlu — Soutenance de mémoire</a:t>
            </a:r>
          </a:p>
        </p:txBody>
      </p:sp>
      <p:sp>
        <p:nvSpPr>
          <p:cNvPr id="7" name="TextBox 6"/>
          <p:cNvSpPr txBox="1"/>
          <p:nvPr/>
        </p:nvSpPr>
        <p:spPr>
          <a:xfrm>
            <a:off x="10180015" y="6519672"/>
            <a:ext cx="1371600" cy="274320"/>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8796F"/>
                </a:solidFill>
                <a:latin typeface="Calibri"/>
              </a:rPr>
              <a:t>20</a:t>
            </a:r>
          </a:p>
        </p:txBody>
      </p:sp>
    </p:spTree>
  </p:cSld>
  <p:clrMapOvr>
    <a:masterClrMapping/>
  </p:clrMapOvr>
  <p:transition spd="med">
    <p:fade/>
  </p:transition>
  <p:timing>
    <p:tnLst>
      <p:par>
        <p:cTn id="107" dur="indefinite" restart="never" nodeType="tmRoot">
          <p:childTnLst>
            <p:seq concurrent="1" nextAc="seek">
              <p:cTn id="108" dur="indefinite" nodeType="mainSeq">
                <p:childTnLst>
                  <p:par>
                    <p:cTn id="109" fill="hold">
                      <p:stCondLst>
                        <p:cond delay="0"/>
                      </p:stCondLst>
                      <p:childTnLst>
                        <p:par>
                          <p:cTn id="101" presetID="10" presetClass="entr" presetSubtype="0" fill="hold" grpId="0" nodeType="afterEffect">
                            <p:stCondLst>
                              <p:cond delay="0"/>
                            </p:stCondLst>
                            <p:childTnLst>
                              <p:set>
                                <p:cBhvr>
                                  <p:cTn id="102" dur="1" fill="hold">
                                    <p:stCondLst>
                                      <p:cond delay="0"/>
                                    </p:stCondLst>
                                  </p:cTn>
                                  <p:tgtEl>
                                    <p:spTgt spid="4"/>
                                  </p:tgtEl>
                                  <p:attrNameLst>
                                    <p:attrName>style.visibility</p:attrName>
                                  </p:attrNameLst>
                                </p:cBhvr>
                                <p:to>
                                  <p:strVal val="visible"/>
                                </p:to>
                              </p:set>
                              <p:animEffect transition="in" filter="fade">
                                <p:cBhvr>
                                  <p:cTn id="103" dur="420"/>
                                  <p:tgtEl>
                                    <p:spTgt spid="4"/>
                                  </p:tgtEl>
                                </p:cBhvr>
                              </p:animEffect>
                            </p:childTnLst>
                          </p:cTn>
                        </p:par>
                        <p:par>
                          <p:cTn id="104" presetID="10" presetClass="entr" presetSubtype="0" fill="hold" grpId="0" nodeType="afterEffect">
                            <p:stCondLst>
                              <p:cond delay="160"/>
                            </p:stCondLst>
                            <p:childTnLst>
                              <p:set>
                                <p:cBhvr>
                                  <p:cTn id="105" dur="1" fill="hold">
                                    <p:stCondLst>
                                      <p:cond delay="0"/>
                                    </p:stCondLst>
                                  </p:cTn>
                                  <p:tgtEl>
                                    <p:spTgt spid="5"/>
                                  </p:tgtEl>
                                  <p:attrNameLst>
                                    <p:attrName>style.visibility</p:attrName>
                                  </p:attrNameLst>
                                </p:cBhvr>
                                <p:to>
                                  <p:strVal val="visible"/>
                                </p:to>
                              </p:set>
                              <p:animEffect transition="in" filter="fade">
                                <p:cBhvr>
                                  <p:cTn id="106" dur="420"/>
                                  <p:tgtEl>
                                    <p:spTgt spid="5"/>
                                  </p:tgtEl>
                                </p:cBhvr>
                              </p:animEffect>
                            </p:childTnLst>
                          </p:cTn>
                        </p:par>
                      </p:childTnLst>
                    </p:cTn>
                  </p:par>
                </p:childTnLst>
              </p:cTn>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F5B4C"/>
        </a:solidFill>
        <a:effectLst/>
      </p:bgPr>
    </p:bg>
    <p:spTree>
      <p:nvGrpSpPr>
        <p:cNvPr id="1" name=""/>
        <p:cNvGrpSpPr/>
        <p:nvPr/>
      </p:nvGrpSpPr>
      <p:grpSpPr/>
      <p:sp>
        <p:nvSpPr>
          <p:cNvPr id="2" name="TextBox 1"/>
          <p:cNvSpPr txBox="1"/>
          <p:nvPr/>
        </p:nvSpPr>
        <p:spPr>
          <a:xfrm>
            <a:off x="777240" y="502920"/>
            <a:ext cx="4114800" cy="1828800"/>
          </a:xfrm>
          <a:prstGeom prst="rect">
            <a:avLst/>
          </a:prstGeom>
          <a:noFill/>
        </p:spPr>
        <p:txBody>
          <a:bodyPr wrap="square" lIns="0" rIns="0" tIns="0" bIns="0" anchor="t">
            <a:spAutoFit/>
          </a:bodyPr>
          <a:lstStyle/>
          <a:p>
            <a:pPr algn="l">
              <a:lnSpc>
                <a:spcPct val="100000"/>
              </a:lnSpc>
              <a:spcBef>
                <a:spcPts val="0"/>
              </a:spcBef>
              <a:spcAft>
                <a:spcPts val="0"/>
              </a:spcAft>
            </a:pPr>
            <a:r>
              <a:rPr sz="14000" b="1" i="0">
                <a:solidFill>
                  <a:srgbClr val="1B7A66"/>
                </a:solidFill>
                <a:latin typeface="Cambria"/>
              </a:rPr>
              <a:t>04</a:t>
            </a:r>
          </a:p>
        </p:txBody>
      </p:sp>
      <p:sp>
        <p:nvSpPr>
          <p:cNvPr id="3" name="TextBox 2"/>
          <p:cNvSpPr txBox="1"/>
          <p:nvPr/>
        </p:nvSpPr>
        <p:spPr>
          <a:xfrm>
            <a:off x="868680" y="2880360"/>
            <a:ext cx="10058400" cy="1005840"/>
          </a:xfrm>
          <a:prstGeom prst="rect">
            <a:avLst/>
          </a:prstGeom>
          <a:noFill/>
        </p:spPr>
        <p:txBody>
          <a:bodyPr wrap="square" lIns="0" rIns="0" tIns="0" bIns="0" anchor="t">
            <a:spAutoFit/>
          </a:bodyPr>
          <a:lstStyle/>
          <a:p>
            <a:pPr algn="l">
              <a:lnSpc>
                <a:spcPct val="100000"/>
              </a:lnSpc>
              <a:spcBef>
                <a:spcPts val="0"/>
              </a:spcBef>
              <a:spcAft>
                <a:spcPts val="0"/>
              </a:spcAft>
            </a:pPr>
            <a:r>
              <a:rPr sz="4200" b="1" i="0">
                <a:solidFill>
                  <a:srgbClr val="FFFFFF"/>
                </a:solidFill>
                <a:latin typeface="Cambria"/>
              </a:rPr>
              <a:t>Réalisation</a:t>
            </a:r>
          </a:p>
        </p:txBody>
      </p:sp>
      <p:sp>
        <p:nvSpPr>
          <p:cNvPr id="4" name="TextBox 3"/>
          <p:cNvSpPr txBox="1"/>
          <p:nvPr/>
        </p:nvSpPr>
        <p:spPr>
          <a:xfrm>
            <a:off x="868680" y="3794760"/>
            <a:ext cx="10058400" cy="548640"/>
          </a:xfrm>
          <a:prstGeom prst="rect">
            <a:avLst/>
          </a:prstGeom>
          <a:noFill/>
        </p:spPr>
        <p:txBody>
          <a:bodyPr wrap="square" lIns="0" rIns="0" tIns="0" bIns="0" anchor="t">
            <a:spAutoFit/>
          </a:bodyPr>
          <a:lstStyle/>
          <a:p>
            <a:pPr algn="l">
              <a:lnSpc>
                <a:spcPct val="100000"/>
              </a:lnSpc>
              <a:spcBef>
                <a:spcPts val="0"/>
              </a:spcBef>
              <a:spcAft>
                <a:spcPts val="0"/>
              </a:spcAft>
            </a:pPr>
            <a:r>
              <a:rPr sz="1700" b="0" i="1">
                <a:solidFill>
                  <a:srgbClr val="E6BD7C"/>
                </a:solidFill>
                <a:latin typeface="Calibri"/>
              </a:rPr>
              <a:t>Stack technique, architecture et déploiement</a:t>
            </a:r>
          </a:p>
        </p:txBody>
      </p:sp>
      <p:sp>
        <p:nvSpPr>
          <p:cNvPr id="5" name="TextBox 4"/>
          <p:cNvSpPr txBox="1"/>
          <p:nvPr/>
        </p:nvSpPr>
        <p:spPr>
          <a:xfrm>
            <a:off x="868680" y="6263640"/>
            <a:ext cx="10058400" cy="320040"/>
          </a:xfrm>
          <a:prstGeom prst="rect">
            <a:avLst/>
          </a:prstGeom>
          <a:noFill/>
        </p:spPr>
        <p:txBody>
          <a:bodyPr wrap="square" lIns="0" rIns="0" tIns="0" bIns="0" anchor="t">
            <a:spAutoFit/>
          </a:bodyPr>
          <a:lstStyle/>
          <a:p>
            <a:pPr algn="l">
              <a:lnSpc>
                <a:spcPct val="100000"/>
              </a:lnSpc>
              <a:spcBef>
                <a:spcPts val="0"/>
              </a:spcBef>
              <a:spcAft>
                <a:spcPts val="0"/>
              </a:spcAft>
            </a:pPr>
            <a:r>
              <a:rPr sz="1050" b="0" i="0">
                <a:solidFill>
                  <a:srgbClr val="A7BCB1"/>
                </a:solidFill>
                <a:latin typeface="Calibri"/>
              </a:rPr>
              <a:t>Kayñiawlu · Soutenance de mémoire — Adorand Jacques Merveille DEMBI</a:t>
            </a:r>
          </a:p>
        </p:txBody>
      </p:sp>
    </p:spTree>
  </p:cSld>
  <p:clrMapOvr>
    <a:masterClrMapping/>
  </p:clrMapOvr>
  <p:transition spd="med">
    <p:fade/>
  </p:transition>
  <p:timing>
    <p:tnLst>
      <p:par>
        <p:cTn id="113" dur="indefinite" restart="never" nodeType="tmRoot">
          <p:childTnLst>
            <p:seq concurrent="1" nextAc="seek">
              <p:cTn id="114" dur="indefinite" nodeType="mainSeq">
                <p:childTnLst>
                  <p:par>
                    <p:cTn id="115" fill="hold">
                      <p:stCondLst>
                        <p:cond delay="0"/>
                      </p:stCondLst>
                      <p:childTnLst>
                        <p:par>
                          <p:cTn id="101" presetID="10" presetClass="entr" presetSubtype="0" fill="hold" grpId="0" nodeType="afterEffect">
                            <p:stCondLst>
                              <p:cond delay="0"/>
                            </p:stCondLst>
                            <p:childTnLst>
                              <p:set>
                                <p:cBhvr>
                                  <p:cTn id="102" dur="1" fill="hold">
                                    <p:stCondLst>
                                      <p:cond delay="0"/>
                                    </p:stCondLst>
                                  </p:cTn>
                                  <p:tgtEl>
                                    <p:spTgt spid="2"/>
                                  </p:tgtEl>
                                  <p:attrNameLst>
                                    <p:attrName>style.visibility</p:attrName>
                                  </p:attrNameLst>
                                </p:cBhvr>
                                <p:to>
                                  <p:strVal val="visible"/>
                                </p:to>
                              </p:set>
                              <p:animEffect transition="in" filter="fade">
                                <p:cBhvr>
                                  <p:cTn id="103" dur="500"/>
                                  <p:tgtEl>
                                    <p:spTgt spid="2"/>
                                  </p:tgtEl>
                                </p:cBhvr>
                              </p:animEffect>
                            </p:childTnLst>
                          </p:cTn>
                        </p:par>
                        <p:par>
                          <p:cTn id="104" presetID="10" presetClass="entr" presetSubtype="0" fill="hold" grpId="0" nodeType="afterEffect">
                            <p:stCondLst>
                              <p:cond delay="220"/>
                            </p:stCondLst>
                            <p:childTnLst>
                              <p:set>
                                <p:cBhvr>
                                  <p:cTn id="105" dur="1" fill="hold">
                                    <p:stCondLst>
                                      <p:cond delay="0"/>
                                    </p:stCondLst>
                                  </p:cTn>
                                  <p:tgtEl>
                                    <p:spTgt spid="3"/>
                                  </p:tgtEl>
                                  <p:attrNameLst>
                                    <p:attrName>style.visibility</p:attrName>
                                  </p:attrNameLst>
                                </p:cBhvr>
                                <p:to>
                                  <p:strVal val="visible"/>
                                </p:to>
                              </p:set>
                              <p:animEffect transition="in" filter="fade">
                                <p:cBhvr>
                                  <p:cTn id="106" dur="500"/>
                                  <p:tgtEl>
                                    <p:spTgt spid="3"/>
                                  </p:tgtEl>
                                </p:cBhvr>
                              </p:animEffect>
                            </p:childTnLst>
                          </p:cTn>
                        </p:par>
                        <p:par>
                          <p:cTn id="107" presetID="10" presetClass="entr" presetSubtype="0" fill="hold" grpId="0" nodeType="afterEffect">
                            <p:stCondLst>
                              <p:cond delay="440"/>
                            </p:stCondLst>
                            <p:childTnLst>
                              <p:set>
                                <p:cBhvr>
                                  <p:cTn id="108" dur="1" fill="hold">
                                    <p:stCondLst>
                                      <p:cond delay="0"/>
                                    </p:stCondLst>
                                  </p:cTn>
                                  <p:tgtEl>
                                    <p:spTgt spid="4"/>
                                  </p:tgtEl>
                                  <p:attrNameLst>
                                    <p:attrName>style.visibility</p:attrName>
                                  </p:attrNameLst>
                                </p:cBhvr>
                                <p:to>
                                  <p:strVal val="visible"/>
                                </p:to>
                              </p:set>
                              <p:animEffect transition="in" filter="fade">
                                <p:cBhvr>
                                  <p:cTn id="109" dur="500"/>
                                  <p:tgtEl>
                                    <p:spTgt spid="4"/>
                                  </p:tgtEl>
                                </p:cBhvr>
                              </p:animEffect>
                            </p:childTnLst>
                          </p:cTn>
                        </p:par>
                        <p:par>
                          <p:cTn id="110" presetID="10" presetClass="entr" presetSubtype="0" fill="hold" grpId="0" nodeType="afterEffect">
                            <p:stCondLst>
                              <p:cond delay="660"/>
                            </p:stCondLst>
                            <p:childTnLst>
                              <p:set>
                                <p:cBhvr>
                                  <p:cTn id="111" dur="1" fill="hold">
                                    <p:stCondLst>
                                      <p:cond delay="0"/>
                                    </p:stCondLst>
                                  </p:cTn>
                                  <p:tgtEl>
                                    <p:spTgt spid="5"/>
                                  </p:tgtEl>
                                  <p:attrNameLst>
                                    <p:attrName>style.visibility</p:attrName>
                                  </p:attrNameLst>
                                </p:cBhvr>
                                <p:to>
                                  <p:strVal val="visible"/>
                                </p:to>
                              </p:set>
                              <p:animEffect transition="in" filter="fade">
                                <p:cBhvr>
                                  <p:cTn id="112" dur="500"/>
                                  <p:tgtEl>
                                    <p:spTgt spid="5"/>
                                  </p:tgtEl>
                                </p:cBhvr>
                              </p:animEffect>
                            </p:childTnLst>
                          </p:cTn>
                        </p:par>
                      </p:childTnLst>
                    </p:cTn>
                  </p:par>
                </p:childTnLst>
              </p:cTn>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881360" cy="292608"/>
          </a:xfrm>
          <a:prstGeom prst="rect">
            <a:avLst/>
          </a:prstGeom>
          <a:noFill/>
        </p:spPr>
        <p:txBody>
          <a:bodyPr wrap="square" lIns="0" rIns="0" tIns="0" bIns="0" anchor="t">
            <a:spAutoFit/>
          </a:bodyPr>
          <a:lstStyle/>
          <a:p>
            <a:pPr algn="l">
              <a:lnSpc>
                <a:spcPct val="100000"/>
              </a:lnSpc>
              <a:spcBef>
                <a:spcPts val="0"/>
              </a:spcBef>
              <a:spcAft>
                <a:spcPts val="0"/>
              </a:spcAft>
            </a:pPr>
            <a:r>
              <a:rPr sz="1250" b="1" i="0">
                <a:solidFill>
                  <a:srgbClr val="B8863B"/>
                </a:solidFill>
                <a:latin typeface="Calibri"/>
              </a:rPr>
              <a:t>RÉALISATION</a:t>
            </a:r>
          </a:p>
        </p:txBody>
      </p:sp>
      <p:sp>
        <p:nvSpPr>
          <p:cNvPr id="3" name="TextBox 2"/>
          <p:cNvSpPr txBox="1"/>
          <p:nvPr/>
        </p:nvSpPr>
        <p:spPr>
          <a:xfrm>
            <a:off x="640080" y="786384"/>
            <a:ext cx="10881360" cy="777240"/>
          </a:xfrm>
          <a:prstGeom prst="rect">
            <a:avLst/>
          </a:prstGeom>
          <a:noFill/>
        </p:spPr>
        <p:txBody>
          <a:bodyPr wrap="square" lIns="0" rIns="0" tIns="0" bIns="0" anchor="t">
            <a:spAutoFit/>
          </a:bodyPr>
          <a:lstStyle/>
          <a:p>
            <a:pPr algn="l">
              <a:lnSpc>
                <a:spcPct val="102000"/>
              </a:lnSpc>
              <a:spcBef>
                <a:spcPts val="0"/>
              </a:spcBef>
              <a:spcAft>
                <a:spcPts val="0"/>
              </a:spcAft>
            </a:pPr>
            <a:r>
              <a:rPr sz="2700" b="1" i="0">
                <a:solidFill>
                  <a:srgbClr val="0F5B4C"/>
                </a:solidFill>
                <a:latin typeface="Cambria"/>
              </a:rPr>
              <a:t>Un stack technique pragmatique et éprouvé</a:t>
            </a:r>
          </a:p>
        </p:txBody>
      </p:sp>
      <p:sp>
        <p:nvSpPr>
          <p:cNvPr id="4" name="Rounded Rectangle 3"/>
          <p:cNvSpPr/>
          <p:nvPr/>
        </p:nvSpPr>
        <p:spPr>
          <a:xfrm>
            <a:off x="640080" y="1417320"/>
            <a:ext cx="2651760" cy="1508760"/>
          </a:xfrm>
          <a:prstGeom prst="roundRect">
            <a:avLst>
              <a:gd name="adj" fmla="val 8000"/>
            </a:avLst>
          </a:prstGeom>
          <a:solidFill>
            <a:srgbClr val="FFFFFF"/>
          </a:solidFill>
          <a:ln>
            <a:noFill/>
          </a:ln>
          <a:effectLst>
            <a:outerShdw blurRad="127000" dist="38100" dir="5400000" rotWithShape="0">
              <a:srgbClr val="1A10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aravel.png"/>
          <p:cNvPicPr>
            <a:picLocks noChangeAspect="1"/>
          </p:cNvPicPr>
          <p:nvPr/>
        </p:nvPicPr>
        <p:blipFill>
          <a:blip r:embed="rId2"/>
          <a:stretch>
            <a:fillRect/>
          </a:stretch>
        </p:blipFill>
        <p:spPr>
          <a:xfrm>
            <a:off x="2724911" y="1563624"/>
            <a:ext cx="420624" cy="420624"/>
          </a:xfrm>
          <a:prstGeom prst="rect">
            <a:avLst/>
          </a:prstGeom>
        </p:spPr>
      </p:pic>
      <p:sp>
        <p:nvSpPr>
          <p:cNvPr id="6" name="TextBox 5"/>
          <p:cNvSpPr txBox="1"/>
          <p:nvPr/>
        </p:nvSpPr>
        <p:spPr>
          <a:xfrm>
            <a:off x="822959" y="1600200"/>
            <a:ext cx="1810511" cy="685800"/>
          </a:xfrm>
          <a:prstGeom prst="rect">
            <a:avLst/>
          </a:prstGeom>
          <a:noFill/>
        </p:spPr>
        <p:txBody>
          <a:bodyPr wrap="square" lIns="0" rIns="0" tIns="0" bIns="0" anchor="t">
            <a:spAutoFit/>
          </a:bodyPr>
          <a:lstStyle/>
          <a:p>
            <a:pPr algn="l">
              <a:lnSpc>
                <a:spcPct val="105000"/>
              </a:lnSpc>
              <a:spcBef>
                <a:spcPts val="0"/>
              </a:spcBef>
              <a:spcAft>
                <a:spcPts val="0"/>
              </a:spcAft>
            </a:pPr>
            <a:r>
              <a:rPr sz="1250" b="1" i="0">
                <a:solidFill>
                  <a:srgbClr val="0F5B4C"/>
                </a:solidFill>
                <a:latin typeface="Calibri"/>
              </a:rPr>
              <a:t>Laravel + Sanctum</a:t>
            </a:r>
          </a:p>
        </p:txBody>
      </p:sp>
      <p:sp>
        <p:nvSpPr>
          <p:cNvPr id="7" name="TextBox 6"/>
          <p:cNvSpPr txBox="1"/>
          <p:nvPr/>
        </p:nvSpPr>
        <p:spPr>
          <a:xfrm>
            <a:off x="822959" y="2313432"/>
            <a:ext cx="2286000" cy="548640"/>
          </a:xfrm>
          <a:prstGeom prst="rect">
            <a:avLst/>
          </a:prstGeom>
          <a:noFill/>
        </p:spPr>
        <p:txBody>
          <a:bodyPr wrap="square" lIns="0" rIns="0" tIns="0" bIns="0" anchor="t">
            <a:spAutoFit/>
          </a:bodyPr>
          <a:lstStyle/>
          <a:p>
            <a:pPr algn="l">
              <a:lnSpc>
                <a:spcPct val="120000"/>
              </a:lnSpc>
              <a:spcBef>
                <a:spcPts val="0"/>
              </a:spcBef>
              <a:spcAft>
                <a:spcPts val="0"/>
              </a:spcAft>
            </a:pPr>
            <a:r>
              <a:rPr sz="1000" b="0" i="0">
                <a:solidFill>
                  <a:srgbClr val="68796F"/>
                </a:solidFill>
                <a:latin typeface="Calibri"/>
              </a:rPr>
              <a:t>Backend / API, authentification par jeton</a:t>
            </a:r>
          </a:p>
        </p:txBody>
      </p:sp>
      <p:sp>
        <p:nvSpPr>
          <p:cNvPr id="8" name="Rounded Rectangle 7"/>
          <p:cNvSpPr/>
          <p:nvPr/>
        </p:nvSpPr>
        <p:spPr>
          <a:xfrm>
            <a:off x="3438144" y="1417320"/>
            <a:ext cx="2651760" cy="1508760"/>
          </a:xfrm>
          <a:prstGeom prst="roundRect">
            <a:avLst>
              <a:gd name="adj" fmla="val 8000"/>
            </a:avLst>
          </a:prstGeom>
          <a:solidFill>
            <a:srgbClr val="FFFFFF"/>
          </a:solidFill>
          <a:ln>
            <a:noFill/>
          </a:ln>
          <a:effectLst>
            <a:outerShdw blurRad="127000" dist="38100" dir="5400000" rotWithShape="0">
              <a:srgbClr val="1A10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graphql.png"/>
          <p:cNvPicPr>
            <a:picLocks noChangeAspect="1"/>
          </p:cNvPicPr>
          <p:nvPr/>
        </p:nvPicPr>
        <p:blipFill>
          <a:blip r:embed="rId3"/>
          <a:stretch>
            <a:fillRect/>
          </a:stretch>
        </p:blipFill>
        <p:spPr>
          <a:xfrm>
            <a:off x="5522976" y="1563624"/>
            <a:ext cx="420624" cy="420624"/>
          </a:xfrm>
          <a:prstGeom prst="rect">
            <a:avLst/>
          </a:prstGeom>
        </p:spPr>
      </p:pic>
      <p:sp>
        <p:nvSpPr>
          <p:cNvPr id="10" name="TextBox 9"/>
          <p:cNvSpPr txBox="1"/>
          <p:nvPr/>
        </p:nvSpPr>
        <p:spPr>
          <a:xfrm>
            <a:off x="3621024" y="1600200"/>
            <a:ext cx="1810511" cy="685800"/>
          </a:xfrm>
          <a:prstGeom prst="rect">
            <a:avLst/>
          </a:prstGeom>
          <a:noFill/>
        </p:spPr>
        <p:txBody>
          <a:bodyPr wrap="square" lIns="0" rIns="0" tIns="0" bIns="0" anchor="t">
            <a:spAutoFit/>
          </a:bodyPr>
          <a:lstStyle/>
          <a:p>
            <a:pPr algn="l">
              <a:lnSpc>
                <a:spcPct val="105000"/>
              </a:lnSpc>
              <a:spcBef>
                <a:spcPts val="0"/>
              </a:spcBef>
              <a:spcAft>
                <a:spcPts val="0"/>
              </a:spcAft>
            </a:pPr>
            <a:r>
              <a:rPr sz="1250" b="1" i="0">
                <a:solidFill>
                  <a:srgbClr val="0F5B4C"/>
                </a:solidFill>
                <a:latin typeface="Calibri"/>
              </a:rPr>
              <a:t>GraphQL</a:t>
            </a:r>
          </a:p>
        </p:txBody>
      </p:sp>
      <p:sp>
        <p:nvSpPr>
          <p:cNvPr id="11" name="TextBox 10"/>
          <p:cNvSpPr txBox="1"/>
          <p:nvPr/>
        </p:nvSpPr>
        <p:spPr>
          <a:xfrm>
            <a:off x="3621024" y="2313432"/>
            <a:ext cx="2286000" cy="548640"/>
          </a:xfrm>
          <a:prstGeom prst="rect">
            <a:avLst/>
          </a:prstGeom>
          <a:noFill/>
        </p:spPr>
        <p:txBody>
          <a:bodyPr wrap="square" lIns="0" rIns="0" tIns="0" bIns="0" anchor="t">
            <a:spAutoFit/>
          </a:bodyPr>
          <a:lstStyle/>
          <a:p>
            <a:pPr algn="l">
              <a:lnSpc>
                <a:spcPct val="120000"/>
              </a:lnSpc>
              <a:spcBef>
                <a:spcPts val="0"/>
              </a:spcBef>
              <a:spcAft>
                <a:spcPts val="0"/>
              </a:spcAft>
            </a:pPr>
            <a:r>
              <a:rPr sz="1000" b="0" i="0">
                <a:solidFill>
                  <a:srgbClr val="68796F"/>
                </a:solidFill>
                <a:latin typeface="Calibri"/>
              </a:rPr>
              <a:t>Lecture des données (rebing/graphql-laravel)</a:t>
            </a:r>
          </a:p>
        </p:txBody>
      </p:sp>
      <p:sp>
        <p:nvSpPr>
          <p:cNvPr id="12" name="Rounded Rectangle 11"/>
          <p:cNvSpPr/>
          <p:nvPr/>
        </p:nvSpPr>
        <p:spPr>
          <a:xfrm>
            <a:off x="6236208" y="1417320"/>
            <a:ext cx="2651760" cy="1508760"/>
          </a:xfrm>
          <a:prstGeom prst="roundRect">
            <a:avLst>
              <a:gd name="adj" fmla="val 8000"/>
            </a:avLst>
          </a:prstGeom>
          <a:solidFill>
            <a:srgbClr val="FFFFFF"/>
          </a:solidFill>
          <a:ln>
            <a:noFill/>
          </a:ln>
          <a:effectLst>
            <a:outerShdw blurRad="127000" dist="38100" dir="5400000" rotWithShape="0">
              <a:srgbClr val="1A10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api.png"/>
          <p:cNvPicPr>
            <a:picLocks noChangeAspect="1"/>
          </p:cNvPicPr>
          <p:nvPr/>
        </p:nvPicPr>
        <p:blipFill>
          <a:blip r:embed="rId4"/>
          <a:stretch>
            <a:fillRect/>
          </a:stretch>
        </p:blipFill>
        <p:spPr>
          <a:xfrm>
            <a:off x="8321040" y="1563624"/>
            <a:ext cx="420624" cy="420624"/>
          </a:xfrm>
          <a:prstGeom prst="rect">
            <a:avLst/>
          </a:prstGeom>
        </p:spPr>
      </p:pic>
      <p:sp>
        <p:nvSpPr>
          <p:cNvPr id="14" name="TextBox 13"/>
          <p:cNvSpPr txBox="1"/>
          <p:nvPr/>
        </p:nvSpPr>
        <p:spPr>
          <a:xfrm>
            <a:off x="6419088" y="1600200"/>
            <a:ext cx="1810511" cy="685800"/>
          </a:xfrm>
          <a:prstGeom prst="rect">
            <a:avLst/>
          </a:prstGeom>
          <a:noFill/>
        </p:spPr>
        <p:txBody>
          <a:bodyPr wrap="square" lIns="0" rIns="0" tIns="0" bIns="0" anchor="t">
            <a:spAutoFit/>
          </a:bodyPr>
          <a:lstStyle/>
          <a:p>
            <a:pPr algn="l">
              <a:lnSpc>
                <a:spcPct val="105000"/>
              </a:lnSpc>
              <a:spcBef>
                <a:spcPts val="0"/>
              </a:spcBef>
              <a:spcAft>
                <a:spcPts val="0"/>
              </a:spcAft>
            </a:pPr>
            <a:r>
              <a:rPr sz="1250" b="1" i="0">
                <a:solidFill>
                  <a:srgbClr val="0F5B4C"/>
                </a:solidFill>
                <a:latin typeface="Calibri"/>
              </a:rPr>
              <a:t>REST · CRUDController</a:t>
            </a:r>
          </a:p>
        </p:txBody>
      </p:sp>
      <p:sp>
        <p:nvSpPr>
          <p:cNvPr id="15" name="TextBox 14"/>
          <p:cNvSpPr txBox="1"/>
          <p:nvPr/>
        </p:nvSpPr>
        <p:spPr>
          <a:xfrm>
            <a:off x="6419088" y="2313432"/>
            <a:ext cx="2286000" cy="548640"/>
          </a:xfrm>
          <a:prstGeom prst="rect">
            <a:avLst/>
          </a:prstGeom>
          <a:noFill/>
        </p:spPr>
        <p:txBody>
          <a:bodyPr wrap="square" lIns="0" rIns="0" tIns="0" bIns="0" anchor="t">
            <a:spAutoFit/>
          </a:bodyPr>
          <a:lstStyle/>
          <a:p>
            <a:pPr algn="l">
              <a:lnSpc>
                <a:spcPct val="120000"/>
              </a:lnSpc>
              <a:spcBef>
                <a:spcPts val="0"/>
              </a:spcBef>
              <a:spcAft>
                <a:spcPts val="0"/>
              </a:spcAft>
            </a:pPr>
            <a:r>
              <a:rPr sz="1000" b="0" i="0">
                <a:solidFill>
                  <a:srgbClr val="68796F"/>
                </a:solidFill>
                <a:latin typeface="Calibri"/>
              </a:rPr>
              <a:t>Écriture des données, contrôleurs à hooks</a:t>
            </a:r>
          </a:p>
        </p:txBody>
      </p:sp>
      <p:sp>
        <p:nvSpPr>
          <p:cNvPr id="16" name="Rounded Rectangle 15"/>
          <p:cNvSpPr/>
          <p:nvPr/>
        </p:nvSpPr>
        <p:spPr>
          <a:xfrm>
            <a:off x="9034272" y="1417320"/>
            <a:ext cx="2651760" cy="1508760"/>
          </a:xfrm>
          <a:prstGeom prst="roundRect">
            <a:avLst>
              <a:gd name="adj" fmla="val 8000"/>
            </a:avLst>
          </a:prstGeom>
          <a:solidFill>
            <a:srgbClr val="FFFFFF"/>
          </a:solidFill>
          <a:ln>
            <a:noFill/>
          </a:ln>
          <a:effectLst>
            <a:outerShdw blurRad="127000" dist="38100" dir="5400000" rotWithShape="0">
              <a:srgbClr val="1A10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postgresql.png"/>
          <p:cNvPicPr>
            <a:picLocks noChangeAspect="1"/>
          </p:cNvPicPr>
          <p:nvPr/>
        </p:nvPicPr>
        <p:blipFill>
          <a:blip r:embed="rId5"/>
          <a:stretch>
            <a:fillRect/>
          </a:stretch>
        </p:blipFill>
        <p:spPr>
          <a:xfrm>
            <a:off x="11119103" y="1563624"/>
            <a:ext cx="420624" cy="420624"/>
          </a:xfrm>
          <a:prstGeom prst="rect">
            <a:avLst/>
          </a:prstGeom>
        </p:spPr>
      </p:pic>
      <p:sp>
        <p:nvSpPr>
          <p:cNvPr id="18" name="TextBox 17"/>
          <p:cNvSpPr txBox="1"/>
          <p:nvPr/>
        </p:nvSpPr>
        <p:spPr>
          <a:xfrm>
            <a:off x="9217151" y="1600200"/>
            <a:ext cx="1810511" cy="685800"/>
          </a:xfrm>
          <a:prstGeom prst="rect">
            <a:avLst/>
          </a:prstGeom>
          <a:noFill/>
        </p:spPr>
        <p:txBody>
          <a:bodyPr wrap="square" lIns="0" rIns="0" tIns="0" bIns="0" anchor="t">
            <a:spAutoFit/>
          </a:bodyPr>
          <a:lstStyle/>
          <a:p>
            <a:pPr algn="l">
              <a:lnSpc>
                <a:spcPct val="105000"/>
              </a:lnSpc>
              <a:spcBef>
                <a:spcPts val="0"/>
              </a:spcBef>
              <a:spcAft>
                <a:spcPts val="0"/>
              </a:spcAft>
            </a:pPr>
            <a:r>
              <a:rPr sz="1250" b="1" i="0">
                <a:solidFill>
                  <a:srgbClr val="0F5B4C"/>
                </a:solidFill>
                <a:latin typeface="Calibri"/>
              </a:rPr>
              <a:t>PostgreSQL</a:t>
            </a:r>
          </a:p>
        </p:txBody>
      </p:sp>
      <p:sp>
        <p:nvSpPr>
          <p:cNvPr id="19" name="TextBox 18"/>
          <p:cNvSpPr txBox="1"/>
          <p:nvPr/>
        </p:nvSpPr>
        <p:spPr>
          <a:xfrm>
            <a:off x="9217151" y="2313432"/>
            <a:ext cx="2286000" cy="548640"/>
          </a:xfrm>
          <a:prstGeom prst="rect">
            <a:avLst/>
          </a:prstGeom>
          <a:noFill/>
        </p:spPr>
        <p:txBody>
          <a:bodyPr wrap="square" lIns="0" rIns="0" tIns="0" bIns="0" anchor="t">
            <a:spAutoFit/>
          </a:bodyPr>
          <a:lstStyle/>
          <a:p>
            <a:pPr algn="l">
              <a:lnSpc>
                <a:spcPct val="120000"/>
              </a:lnSpc>
              <a:spcBef>
                <a:spcPts val="0"/>
              </a:spcBef>
              <a:spcAft>
                <a:spcPts val="0"/>
              </a:spcAft>
            </a:pPr>
            <a:r>
              <a:rPr sz="1000" b="0" i="0">
                <a:solidFill>
                  <a:srgbClr val="68796F"/>
                </a:solidFill>
                <a:latin typeface="Calibri"/>
              </a:rPr>
              <a:t>Base de données relationnelle multi-tenant</a:t>
            </a:r>
          </a:p>
        </p:txBody>
      </p:sp>
      <p:sp>
        <p:nvSpPr>
          <p:cNvPr id="20" name="Rounded Rectangle 19"/>
          <p:cNvSpPr/>
          <p:nvPr/>
        </p:nvSpPr>
        <p:spPr>
          <a:xfrm>
            <a:off x="640080" y="3090672"/>
            <a:ext cx="2651760" cy="1508760"/>
          </a:xfrm>
          <a:prstGeom prst="roundRect">
            <a:avLst>
              <a:gd name="adj" fmla="val 8000"/>
            </a:avLst>
          </a:prstGeom>
          <a:solidFill>
            <a:srgbClr val="FFFFFF"/>
          </a:solidFill>
          <a:ln>
            <a:noFill/>
          </a:ln>
          <a:effectLst>
            <a:outerShdw blurRad="127000" dist="38100" dir="5400000" rotWithShape="0">
              <a:srgbClr val="1A10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nextjs.png"/>
          <p:cNvPicPr>
            <a:picLocks noChangeAspect="1"/>
          </p:cNvPicPr>
          <p:nvPr/>
        </p:nvPicPr>
        <p:blipFill>
          <a:blip r:embed="rId6"/>
          <a:stretch>
            <a:fillRect/>
          </a:stretch>
        </p:blipFill>
        <p:spPr>
          <a:xfrm>
            <a:off x="2724911" y="3236976"/>
            <a:ext cx="420624" cy="420624"/>
          </a:xfrm>
          <a:prstGeom prst="rect">
            <a:avLst/>
          </a:prstGeom>
        </p:spPr>
      </p:pic>
      <p:sp>
        <p:nvSpPr>
          <p:cNvPr id="22" name="TextBox 21"/>
          <p:cNvSpPr txBox="1"/>
          <p:nvPr/>
        </p:nvSpPr>
        <p:spPr>
          <a:xfrm>
            <a:off x="822959" y="3273552"/>
            <a:ext cx="1810511" cy="685800"/>
          </a:xfrm>
          <a:prstGeom prst="rect">
            <a:avLst/>
          </a:prstGeom>
          <a:noFill/>
        </p:spPr>
        <p:txBody>
          <a:bodyPr wrap="square" lIns="0" rIns="0" tIns="0" bIns="0" anchor="t">
            <a:spAutoFit/>
          </a:bodyPr>
          <a:lstStyle/>
          <a:p>
            <a:pPr algn="l">
              <a:lnSpc>
                <a:spcPct val="105000"/>
              </a:lnSpc>
              <a:spcBef>
                <a:spcPts val="0"/>
              </a:spcBef>
              <a:spcAft>
                <a:spcPts val="0"/>
              </a:spcAft>
            </a:pPr>
            <a:r>
              <a:rPr sz="1250" b="1" i="0">
                <a:solidFill>
                  <a:srgbClr val="0F5B4C"/>
                </a:solidFill>
                <a:latin typeface="Calibri"/>
              </a:rPr>
              <a:t>Next.js 16 + Tailwind 4</a:t>
            </a:r>
          </a:p>
        </p:txBody>
      </p:sp>
      <p:sp>
        <p:nvSpPr>
          <p:cNvPr id="23" name="TextBox 22"/>
          <p:cNvSpPr txBox="1"/>
          <p:nvPr/>
        </p:nvSpPr>
        <p:spPr>
          <a:xfrm>
            <a:off x="822959" y="3986783"/>
            <a:ext cx="2286000" cy="548640"/>
          </a:xfrm>
          <a:prstGeom prst="rect">
            <a:avLst/>
          </a:prstGeom>
          <a:noFill/>
        </p:spPr>
        <p:txBody>
          <a:bodyPr wrap="square" lIns="0" rIns="0" tIns="0" bIns="0" anchor="t">
            <a:spAutoFit/>
          </a:bodyPr>
          <a:lstStyle/>
          <a:p>
            <a:pPr algn="l">
              <a:lnSpc>
                <a:spcPct val="120000"/>
              </a:lnSpc>
              <a:spcBef>
                <a:spcPts val="0"/>
              </a:spcBef>
              <a:spcAft>
                <a:spcPts val="0"/>
              </a:spcAft>
            </a:pPr>
            <a:r>
              <a:rPr sz="1000" b="0" i="0">
                <a:solidFill>
                  <a:srgbClr val="68796F"/>
                </a:solidFill>
                <a:latin typeface="Calibri"/>
              </a:rPr>
              <a:t>Backoffice web</a:t>
            </a:r>
          </a:p>
        </p:txBody>
      </p:sp>
      <p:sp>
        <p:nvSpPr>
          <p:cNvPr id="24" name="Rounded Rectangle 23"/>
          <p:cNvSpPr/>
          <p:nvPr/>
        </p:nvSpPr>
        <p:spPr>
          <a:xfrm>
            <a:off x="3438144" y="3090672"/>
            <a:ext cx="2651760" cy="1508760"/>
          </a:xfrm>
          <a:prstGeom prst="roundRect">
            <a:avLst>
              <a:gd name="adj" fmla="val 8000"/>
            </a:avLst>
          </a:prstGeom>
          <a:solidFill>
            <a:srgbClr val="FFFFFF"/>
          </a:solidFill>
          <a:ln>
            <a:noFill/>
          </a:ln>
          <a:effectLst>
            <a:outerShdw blurRad="127000" dist="38100" dir="5400000" rotWithShape="0">
              <a:srgbClr val="1A10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flutter.png"/>
          <p:cNvPicPr>
            <a:picLocks noChangeAspect="1"/>
          </p:cNvPicPr>
          <p:nvPr/>
        </p:nvPicPr>
        <p:blipFill>
          <a:blip r:embed="rId7"/>
          <a:stretch>
            <a:fillRect/>
          </a:stretch>
        </p:blipFill>
        <p:spPr>
          <a:xfrm>
            <a:off x="5522976" y="3236976"/>
            <a:ext cx="420624" cy="420624"/>
          </a:xfrm>
          <a:prstGeom prst="rect">
            <a:avLst/>
          </a:prstGeom>
        </p:spPr>
      </p:pic>
      <p:sp>
        <p:nvSpPr>
          <p:cNvPr id="26" name="TextBox 25"/>
          <p:cNvSpPr txBox="1"/>
          <p:nvPr/>
        </p:nvSpPr>
        <p:spPr>
          <a:xfrm>
            <a:off x="3621024" y="3273552"/>
            <a:ext cx="1810511" cy="685800"/>
          </a:xfrm>
          <a:prstGeom prst="rect">
            <a:avLst/>
          </a:prstGeom>
          <a:noFill/>
        </p:spPr>
        <p:txBody>
          <a:bodyPr wrap="square" lIns="0" rIns="0" tIns="0" bIns="0" anchor="t">
            <a:spAutoFit/>
          </a:bodyPr>
          <a:lstStyle/>
          <a:p>
            <a:pPr algn="l">
              <a:lnSpc>
                <a:spcPct val="105000"/>
              </a:lnSpc>
              <a:spcBef>
                <a:spcPts val="0"/>
              </a:spcBef>
              <a:spcAft>
                <a:spcPts val="0"/>
              </a:spcAft>
            </a:pPr>
            <a:r>
              <a:rPr sz="1250" b="1" i="0">
                <a:solidFill>
                  <a:srgbClr val="0F5B4C"/>
                </a:solidFill>
                <a:latin typeface="Calibri"/>
              </a:rPr>
              <a:t>Flutter 3.41 (Dart 3.11)</a:t>
            </a:r>
          </a:p>
        </p:txBody>
      </p:sp>
      <p:sp>
        <p:nvSpPr>
          <p:cNvPr id="27" name="TextBox 26"/>
          <p:cNvSpPr txBox="1"/>
          <p:nvPr/>
        </p:nvSpPr>
        <p:spPr>
          <a:xfrm>
            <a:off x="3621024" y="3986783"/>
            <a:ext cx="2286000" cy="548640"/>
          </a:xfrm>
          <a:prstGeom prst="rect">
            <a:avLst/>
          </a:prstGeom>
          <a:noFill/>
        </p:spPr>
        <p:txBody>
          <a:bodyPr wrap="square" lIns="0" rIns="0" tIns="0" bIns="0" anchor="t">
            <a:spAutoFit/>
          </a:bodyPr>
          <a:lstStyle/>
          <a:p>
            <a:pPr algn="l">
              <a:lnSpc>
                <a:spcPct val="120000"/>
              </a:lnSpc>
              <a:spcBef>
                <a:spcPts val="0"/>
              </a:spcBef>
              <a:spcAft>
                <a:spcPts val="0"/>
              </a:spcAft>
            </a:pPr>
            <a:r>
              <a:rPr sz="1000" b="0" i="0">
                <a:solidFill>
                  <a:srgbClr val="68796F"/>
                </a:solidFill>
                <a:latin typeface="Calibri"/>
              </a:rPr>
              <a:t>Application mobile iOS et Android</a:t>
            </a:r>
          </a:p>
        </p:txBody>
      </p:sp>
      <p:sp>
        <p:nvSpPr>
          <p:cNvPr id="28" name="Rounded Rectangle 27"/>
          <p:cNvSpPr/>
          <p:nvPr/>
        </p:nvSpPr>
        <p:spPr>
          <a:xfrm>
            <a:off x="6236208" y="3090672"/>
            <a:ext cx="2651760" cy="1508760"/>
          </a:xfrm>
          <a:prstGeom prst="roundRect">
            <a:avLst>
              <a:gd name="adj" fmla="val 8000"/>
            </a:avLst>
          </a:prstGeom>
          <a:solidFill>
            <a:srgbClr val="FFFFFF"/>
          </a:solidFill>
          <a:ln>
            <a:noFill/>
          </a:ln>
          <a:effectLst>
            <a:outerShdw blurRad="127000" dist="38100" dir="5400000" rotWithShape="0">
              <a:srgbClr val="1A10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docker.png"/>
          <p:cNvPicPr>
            <a:picLocks noChangeAspect="1"/>
          </p:cNvPicPr>
          <p:nvPr/>
        </p:nvPicPr>
        <p:blipFill>
          <a:blip r:embed="rId8"/>
          <a:stretch>
            <a:fillRect/>
          </a:stretch>
        </p:blipFill>
        <p:spPr>
          <a:xfrm>
            <a:off x="8321040" y="3236976"/>
            <a:ext cx="420624" cy="420624"/>
          </a:xfrm>
          <a:prstGeom prst="rect">
            <a:avLst/>
          </a:prstGeom>
        </p:spPr>
      </p:pic>
      <p:sp>
        <p:nvSpPr>
          <p:cNvPr id="30" name="TextBox 29"/>
          <p:cNvSpPr txBox="1"/>
          <p:nvPr/>
        </p:nvSpPr>
        <p:spPr>
          <a:xfrm>
            <a:off x="6419088" y="3273552"/>
            <a:ext cx="1810511" cy="685800"/>
          </a:xfrm>
          <a:prstGeom prst="rect">
            <a:avLst/>
          </a:prstGeom>
          <a:noFill/>
        </p:spPr>
        <p:txBody>
          <a:bodyPr wrap="square" lIns="0" rIns="0" tIns="0" bIns="0" anchor="t">
            <a:spAutoFit/>
          </a:bodyPr>
          <a:lstStyle/>
          <a:p>
            <a:pPr algn="l">
              <a:lnSpc>
                <a:spcPct val="105000"/>
              </a:lnSpc>
              <a:spcBef>
                <a:spcPts val="0"/>
              </a:spcBef>
              <a:spcAft>
                <a:spcPts val="0"/>
              </a:spcAft>
            </a:pPr>
            <a:r>
              <a:rPr sz="1250" b="1" i="0">
                <a:solidFill>
                  <a:srgbClr val="0F5B4C"/>
                </a:solidFill>
                <a:latin typeface="Calibri"/>
              </a:rPr>
              <a:t>Docker Compose</a:t>
            </a:r>
          </a:p>
        </p:txBody>
      </p:sp>
      <p:sp>
        <p:nvSpPr>
          <p:cNvPr id="31" name="TextBox 30"/>
          <p:cNvSpPr txBox="1"/>
          <p:nvPr/>
        </p:nvSpPr>
        <p:spPr>
          <a:xfrm>
            <a:off x="6419088" y="3986783"/>
            <a:ext cx="2286000" cy="548640"/>
          </a:xfrm>
          <a:prstGeom prst="rect">
            <a:avLst/>
          </a:prstGeom>
          <a:noFill/>
        </p:spPr>
        <p:txBody>
          <a:bodyPr wrap="square" lIns="0" rIns="0" tIns="0" bIns="0" anchor="t">
            <a:spAutoFit/>
          </a:bodyPr>
          <a:lstStyle/>
          <a:p>
            <a:pPr algn="l">
              <a:lnSpc>
                <a:spcPct val="120000"/>
              </a:lnSpc>
              <a:spcBef>
                <a:spcPts val="0"/>
              </a:spcBef>
              <a:spcAft>
                <a:spcPts val="0"/>
              </a:spcAft>
            </a:pPr>
            <a:r>
              <a:rPr sz="1000" b="0" i="0">
                <a:solidFill>
                  <a:srgbClr val="68796F"/>
                </a:solidFill>
                <a:latin typeface="Calibri"/>
              </a:rPr>
              <a:t>Conteneurisation et déploiement reproductible</a:t>
            </a:r>
          </a:p>
        </p:txBody>
      </p:sp>
      <p:sp>
        <p:nvSpPr>
          <p:cNvPr id="32" name="Rounded Rectangle 31"/>
          <p:cNvSpPr/>
          <p:nvPr/>
        </p:nvSpPr>
        <p:spPr>
          <a:xfrm>
            <a:off x="9034272" y="3090672"/>
            <a:ext cx="2651760" cy="1508760"/>
          </a:xfrm>
          <a:prstGeom prst="roundRect">
            <a:avLst>
              <a:gd name="adj" fmla="val 8000"/>
            </a:avLst>
          </a:prstGeom>
          <a:solidFill>
            <a:srgbClr val="FFFFFF"/>
          </a:solidFill>
          <a:ln>
            <a:noFill/>
          </a:ln>
          <a:effectLst>
            <a:outerShdw blurRad="127000" dist="38100" dir="5400000" rotWithShape="0">
              <a:srgbClr val="1A10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sentry.png"/>
          <p:cNvPicPr>
            <a:picLocks noChangeAspect="1"/>
          </p:cNvPicPr>
          <p:nvPr/>
        </p:nvPicPr>
        <p:blipFill>
          <a:blip r:embed="rId9"/>
          <a:stretch>
            <a:fillRect/>
          </a:stretch>
        </p:blipFill>
        <p:spPr>
          <a:xfrm>
            <a:off x="11119103" y="3236976"/>
            <a:ext cx="420624" cy="420624"/>
          </a:xfrm>
          <a:prstGeom prst="rect">
            <a:avLst/>
          </a:prstGeom>
        </p:spPr>
      </p:pic>
      <p:sp>
        <p:nvSpPr>
          <p:cNvPr id="34" name="TextBox 33"/>
          <p:cNvSpPr txBox="1"/>
          <p:nvPr/>
        </p:nvSpPr>
        <p:spPr>
          <a:xfrm>
            <a:off x="9217151" y="3273552"/>
            <a:ext cx="1810511" cy="685800"/>
          </a:xfrm>
          <a:prstGeom prst="rect">
            <a:avLst/>
          </a:prstGeom>
          <a:noFill/>
        </p:spPr>
        <p:txBody>
          <a:bodyPr wrap="square" lIns="0" rIns="0" tIns="0" bIns="0" anchor="t">
            <a:spAutoFit/>
          </a:bodyPr>
          <a:lstStyle/>
          <a:p>
            <a:pPr algn="l">
              <a:lnSpc>
                <a:spcPct val="105000"/>
              </a:lnSpc>
              <a:spcBef>
                <a:spcPts val="0"/>
              </a:spcBef>
              <a:spcAft>
                <a:spcPts val="0"/>
              </a:spcAft>
            </a:pPr>
            <a:r>
              <a:rPr sz="1250" b="1" i="0">
                <a:solidFill>
                  <a:srgbClr val="0F5B4C"/>
                </a:solidFill>
                <a:latin typeface="Calibri"/>
              </a:rPr>
              <a:t>Sentry</a:t>
            </a:r>
          </a:p>
        </p:txBody>
      </p:sp>
      <p:sp>
        <p:nvSpPr>
          <p:cNvPr id="35" name="TextBox 34"/>
          <p:cNvSpPr txBox="1"/>
          <p:nvPr/>
        </p:nvSpPr>
        <p:spPr>
          <a:xfrm>
            <a:off x="9217151" y="3986783"/>
            <a:ext cx="2286000" cy="548640"/>
          </a:xfrm>
          <a:prstGeom prst="rect">
            <a:avLst/>
          </a:prstGeom>
          <a:noFill/>
        </p:spPr>
        <p:txBody>
          <a:bodyPr wrap="square" lIns="0" rIns="0" tIns="0" bIns="0" anchor="t">
            <a:spAutoFit/>
          </a:bodyPr>
          <a:lstStyle/>
          <a:p>
            <a:pPr algn="l">
              <a:lnSpc>
                <a:spcPct val="120000"/>
              </a:lnSpc>
              <a:spcBef>
                <a:spcPts val="0"/>
              </a:spcBef>
              <a:spcAft>
                <a:spcPts val="0"/>
              </a:spcAft>
            </a:pPr>
            <a:r>
              <a:rPr sz="1000" b="0" i="0">
                <a:solidFill>
                  <a:srgbClr val="68796F"/>
                </a:solidFill>
                <a:latin typeface="Calibri"/>
              </a:rPr>
              <a:t>Supervision applicative des 4 applications</a:t>
            </a:r>
          </a:p>
        </p:txBody>
      </p:sp>
      <p:sp>
        <p:nvSpPr>
          <p:cNvPr id="36" name="TextBox 35"/>
          <p:cNvSpPr txBox="1"/>
          <p:nvPr/>
        </p:nvSpPr>
        <p:spPr>
          <a:xfrm>
            <a:off x="640080" y="6519672"/>
            <a:ext cx="7315200" cy="274320"/>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68796F"/>
                </a:solidFill>
                <a:latin typeface="Calibri"/>
              </a:rPr>
              <a:t>Kayñiawlu — Soutenance de mémoire</a:t>
            </a:r>
          </a:p>
        </p:txBody>
      </p:sp>
      <p:sp>
        <p:nvSpPr>
          <p:cNvPr id="37" name="TextBox 36"/>
          <p:cNvSpPr txBox="1"/>
          <p:nvPr/>
        </p:nvSpPr>
        <p:spPr>
          <a:xfrm>
            <a:off x="10180015" y="6519672"/>
            <a:ext cx="1371600" cy="274320"/>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8796F"/>
                </a:solidFill>
                <a:latin typeface="Calibri"/>
              </a:rPr>
              <a:t>22</a:t>
            </a:r>
          </a:p>
        </p:txBody>
      </p:sp>
    </p:spTree>
  </p:cSld>
  <p:clrMapOvr>
    <a:masterClrMapping/>
  </p:clrMapOvr>
  <p:transition spd="med">
    <p:fade/>
  </p:transition>
  <p:timing>
    <p:tnLst>
      <p:par>
        <p:cTn id="197" dur="indefinite" restart="never" nodeType="tmRoot">
          <p:childTnLst>
            <p:seq concurrent="1" nextAc="seek">
              <p:cTn id="198" dur="indefinite" nodeType="mainSeq">
                <p:childTnLst>
                  <p:par>
                    <p:cTn id="199" fill="hold">
                      <p:stCondLst>
                        <p:cond delay="0"/>
                      </p:stCondLst>
                      <p:childTnLst>
                        <p:par>
                          <p:cTn id="101" presetID="10" presetClass="entr" presetSubtype="0" fill="hold" grpId="0" nodeType="afterEffect">
                            <p:stCondLst>
                              <p:cond delay="0"/>
                            </p:stCondLst>
                            <p:childTnLst>
                              <p:set>
                                <p:cBhvr>
                                  <p:cTn id="102" dur="1" fill="hold">
                                    <p:stCondLst>
                                      <p:cond delay="0"/>
                                    </p:stCondLst>
                                  </p:cTn>
                                  <p:tgtEl>
                                    <p:spTgt spid="4"/>
                                  </p:tgtEl>
                                  <p:attrNameLst>
                                    <p:attrName>style.visibility</p:attrName>
                                  </p:attrNameLst>
                                </p:cBhvr>
                                <p:to>
                                  <p:strVal val="visible"/>
                                </p:to>
                              </p:set>
                              <p:animEffect transition="in" filter="fade">
                                <p:cBhvr>
                                  <p:cTn id="103" dur="420"/>
                                  <p:tgtEl>
                                    <p:spTgt spid="4"/>
                                  </p:tgtEl>
                                </p:cBhvr>
                              </p:animEffect>
                            </p:childTnLst>
                          </p:cTn>
                        </p:par>
                        <p:par>
                          <p:cTn id="104" presetID="10" presetClass="entr" presetSubtype="0" fill="hold" grpId="0" nodeType="afterEffect">
                            <p:stCondLst>
                              <p:cond delay="0"/>
                            </p:stCondLst>
                            <p:childTnLst>
                              <p:set>
                                <p:cBhvr>
                                  <p:cTn id="105" dur="1" fill="hold">
                                    <p:stCondLst>
                                      <p:cond delay="0"/>
                                    </p:stCondLst>
                                  </p:cTn>
                                  <p:tgtEl>
                                    <p:spTgt spid="5"/>
                                  </p:tgtEl>
                                  <p:attrNameLst>
                                    <p:attrName>style.visibility</p:attrName>
                                  </p:attrNameLst>
                                </p:cBhvr>
                                <p:to>
                                  <p:strVal val="visible"/>
                                </p:to>
                              </p:set>
                              <p:animEffect transition="in" filter="fade">
                                <p:cBhvr>
                                  <p:cTn id="106" dur="420"/>
                                  <p:tgtEl>
                                    <p:spTgt spid="5"/>
                                  </p:tgtEl>
                                </p:cBhvr>
                              </p:animEffect>
                            </p:childTnLst>
                          </p:cTn>
                        </p:par>
                        <p:par>
                          <p:cTn id="107" presetID="10" presetClass="entr" presetSubtype="0" fill="hold" grpId="0" nodeType="afterEffect">
                            <p:stCondLst>
                              <p:cond delay="0"/>
                            </p:stCondLst>
                            <p:childTnLst>
                              <p:set>
                                <p:cBhvr>
                                  <p:cTn id="108" dur="1" fill="hold">
                                    <p:stCondLst>
                                      <p:cond delay="0"/>
                                    </p:stCondLst>
                                  </p:cTn>
                                  <p:tgtEl>
                                    <p:spTgt spid="6"/>
                                  </p:tgtEl>
                                  <p:attrNameLst>
                                    <p:attrName>style.visibility</p:attrName>
                                  </p:attrNameLst>
                                </p:cBhvr>
                                <p:to>
                                  <p:strVal val="visible"/>
                                </p:to>
                              </p:set>
                              <p:animEffect transition="in" filter="fade">
                                <p:cBhvr>
                                  <p:cTn id="109" dur="420"/>
                                  <p:tgtEl>
                                    <p:spTgt spid="6"/>
                                  </p:tgtEl>
                                </p:cBhvr>
                              </p:animEffect>
                            </p:childTnLst>
                          </p:cTn>
                        </p:par>
                        <p:par>
                          <p:cTn id="110" presetID="10" presetClass="entr" presetSubtype="0" fill="hold" grpId="0" nodeType="afterEffect">
                            <p:stCondLst>
                              <p:cond delay="0"/>
                            </p:stCondLst>
                            <p:childTnLst>
                              <p:set>
                                <p:cBhvr>
                                  <p:cTn id="111" dur="1" fill="hold">
                                    <p:stCondLst>
                                      <p:cond delay="0"/>
                                    </p:stCondLst>
                                  </p:cTn>
                                  <p:tgtEl>
                                    <p:spTgt spid="7"/>
                                  </p:tgtEl>
                                  <p:attrNameLst>
                                    <p:attrName>style.visibility</p:attrName>
                                  </p:attrNameLst>
                                </p:cBhvr>
                                <p:to>
                                  <p:strVal val="visible"/>
                                </p:to>
                              </p:set>
                              <p:animEffect transition="in" filter="fade">
                                <p:cBhvr>
                                  <p:cTn id="112" dur="420"/>
                                  <p:tgtEl>
                                    <p:spTgt spid="7"/>
                                  </p:tgtEl>
                                </p:cBhvr>
                              </p:animEffect>
                            </p:childTnLst>
                          </p:cTn>
                        </p:par>
                        <p:par>
                          <p:cTn id="113" presetID="10" presetClass="entr" presetSubtype="0" fill="hold" grpId="0" nodeType="afterEffect">
                            <p:stCondLst>
                              <p:cond delay="110"/>
                            </p:stCondLst>
                            <p:childTnLst>
                              <p:set>
                                <p:cBhvr>
                                  <p:cTn id="114" dur="1" fill="hold">
                                    <p:stCondLst>
                                      <p:cond delay="0"/>
                                    </p:stCondLst>
                                  </p:cTn>
                                  <p:tgtEl>
                                    <p:spTgt spid="8"/>
                                  </p:tgtEl>
                                  <p:attrNameLst>
                                    <p:attrName>style.visibility</p:attrName>
                                  </p:attrNameLst>
                                </p:cBhvr>
                                <p:to>
                                  <p:strVal val="visible"/>
                                </p:to>
                              </p:set>
                              <p:animEffect transition="in" filter="fade">
                                <p:cBhvr>
                                  <p:cTn id="115" dur="420"/>
                                  <p:tgtEl>
                                    <p:spTgt spid="8"/>
                                  </p:tgtEl>
                                </p:cBhvr>
                              </p:animEffect>
                            </p:childTnLst>
                          </p:cTn>
                        </p:par>
                        <p:par>
                          <p:cTn id="116" presetID="10" presetClass="entr" presetSubtype="0" fill="hold" grpId="0" nodeType="afterEffect">
                            <p:stCondLst>
                              <p:cond delay="110"/>
                            </p:stCondLst>
                            <p:childTnLst>
                              <p:set>
                                <p:cBhvr>
                                  <p:cTn id="117" dur="1" fill="hold">
                                    <p:stCondLst>
                                      <p:cond delay="0"/>
                                    </p:stCondLst>
                                  </p:cTn>
                                  <p:tgtEl>
                                    <p:spTgt spid="9"/>
                                  </p:tgtEl>
                                  <p:attrNameLst>
                                    <p:attrName>style.visibility</p:attrName>
                                  </p:attrNameLst>
                                </p:cBhvr>
                                <p:to>
                                  <p:strVal val="visible"/>
                                </p:to>
                              </p:set>
                              <p:animEffect transition="in" filter="fade">
                                <p:cBhvr>
                                  <p:cTn id="118" dur="420"/>
                                  <p:tgtEl>
                                    <p:spTgt spid="9"/>
                                  </p:tgtEl>
                                </p:cBhvr>
                              </p:animEffect>
                            </p:childTnLst>
                          </p:cTn>
                        </p:par>
                        <p:par>
                          <p:cTn id="119" presetID="10" presetClass="entr" presetSubtype="0" fill="hold" grpId="0" nodeType="afterEffect">
                            <p:stCondLst>
                              <p:cond delay="110"/>
                            </p:stCondLst>
                            <p:childTnLst>
                              <p:set>
                                <p:cBhvr>
                                  <p:cTn id="120" dur="1" fill="hold">
                                    <p:stCondLst>
                                      <p:cond delay="0"/>
                                    </p:stCondLst>
                                  </p:cTn>
                                  <p:tgtEl>
                                    <p:spTgt spid="10"/>
                                  </p:tgtEl>
                                  <p:attrNameLst>
                                    <p:attrName>style.visibility</p:attrName>
                                  </p:attrNameLst>
                                </p:cBhvr>
                                <p:to>
                                  <p:strVal val="visible"/>
                                </p:to>
                              </p:set>
                              <p:animEffect transition="in" filter="fade">
                                <p:cBhvr>
                                  <p:cTn id="121" dur="420"/>
                                  <p:tgtEl>
                                    <p:spTgt spid="10"/>
                                  </p:tgtEl>
                                </p:cBhvr>
                              </p:animEffect>
                            </p:childTnLst>
                          </p:cTn>
                        </p:par>
                        <p:par>
                          <p:cTn id="122" presetID="10" presetClass="entr" presetSubtype="0" fill="hold" grpId="0" nodeType="afterEffect">
                            <p:stCondLst>
                              <p:cond delay="110"/>
                            </p:stCondLst>
                            <p:childTnLst>
                              <p:set>
                                <p:cBhvr>
                                  <p:cTn id="123" dur="1" fill="hold">
                                    <p:stCondLst>
                                      <p:cond delay="0"/>
                                    </p:stCondLst>
                                  </p:cTn>
                                  <p:tgtEl>
                                    <p:spTgt spid="11"/>
                                  </p:tgtEl>
                                  <p:attrNameLst>
                                    <p:attrName>style.visibility</p:attrName>
                                  </p:attrNameLst>
                                </p:cBhvr>
                                <p:to>
                                  <p:strVal val="visible"/>
                                </p:to>
                              </p:set>
                              <p:animEffect transition="in" filter="fade">
                                <p:cBhvr>
                                  <p:cTn id="124" dur="420"/>
                                  <p:tgtEl>
                                    <p:spTgt spid="11"/>
                                  </p:tgtEl>
                                </p:cBhvr>
                              </p:animEffect>
                            </p:childTnLst>
                          </p:cTn>
                        </p:par>
                        <p:par>
                          <p:cTn id="125" presetID="10" presetClass="entr" presetSubtype="0" fill="hold" grpId="0" nodeType="afterEffect">
                            <p:stCondLst>
                              <p:cond delay="220"/>
                            </p:stCondLst>
                            <p:childTnLst>
                              <p:set>
                                <p:cBhvr>
                                  <p:cTn id="126" dur="1" fill="hold">
                                    <p:stCondLst>
                                      <p:cond delay="0"/>
                                    </p:stCondLst>
                                  </p:cTn>
                                  <p:tgtEl>
                                    <p:spTgt spid="12"/>
                                  </p:tgtEl>
                                  <p:attrNameLst>
                                    <p:attrName>style.visibility</p:attrName>
                                  </p:attrNameLst>
                                </p:cBhvr>
                                <p:to>
                                  <p:strVal val="visible"/>
                                </p:to>
                              </p:set>
                              <p:animEffect transition="in" filter="fade">
                                <p:cBhvr>
                                  <p:cTn id="127" dur="420"/>
                                  <p:tgtEl>
                                    <p:spTgt spid="12"/>
                                  </p:tgtEl>
                                </p:cBhvr>
                              </p:animEffect>
                            </p:childTnLst>
                          </p:cTn>
                        </p:par>
                        <p:par>
                          <p:cTn id="128" presetID="10" presetClass="entr" presetSubtype="0" fill="hold" grpId="0" nodeType="afterEffect">
                            <p:stCondLst>
                              <p:cond delay="220"/>
                            </p:stCondLst>
                            <p:childTnLst>
                              <p:set>
                                <p:cBhvr>
                                  <p:cTn id="129" dur="1" fill="hold">
                                    <p:stCondLst>
                                      <p:cond delay="0"/>
                                    </p:stCondLst>
                                  </p:cTn>
                                  <p:tgtEl>
                                    <p:spTgt spid="13"/>
                                  </p:tgtEl>
                                  <p:attrNameLst>
                                    <p:attrName>style.visibility</p:attrName>
                                  </p:attrNameLst>
                                </p:cBhvr>
                                <p:to>
                                  <p:strVal val="visible"/>
                                </p:to>
                              </p:set>
                              <p:animEffect transition="in" filter="fade">
                                <p:cBhvr>
                                  <p:cTn id="130" dur="420"/>
                                  <p:tgtEl>
                                    <p:spTgt spid="13"/>
                                  </p:tgtEl>
                                </p:cBhvr>
                              </p:animEffect>
                            </p:childTnLst>
                          </p:cTn>
                        </p:par>
                        <p:par>
                          <p:cTn id="131" presetID="10" presetClass="entr" presetSubtype="0" fill="hold" grpId="0" nodeType="afterEffect">
                            <p:stCondLst>
                              <p:cond delay="220"/>
                            </p:stCondLst>
                            <p:childTnLst>
                              <p:set>
                                <p:cBhvr>
                                  <p:cTn id="132" dur="1" fill="hold">
                                    <p:stCondLst>
                                      <p:cond delay="0"/>
                                    </p:stCondLst>
                                  </p:cTn>
                                  <p:tgtEl>
                                    <p:spTgt spid="14"/>
                                  </p:tgtEl>
                                  <p:attrNameLst>
                                    <p:attrName>style.visibility</p:attrName>
                                  </p:attrNameLst>
                                </p:cBhvr>
                                <p:to>
                                  <p:strVal val="visible"/>
                                </p:to>
                              </p:set>
                              <p:animEffect transition="in" filter="fade">
                                <p:cBhvr>
                                  <p:cTn id="133" dur="420"/>
                                  <p:tgtEl>
                                    <p:spTgt spid="14"/>
                                  </p:tgtEl>
                                </p:cBhvr>
                              </p:animEffect>
                            </p:childTnLst>
                          </p:cTn>
                        </p:par>
                        <p:par>
                          <p:cTn id="134" presetID="10" presetClass="entr" presetSubtype="0" fill="hold" grpId="0" nodeType="afterEffect">
                            <p:stCondLst>
                              <p:cond delay="220"/>
                            </p:stCondLst>
                            <p:childTnLst>
                              <p:set>
                                <p:cBhvr>
                                  <p:cTn id="135" dur="1" fill="hold">
                                    <p:stCondLst>
                                      <p:cond delay="0"/>
                                    </p:stCondLst>
                                  </p:cTn>
                                  <p:tgtEl>
                                    <p:spTgt spid="15"/>
                                  </p:tgtEl>
                                  <p:attrNameLst>
                                    <p:attrName>style.visibility</p:attrName>
                                  </p:attrNameLst>
                                </p:cBhvr>
                                <p:to>
                                  <p:strVal val="visible"/>
                                </p:to>
                              </p:set>
                              <p:animEffect transition="in" filter="fade">
                                <p:cBhvr>
                                  <p:cTn id="136" dur="420"/>
                                  <p:tgtEl>
                                    <p:spTgt spid="15"/>
                                  </p:tgtEl>
                                </p:cBhvr>
                              </p:animEffect>
                            </p:childTnLst>
                          </p:cTn>
                        </p:par>
                        <p:par>
                          <p:cTn id="137" presetID="10" presetClass="entr" presetSubtype="0" fill="hold" grpId="0" nodeType="afterEffect">
                            <p:stCondLst>
                              <p:cond delay="330"/>
                            </p:stCondLst>
                            <p:childTnLst>
                              <p:set>
                                <p:cBhvr>
                                  <p:cTn id="138" dur="1" fill="hold">
                                    <p:stCondLst>
                                      <p:cond delay="0"/>
                                    </p:stCondLst>
                                  </p:cTn>
                                  <p:tgtEl>
                                    <p:spTgt spid="16"/>
                                  </p:tgtEl>
                                  <p:attrNameLst>
                                    <p:attrName>style.visibility</p:attrName>
                                  </p:attrNameLst>
                                </p:cBhvr>
                                <p:to>
                                  <p:strVal val="visible"/>
                                </p:to>
                              </p:set>
                              <p:animEffect transition="in" filter="fade">
                                <p:cBhvr>
                                  <p:cTn id="139" dur="420"/>
                                  <p:tgtEl>
                                    <p:spTgt spid="16"/>
                                  </p:tgtEl>
                                </p:cBhvr>
                              </p:animEffect>
                            </p:childTnLst>
                          </p:cTn>
                        </p:par>
                        <p:par>
                          <p:cTn id="140" presetID="10" presetClass="entr" presetSubtype="0" fill="hold" grpId="0" nodeType="afterEffect">
                            <p:stCondLst>
                              <p:cond delay="330"/>
                            </p:stCondLst>
                            <p:childTnLst>
                              <p:set>
                                <p:cBhvr>
                                  <p:cTn id="141" dur="1" fill="hold">
                                    <p:stCondLst>
                                      <p:cond delay="0"/>
                                    </p:stCondLst>
                                  </p:cTn>
                                  <p:tgtEl>
                                    <p:spTgt spid="17"/>
                                  </p:tgtEl>
                                  <p:attrNameLst>
                                    <p:attrName>style.visibility</p:attrName>
                                  </p:attrNameLst>
                                </p:cBhvr>
                                <p:to>
                                  <p:strVal val="visible"/>
                                </p:to>
                              </p:set>
                              <p:animEffect transition="in" filter="fade">
                                <p:cBhvr>
                                  <p:cTn id="142" dur="420"/>
                                  <p:tgtEl>
                                    <p:spTgt spid="17"/>
                                  </p:tgtEl>
                                </p:cBhvr>
                              </p:animEffect>
                            </p:childTnLst>
                          </p:cTn>
                        </p:par>
                        <p:par>
                          <p:cTn id="143" presetID="10" presetClass="entr" presetSubtype="0" fill="hold" grpId="0" nodeType="afterEffect">
                            <p:stCondLst>
                              <p:cond delay="330"/>
                            </p:stCondLst>
                            <p:childTnLst>
                              <p:set>
                                <p:cBhvr>
                                  <p:cTn id="144" dur="1" fill="hold">
                                    <p:stCondLst>
                                      <p:cond delay="0"/>
                                    </p:stCondLst>
                                  </p:cTn>
                                  <p:tgtEl>
                                    <p:spTgt spid="18"/>
                                  </p:tgtEl>
                                  <p:attrNameLst>
                                    <p:attrName>style.visibility</p:attrName>
                                  </p:attrNameLst>
                                </p:cBhvr>
                                <p:to>
                                  <p:strVal val="visible"/>
                                </p:to>
                              </p:set>
                              <p:animEffect transition="in" filter="fade">
                                <p:cBhvr>
                                  <p:cTn id="145" dur="420"/>
                                  <p:tgtEl>
                                    <p:spTgt spid="18"/>
                                  </p:tgtEl>
                                </p:cBhvr>
                              </p:animEffect>
                            </p:childTnLst>
                          </p:cTn>
                        </p:par>
                        <p:par>
                          <p:cTn id="146" presetID="10" presetClass="entr" presetSubtype="0" fill="hold" grpId="0" nodeType="afterEffect">
                            <p:stCondLst>
                              <p:cond delay="330"/>
                            </p:stCondLst>
                            <p:childTnLst>
                              <p:set>
                                <p:cBhvr>
                                  <p:cTn id="147" dur="1" fill="hold">
                                    <p:stCondLst>
                                      <p:cond delay="0"/>
                                    </p:stCondLst>
                                  </p:cTn>
                                  <p:tgtEl>
                                    <p:spTgt spid="19"/>
                                  </p:tgtEl>
                                  <p:attrNameLst>
                                    <p:attrName>style.visibility</p:attrName>
                                  </p:attrNameLst>
                                </p:cBhvr>
                                <p:to>
                                  <p:strVal val="visible"/>
                                </p:to>
                              </p:set>
                              <p:animEffect transition="in" filter="fade">
                                <p:cBhvr>
                                  <p:cTn id="148" dur="420"/>
                                  <p:tgtEl>
                                    <p:spTgt spid="19"/>
                                  </p:tgtEl>
                                </p:cBhvr>
                              </p:animEffect>
                            </p:childTnLst>
                          </p:cTn>
                        </p:par>
                        <p:par>
                          <p:cTn id="149" presetID="10" presetClass="entr" presetSubtype="0" fill="hold" grpId="0" nodeType="afterEffect">
                            <p:stCondLst>
                              <p:cond delay="440"/>
                            </p:stCondLst>
                            <p:childTnLst>
                              <p:set>
                                <p:cBhvr>
                                  <p:cTn id="150" dur="1" fill="hold">
                                    <p:stCondLst>
                                      <p:cond delay="0"/>
                                    </p:stCondLst>
                                  </p:cTn>
                                  <p:tgtEl>
                                    <p:spTgt spid="20"/>
                                  </p:tgtEl>
                                  <p:attrNameLst>
                                    <p:attrName>style.visibility</p:attrName>
                                  </p:attrNameLst>
                                </p:cBhvr>
                                <p:to>
                                  <p:strVal val="visible"/>
                                </p:to>
                              </p:set>
                              <p:animEffect transition="in" filter="fade">
                                <p:cBhvr>
                                  <p:cTn id="151" dur="420"/>
                                  <p:tgtEl>
                                    <p:spTgt spid="20"/>
                                  </p:tgtEl>
                                </p:cBhvr>
                              </p:animEffect>
                            </p:childTnLst>
                          </p:cTn>
                        </p:par>
                        <p:par>
                          <p:cTn id="152" presetID="10" presetClass="entr" presetSubtype="0" fill="hold" grpId="0" nodeType="afterEffect">
                            <p:stCondLst>
                              <p:cond delay="440"/>
                            </p:stCondLst>
                            <p:childTnLst>
                              <p:set>
                                <p:cBhvr>
                                  <p:cTn id="153" dur="1" fill="hold">
                                    <p:stCondLst>
                                      <p:cond delay="0"/>
                                    </p:stCondLst>
                                  </p:cTn>
                                  <p:tgtEl>
                                    <p:spTgt spid="21"/>
                                  </p:tgtEl>
                                  <p:attrNameLst>
                                    <p:attrName>style.visibility</p:attrName>
                                  </p:attrNameLst>
                                </p:cBhvr>
                                <p:to>
                                  <p:strVal val="visible"/>
                                </p:to>
                              </p:set>
                              <p:animEffect transition="in" filter="fade">
                                <p:cBhvr>
                                  <p:cTn id="154" dur="420"/>
                                  <p:tgtEl>
                                    <p:spTgt spid="21"/>
                                  </p:tgtEl>
                                </p:cBhvr>
                              </p:animEffect>
                            </p:childTnLst>
                          </p:cTn>
                        </p:par>
                        <p:par>
                          <p:cTn id="155" presetID="10" presetClass="entr" presetSubtype="0" fill="hold" grpId="0" nodeType="afterEffect">
                            <p:stCondLst>
                              <p:cond delay="440"/>
                            </p:stCondLst>
                            <p:childTnLst>
                              <p:set>
                                <p:cBhvr>
                                  <p:cTn id="156" dur="1" fill="hold">
                                    <p:stCondLst>
                                      <p:cond delay="0"/>
                                    </p:stCondLst>
                                  </p:cTn>
                                  <p:tgtEl>
                                    <p:spTgt spid="22"/>
                                  </p:tgtEl>
                                  <p:attrNameLst>
                                    <p:attrName>style.visibility</p:attrName>
                                  </p:attrNameLst>
                                </p:cBhvr>
                                <p:to>
                                  <p:strVal val="visible"/>
                                </p:to>
                              </p:set>
                              <p:animEffect transition="in" filter="fade">
                                <p:cBhvr>
                                  <p:cTn id="157" dur="420"/>
                                  <p:tgtEl>
                                    <p:spTgt spid="22"/>
                                  </p:tgtEl>
                                </p:cBhvr>
                              </p:animEffect>
                            </p:childTnLst>
                          </p:cTn>
                        </p:par>
                        <p:par>
                          <p:cTn id="158" presetID="10" presetClass="entr" presetSubtype="0" fill="hold" grpId="0" nodeType="afterEffect">
                            <p:stCondLst>
                              <p:cond delay="440"/>
                            </p:stCondLst>
                            <p:childTnLst>
                              <p:set>
                                <p:cBhvr>
                                  <p:cTn id="159" dur="1" fill="hold">
                                    <p:stCondLst>
                                      <p:cond delay="0"/>
                                    </p:stCondLst>
                                  </p:cTn>
                                  <p:tgtEl>
                                    <p:spTgt spid="23"/>
                                  </p:tgtEl>
                                  <p:attrNameLst>
                                    <p:attrName>style.visibility</p:attrName>
                                  </p:attrNameLst>
                                </p:cBhvr>
                                <p:to>
                                  <p:strVal val="visible"/>
                                </p:to>
                              </p:set>
                              <p:animEffect transition="in" filter="fade">
                                <p:cBhvr>
                                  <p:cTn id="160" dur="420"/>
                                  <p:tgtEl>
                                    <p:spTgt spid="23"/>
                                  </p:tgtEl>
                                </p:cBhvr>
                              </p:animEffect>
                            </p:childTnLst>
                          </p:cTn>
                        </p:par>
                        <p:par>
                          <p:cTn id="161" presetID="10" presetClass="entr" presetSubtype="0" fill="hold" grpId="0" nodeType="afterEffect">
                            <p:stCondLst>
                              <p:cond delay="550"/>
                            </p:stCondLst>
                            <p:childTnLst>
                              <p:set>
                                <p:cBhvr>
                                  <p:cTn id="162" dur="1" fill="hold">
                                    <p:stCondLst>
                                      <p:cond delay="0"/>
                                    </p:stCondLst>
                                  </p:cTn>
                                  <p:tgtEl>
                                    <p:spTgt spid="24"/>
                                  </p:tgtEl>
                                  <p:attrNameLst>
                                    <p:attrName>style.visibility</p:attrName>
                                  </p:attrNameLst>
                                </p:cBhvr>
                                <p:to>
                                  <p:strVal val="visible"/>
                                </p:to>
                              </p:set>
                              <p:animEffect transition="in" filter="fade">
                                <p:cBhvr>
                                  <p:cTn id="163" dur="420"/>
                                  <p:tgtEl>
                                    <p:spTgt spid="24"/>
                                  </p:tgtEl>
                                </p:cBhvr>
                              </p:animEffect>
                            </p:childTnLst>
                          </p:cTn>
                        </p:par>
                        <p:par>
                          <p:cTn id="164" presetID="10" presetClass="entr" presetSubtype="0" fill="hold" grpId="0" nodeType="afterEffect">
                            <p:stCondLst>
                              <p:cond delay="550"/>
                            </p:stCondLst>
                            <p:childTnLst>
                              <p:set>
                                <p:cBhvr>
                                  <p:cTn id="165" dur="1" fill="hold">
                                    <p:stCondLst>
                                      <p:cond delay="0"/>
                                    </p:stCondLst>
                                  </p:cTn>
                                  <p:tgtEl>
                                    <p:spTgt spid="25"/>
                                  </p:tgtEl>
                                  <p:attrNameLst>
                                    <p:attrName>style.visibility</p:attrName>
                                  </p:attrNameLst>
                                </p:cBhvr>
                                <p:to>
                                  <p:strVal val="visible"/>
                                </p:to>
                              </p:set>
                              <p:animEffect transition="in" filter="fade">
                                <p:cBhvr>
                                  <p:cTn id="166" dur="420"/>
                                  <p:tgtEl>
                                    <p:spTgt spid="25"/>
                                  </p:tgtEl>
                                </p:cBhvr>
                              </p:animEffect>
                            </p:childTnLst>
                          </p:cTn>
                        </p:par>
                        <p:par>
                          <p:cTn id="167" presetID="10" presetClass="entr" presetSubtype="0" fill="hold" grpId="0" nodeType="afterEffect">
                            <p:stCondLst>
                              <p:cond delay="550"/>
                            </p:stCondLst>
                            <p:childTnLst>
                              <p:set>
                                <p:cBhvr>
                                  <p:cTn id="168" dur="1" fill="hold">
                                    <p:stCondLst>
                                      <p:cond delay="0"/>
                                    </p:stCondLst>
                                  </p:cTn>
                                  <p:tgtEl>
                                    <p:spTgt spid="26"/>
                                  </p:tgtEl>
                                  <p:attrNameLst>
                                    <p:attrName>style.visibility</p:attrName>
                                  </p:attrNameLst>
                                </p:cBhvr>
                                <p:to>
                                  <p:strVal val="visible"/>
                                </p:to>
                              </p:set>
                              <p:animEffect transition="in" filter="fade">
                                <p:cBhvr>
                                  <p:cTn id="169" dur="420"/>
                                  <p:tgtEl>
                                    <p:spTgt spid="26"/>
                                  </p:tgtEl>
                                </p:cBhvr>
                              </p:animEffect>
                            </p:childTnLst>
                          </p:cTn>
                        </p:par>
                        <p:par>
                          <p:cTn id="170" presetID="10" presetClass="entr" presetSubtype="0" fill="hold" grpId="0" nodeType="afterEffect">
                            <p:stCondLst>
                              <p:cond delay="550"/>
                            </p:stCondLst>
                            <p:childTnLst>
                              <p:set>
                                <p:cBhvr>
                                  <p:cTn id="171" dur="1" fill="hold">
                                    <p:stCondLst>
                                      <p:cond delay="0"/>
                                    </p:stCondLst>
                                  </p:cTn>
                                  <p:tgtEl>
                                    <p:spTgt spid="27"/>
                                  </p:tgtEl>
                                  <p:attrNameLst>
                                    <p:attrName>style.visibility</p:attrName>
                                  </p:attrNameLst>
                                </p:cBhvr>
                                <p:to>
                                  <p:strVal val="visible"/>
                                </p:to>
                              </p:set>
                              <p:animEffect transition="in" filter="fade">
                                <p:cBhvr>
                                  <p:cTn id="172" dur="420"/>
                                  <p:tgtEl>
                                    <p:spTgt spid="27"/>
                                  </p:tgtEl>
                                </p:cBhvr>
                              </p:animEffect>
                            </p:childTnLst>
                          </p:cTn>
                        </p:par>
                        <p:par>
                          <p:cTn id="173" presetID="10" presetClass="entr" presetSubtype="0" fill="hold" grpId="0" nodeType="afterEffect">
                            <p:stCondLst>
                              <p:cond delay="660"/>
                            </p:stCondLst>
                            <p:childTnLst>
                              <p:set>
                                <p:cBhvr>
                                  <p:cTn id="174" dur="1" fill="hold">
                                    <p:stCondLst>
                                      <p:cond delay="0"/>
                                    </p:stCondLst>
                                  </p:cTn>
                                  <p:tgtEl>
                                    <p:spTgt spid="28"/>
                                  </p:tgtEl>
                                  <p:attrNameLst>
                                    <p:attrName>style.visibility</p:attrName>
                                  </p:attrNameLst>
                                </p:cBhvr>
                                <p:to>
                                  <p:strVal val="visible"/>
                                </p:to>
                              </p:set>
                              <p:animEffect transition="in" filter="fade">
                                <p:cBhvr>
                                  <p:cTn id="175" dur="420"/>
                                  <p:tgtEl>
                                    <p:spTgt spid="28"/>
                                  </p:tgtEl>
                                </p:cBhvr>
                              </p:animEffect>
                            </p:childTnLst>
                          </p:cTn>
                        </p:par>
                        <p:par>
                          <p:cTn id="176" presetID="10" presetClass="entr" presetSubtype="0" fill="hold" grpId="0" nodeType="afterEffect">
                            <p:stCondLst>
                              <p:cond delay="660"/>
                            </p:stCondLst>
                            <p:childTnLst>
                              <p:set>
                                <p:cBhvr>
                                  <p:cTn id="177" dur="1" fill="hold">
                                    <p:stCondLst>
                                      <p:cond delay="0"/>
                                    </p:stCondLst>
                                  </p:cTn>
                                  <p:tgtEl>
                                    <p:spTgt spid="29"/>
                                  </p:tgtEl>
                                  <p:attrNameLst>
                                    <p:attrName>style.visibility</p:attrName>
                                  </p:attrNameLst>
                                </p:cBhvr>
                                <p:to>
                                  <p:strVal val="visible"/>
                                </p:to>
                              </p:set>
                              <p:animEffect transition="in" filter="fade">
                                <p:cBhvr>
                                  <p:cTn id="178" dur="420"/>
                                  <p:tgtEl>
                                    <p:spTgt spid="29"/>
                                  </p:tgtEl>
                                </p:cBhvr>
                              </p:animEffect>
                            </p:childTnLst>
                          </p:cTn>
                        </p:par>
                        <p:par>
                          <p:cTn id="179" presetID="10" presetClass="entr" presetSubtype="0" fill="hold" grpId="0" nodeType="afterEffect">
                            <p:stCondLst>
                              <p:cond delay="660"/>
                            </p:stCondLst>
                            <p:childTnLst>
                              <p:set>
                                <p:cBhvr>
                                  <p:cTn id="180" dur="1" fill="hold">
                                    <p:stCondLst>
                                      <p:cond delay="0"/>
                                    </p:stCondLst>
                                  </p:cTn>
                                  <p:tgtEl>
                                    <p:spTgt spid="30"/>
                                  </p:tgtEl>
                                  <p:attrNameLst>
                                    <p:attrName>style.visibility</p:attrName>
                                  </p:attrNameLst>
                                </p:cBhvr>
                                <p:to>
                                  <p:strVal val="visible"/>
                                </p:to>
                              </p:set>
                              <p:animEffect transition="in" filter="fade">
                                <p:cBhvr>
                                  <p:cTn id="181" dur="420"/>
                                  <p:tgtEl>
                                    <p:spTgt spid="30"/>
                                  </p:tgtEl>
                                </p:cBhvr>
                              </p:animEffect>
                            </p:childTnLst>
                          </p:cTn>
                        </p:par>
                        <p:par>
                          <p:cTn id="182" presetID="10" presetClass="entr" presetSubtype="0" fill="hold" grpId="0" nodeType="afterEffect">
                            <p:stCondLst>
                              <p:cond delay="660"/>
                            </p:stCondLst>
                            <p:childTnLst>
                              <p:set>
                                <p:cBhvr>
                                  <p:cTn id="183" dur="1" fill="hold">
                                    <p:stCondLst>
                                      <p:cond delay="0"/>
                                    </p:stCondLst>
                                  </p:cTn>
                                  <p:tgtEl>
                                    <p:spTgt spid="31"/>
                                  </p:tgtEl>
                                  <p:attrNameLst>
                                    <p:attrName>style.visibility</p:attrName>
                                  </p:attrNameLst>
                                </p:cBhvr>
                                <p:to>
                                  <p:strVal val="visible"/>
                                </p:to>
                              </p:set>
                              <p:animEffect transition="in" filter="fade">
                                <p:cBhvr>
                                  <p:cTn id="184" dur="420"/>
                                  <p:tgtEl>
                                    <p:spTgt spid="31"/>
                                  </p:tgtEl>
                                </p:cBhvr>
                              </p:animEffect>
                            </p:childTnLst>
                          </p:cTn>
                        </p:par>
                        <p:par>
                          <p:cTn id="185" presetID="10" presetClass="entr" presetSubtype="0" fill="hold" grpId="0" nodeType="afterEffect">
                            <p:stCondLst>
                              <p:cond delay="770"/>
                            </p:stCondLst>
                            <p:childTnLst>
                              <p:set>
                                <p:cBhvr>
                                  <p:cTn id="186" dur="1" fill="hold">
                                    <p:stCondLst>
                                      <p:cond delay="0"/>
                                    </p:stCondLst>
                                  </p:cTn>
                                  <p:tgtEl>
                                    <p:spTgt spid="32"/>
                                  </p:tgtEl>
                                  <p:attrNameLst>
                                    <p:attrName>style.visibility</p:attrName>
                                  </p:attrNameLst>
                                </p:cBhvr>
                                <p:to>
                                  <p:strVal val="visible"/>
                                </p:to>
                              </p:set>
                              <p:animEffect transition="in" filter="fade">
                                <p:cBhvr>
                                  <p:cTn id="187" dur="420"/>
                                  <p:tgtEl>
                                    <p:spTgt spid="32"/>
                                  </p:tgtEl>
                                </p:cBhvr>
                              </p:animEffect>
                            </p:childTnLst>
                          </p:cTn>
                        </p:par>
                        <p:par>
                          <p:cTn id="188" presetID="10" presetClass="entr" presetSubtype="0" fill="hold" grpId="0" nodeType="afterEffect">
                            <p:stCondLst>
                              <p:cond delay="770"/>
                            </p:stCondLst>
                            <p:childTnLst>
                              <p:set>
                                <p:cBhvr>
                                  <p:cTn id="189" dur="1" fill="hold">
                                    <p:stCondLst>
                                      <p:cond delay="0"/>
                                    </p:stCondLst>
                                  </p:cTn>
                                  <p:tgtEl>
                                    <p:spTgt spid="33"/>
                                  </p:tgtEl>
                                  <p:attrNameLst>
                                    <p:attrName>style.visibility</p:attrName>
                                  </p:attrNameLst>
                                </p:cBhvr>
                                <p:to>
                                  <p:strVal val="visible"/>
                                </p:to>
                              </p:set>
                              <p:animEffect transition="in" filter="fade">
                                <p:cBhvr>
                                  <p:cTn id="190" dur="420"/>
                                  <p:tgtEl>
                                    <p:spTgt spid="33"/>
                                  </p:tgtEl>
                                </p:cBhvr>
                              </p:animEffect>
                            </p:childTnLst>
                          </p:cTn>
                        </p:par>
                        <p:par>
                          <p:cTn id="191" presetID="10" presetClass="entr" presetSubtype="0" fill="hold" grpId="0" nodeType="afterEffect">
                            <p:stCondLst>
                              <p:cond delay="770"/>
                            </p:stCondLst>
                            <p:childTnLst>
                              <p:set>
                                <p:cBhvr>
                                  <p:cTn id="192" dur="1" fill="hold">
                                    <p:stCondLst>
                                      <p:cond delay="0"/>
                                    </p:stCondLst>
                                  </p:cTn>
                                  <p:tgtEl>
                                    <p:spTgt spid="34"/>
                                  </p:tgtEl>
                                  <p:attrNameLst>
                                    <p:attrName>style.visibility</p:attrName>
                                  </p:attrNameLst>
                                </p:cBhvr>
                                <p:to>
                                  <p:strVal val="visible"/>
                                </p:to>
                              </p:set>
                              <p:animEffect transition="in" filter="fade">
                                <p:cBhvr>
                                  <p:cTn id="193" dur="420"/>
                                  <p:tgtEl>
                                    <p:spTgt spid="34"/>
                                  </p:tgtEl>
                                </p:cBhvr>
                              </p:animEffect>
                            </p:childTnLst>
                          </p:cTn>
                        </p:par>
                        <p:par>
                          <p:cTn id="194" presetID="10" presetClass="entr" presetSubtype="0" fill="hold" grpId="0" nodeType="afterEffect">
                            <p:stCondLst>
                              <p:cond delay="770"/>
                            </p:stCondLst>
                            <p:childTnLst>
                              <p:set>
                                <p:cBhvr>
                                  <p:cTn id="195" dur="1" fill="hold">
                                    <p:stCondLst>
                                      <p:cond delay="0"/>
                                    </p:stCondLst>
                                  </p:cTn>
                                  <p:tgtEl>
                                    <p:spTgt spid="35"/>
                                  </p:tgtEl>
                                  <p:attrNameLst>
                                    <p:attrName>style.visibility</p:attrName>
                                  </p:attrNameLst>
                                </p:cBhvr>
                                <p:to>
                                  <p:strVal val="visible"/>
                                </p:to>
                              </p:set>
                              <p:animEffect transition="in" filter="fade">
                                <p:cBhvr>
                                  <p:cTn id="196" dur="420"/>
                                  <p:tgtEl>
                                    <p:spTgt spid="35"/>
                                  </p:tgtEl>
                                </p:cBhvr>
                              </p:animEffect>
                            </p:childTnLst>
                          </p:cTn>
                        </p:par>
                      </p:childTnLst>
                    </p:cTn>
                  </p:par>
                </p:childTnLst>
              </p:cTn>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881360" cy="292608"/>
          </a:xfrm>
          <a:prstGeom prst="rect">
            <a:avLst/>
          </a:prstGeom>
          <a:noFill/>
        </p:spPr>
        <p:txBody>
          <a:bodyPr wrap="square" lIns="0" rIns="0" tIns="0" bIns="0" anchor="t">
            <a:spAutoFit/>
          </a:bodyPr>
          <a:lstStyle/>
          <a:p>
            <a:pPr algn="l">
              <a:lnSpc>
                <a:spcPct val="100000"/>
              </a:lnSpc>
              <a:spcBef>
                <a:spcPts val="0"/>
              </a:spcBef>
              <a:spcAft>
                <a:spcPts val="0"/>
              </a:spcAft>
            </a:pPr>
            <a:r>
              <a:rPr sz="1250" b="1" i="0">
                <a:solidFill>
                  <a:srgbClr val="B8863B"/>
                </a:solidFill>
                <a:latin typeface="Calibri"/>
              </a:rPr>
              <a:t>RÉALISATION</a:t>
            </a:r>
          </a:p>
        </p:txBody>
      </p:sp>
      <p:sp>
        <p:nvSpPr>
          <p:cNvPr id="3" name="TextBox 2"/>
          <p:cNvSpPr txBox="1"/>
          <p:nvPr/>
        </p:nvSpPr>
        <p:spPr>
          <a:xfrm>
            <a:off x="640080" y="786384"/>
            <a:ext cx="10881360" cy="777240"/>
          </a:xfrm>
          <a:prstGeom prst="rect">
            <a:avLst/>
          </a:prstGeom>
          <a:noFill/>
        </p:spPr>
        <p:txBody>
          <a:bodyPr wrap="square" lIns="0" rIns="0" tIns="0" bIns="0" anchor="t">
            <a:spAutoFit/>
          </a:bodyPr>
          <a:lstStyle/>
          <a:p>
            <a:pPr algn="l">
              <a:lnSpc>
                <a:spcPct val="102000"/>
              </a:lnSpc>
              <a:spcBef>
                <a:spcPts val="0"/>
              </a:spcBef>
              <a:spcAft>
                <a:spcPts val="0"/>
              </a:spcAft>
            </a:pPr>
            <a:r>
              <a:rPr sz="2700" b="1" i="0">
                <a:solidFill>
                  <a:srgbClr val="0F5B4C"/>
                </a:solidFill>
                <a:latin typeface="Cambria"/>
              </a:rPr>
              <a:t>Architecture technique de la solution</a:t>
            </a:r>
          </a:p>
        </p:txBody>
      </p:sp>
      <p:pic>
        <p:nvPicPr>
          <p:cNvPr id="4" name="Picture 3" descr="fig09_architecture_fonctionnelle.png"/>
          <p:cNvPicPr>
            <a:picLocks noChangeAspect="1"/>
          </p:cNvPicPr>
          <p:nvPr/>
        </p:nvPicPr>
        <p:blipFill>
          <a:blip r:embed="rId2"/>
          <a:stretch>
            <a:fillRect/>
          </a:stretch>
        </p:blipFill>
        <p:spPr>
          <a:xfrm>
            <a:off x="3075896" y="1325880"/>
            <a:ext cx="6009726" cy="4709160"/>
          </a:xfrm>
          <a:prstGeom prst="rect">
            <a:avLst/>
          </a:prstGeom>
        </p:spPr>
      </p:pic>
      <p:sp>
        <p:nvSpPr>
          <p:cNvPr id="5" name="TextBox 4"/>
          <p:cNvSpPr txBox="1"/>
          <p:nvPr/>
        </p:nvSpPr>
        <p:spPr>
          <a:xfrm>
            <a:off x="640080" y="6199632"/>
            <a:ext cx="10881360" cy="292608"/>
          </a:xfrm>
          <a:prstGeom prst="rect">
            <a:avLst/>
          </a:prstGeom>
          <a:noFill/>
        </p:spPr>
        <p:txBody>
          <a:bodyPr wrap="square" lIns="0" rIns="0" tIns="0" bIns="0" anchor="t">
            <a:spAutoFit/>
          </a:bodyPr>
          <a:lstStyle/>
          <a:p>
            <a:pPr algn="ctr">
              <a:lnSpc>
                <a:spcPct val="100000"/>
              </a:lnSpc>
              <a:spcBef>
                <a:spcPts val="0"/>
              </a:spcBef>
              <a:spcAft>
                <a:spcPts val="0"/>
              </a:spcAft>
            </a:pPr>
            <a:r>
              <a:rPr sz="1100" b="0" i="1">
                <a:solidFill>
                  <a:srgbClr val="68796F"/>
                </a:solidFill>
                <a:latin typeface="Calibri"/>
              </a:rPr>
              <a:t>API Laravel comme point d'entrée unique · GraphQL (lectures) + REST (écritures) · cache local et synchronisation mobile hors-ligne</a:t>
            </a:r>
          </a:p>
        </p:txBody>
      </p:sp>
      <p:sp>
        <p:nvSpPr>
          <p:cNvPr id="6" name="TextBox 5"/>
          <p:cNvSpPr txBox="1"/>
          <p:nvPr/>
        </p:nvSpPr>
        <p:spPr>
          <a:xfrm>
            <a:off x="640080" y="6519672"/>
            <a:ext cx="7315200" cy="274320"/>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68796F"/>
                </a:solidFill>
                <a:latin typeface="Calibri"/>
              </a:rPr>
              <a:t>Kayñiawlu — Soutenance de mémoire</a:t>
            </a:r>
          </a:p>
        </p:txBody>
      </p:sp>
      <p:sp>
        <p:nvSpPr>
          <p:cNvPr id="7" name="TextBox 6"/>
          <p:cNvSpPr txBox="1"/>
          <p:nvPr/>
        </p:nvSpPr>
        <p:spPr>
          <a:xfrm>
            <a:off x="10180015" y="6519672"/>
            <a:ext cx="1371600" cy="274320"/>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8796F"/>
                </a:solidFill>
                <a:latin typeface="Calibri"/>
              </a:rPr>
              <a:t>23</a:t>
            </a:r>
          </a:p>
        </p:txBody>
      </p:sp>
    </p:spTree>
  </p:cSld>
  <p:clrMapOvr>
    <a:masterClrMapping/>
  </p:clrMapOvr>
  <p:transition spd="med">
    <p:fade/>
  </p:transition>
  <p:timing>
    <p:tnLst>
      <p:par>
        <p:cTn id="107" dur="indefinite" restart="never" nodeType="tmRoot">
          <p:childTnLst>
            <p:seq concurrent="1" nextAc="seek">
              <p:cTn id="108" dur="indefinite" nodeType="mainSeq">
                <p:childTnLst>
                  <p:par>
                    <p:cTn id="109" fill="hold">
                      <p:stCondLst>
                        <p:cond delay="0"/>
                      </p:stCondLst>
                      <p:childTnLst>
                        <p:par>
                          <p:cTn id="101" presetID="10" presetClass="entr" presetSubtype="0" fill="hold" grpId="0" nodeType="afterEffect">
                            <p:stCondLst>
                              <p:cond delay="0"/>
                            </p:stCondLst>
                            <p:childTnLst>
                              <p:set>
                                <p:cBhvr>
                                  <p:cTn id="102" dur="1" fill="hold">
                                    <p:stCondLst>
                                      <p:cond delay="0"/>
                                    </p:stCondLst>
                                  </p:cTn>
                                  <p:tgtEl>
                                    <p:spTgt spid="4"/>
                                  </p:tgtEl>
                                  <p:attrNameLst>
                                    <p:attrName>style.visibility</p:attrName>
                                  </p:attrNameLst>
                                </p:cBhvr>
                                <p:to>
                                  <p:strVal val="visible"/>
                                </p:to>
                              </p:set>
                              <p:animEffect transition="in" filter="fade">
                                <p:cBhvr>
                                  <p:cTn id="103" dur="420"/>
                                  <p:tgtEl>
                                    <p:spTgt spid="4"/>
                                  </p:tgtEl>
                                </p:cBhvr>
                              </p:animEffect>
                            </p:childTnLst>
                          </p:cTn>
                        </p:par>
                        <p:par>
                          <p:cTn id="104" presetID="10" presetClass="entr" presetSubtype="0" fill="hold" grpId="0" nodeType="afterEffect">
                            <p:stCondLst>
                              <p:cond delay="160"/>
                            </p:stCondLst>
                            <p:childTnLst>
                              <p:set>
                                <p:cBhvr>
                                  <p:cTn id="105" dur="1" fill="hold">
                                    <p:stCondLst>
                                      <p:cond delay="0"/>
                                    </p:stCondLst>
                                  </p:cTn>
                                  <p:tgtEl>
                                    <p:spTgt spid="5"/>
                                  </p:tgtEl>
                                  <p:attrNameLst>
                                    <p:attrName>style.visibility</p:attrName>
                                  </p:attrNameLst>
                                </p:cBhvr>
                                <p:to>
                                  <p:strVal val="visible"/>
                                </p:to>
                              </p:set>
                              <p:animEffect transition="in" filter="fade">
                                <p:cBhvr>
                                  <p:cTn id="106" dur="420"/>
                                  <p:tgtEl>
                                    <p:spTgt spid="5"/>
                                  </p:tgtEl>
                                </p:cBhvr>
                              </p:animEffect>
                            </p:childTnLst>
                          </p:cTn>
                        </p:par>
                      </p:childTnLst>
                    </p:cTn>
                  </p:par>
                </p:childTnLst>
              </p:cTn>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881360" cy="292608"/>
          </a:xfrm>
          <a:prstGeom prst="rect">
            <a:avLst/>
          </a:prstGeom>
          <a:noFill/>
        </p:spPr>
        <p:txBody>
          <a:bodyPr wrap="square" lIns="0" rIns="0" tIns="0" bIns="0" anchor="t">
            <a:spAutoFit/>
          </a:bodyPr>
          <a:lstStyle/>
          <a:p>
            <a:pPr algn="l">
              <a:lnSpc>
                <a:spcPct val="100000"/>
              </a:lnSpc>
              <a:spcBef>
                <a:spcPts val="0"/>
              </a:spcBef>
              <a:spcAft>
                <a:spcPts val="0"/>
              </a:spcAft>
            </a:pPr>
            <a:r>
              <a:rPr sz="1250" b="1" i="0">
                <a:solidFill>
                  <a:srgbClr val="B8863B"/>
                </a:solidFill>
                <a:latin typeface="Calibri"/>
              </a:rPr>
              <a:t>RÉALISATION</a:t>
            </a:r>
          </a:p>
        </p:txBody>
      </p:sp>
      <p:sp>
        <p:nvSpPr>
          <p:cNvPr id="3" name="TextBox 2"/>
          <p:cNvSpPr txBox="1"/>
          <p:nvPr/>
        </p:nvSpPr>
        <p:spPr>
          <a:xfrm>
            <a:off x="640080" y="786384"/>
            <a:ext cx="10881360" cy="777240"/>
          </a:xfrm>
          <a:prstGeom prst="rect">
            <a:avLst/>
          </a:prstGeom>
          <a:noFill/>
        </p:spPr>
        <p:txBody>
          <a:bodyPr wrap="square" lIns="0" rIns="0" tIns="0" bIns="0" anchor="t">
            <a:spAutoFit/>
          </a:bodyPr>
          <a:lstStyle/>
          <a:p>
            <a:pPr algn="l">
              <a:lnSpc>
                <a:spcPct val="102000"/>
              </a:lnSpc>
              <a:spcBef>
                <a:spcPts val="0"/>
              </a:spcBef>
              <a:spcAft>
                <a:spcPts val="0"/>
              </a:spcAft>
            </a:pPr>
            <a:r>
              <a:rPr sz="2700" b="1" i="0">
                <a:solidFill>
                  <a:srgbClr val="0F5B4C"/>
                </a:solidFill>
                <a:latin typeface="Cambria"/>
              </a:rPr>
              <a:t>Un design cohérent, mobile et web</a:t>
            </a:r>
          </a:p>
        </p:txBody>
      </p:sp>
      <p:pic>
        <p:nvPicPr>
          <p:cNvPr id="4" name="Picture 3" descr="fig11_wireframe_mobile_client.png"/>
          <p:cNvPicPr>
            <a:picLocks noChangeAspect="1"/>
          </p:cNvPicPr>
          <p:nvPr/>
        </p:nvPicPr>
        <p:blipFill>
          <a:blip r:embed="rId2"/>
          <a:stretch>
            <a:fillRect/>
          </a:stretch>
        </p:blipFill>
        <p:spPr>
          <a:xfrm>
            <a:off x="640080" y="1417320"/>
            <a:ext cx="2606040" cy="4839788"/>
          </a:xfrm>
          <a:prstGeom prst="rect">
            <a:avLst/>
          </a:prstGeom>
        </p:spPr>
      </p:pic>
      <p:pic>
        <p:nvPicPr>
          <p:cNvPr id="5" name="Picture 4" descr="fig12_wireframe_mobile_commande.png"/>
          <p:cNvPicPr>
            <a:picLocks noChangeAspect="1"/>
          </p:cNvPicPr>
          <p:nvPr/>
        </p:nvPicPr>
        <p:blipFill>
          <a:blip r:embed="rId3"/>
          <a:stretch>
            <a:fillRect/>
          </a:stretch>
        </p:blipFill>
        <p:spPr>
          <a:xfrm>
            <a:off x="3590544" y="1417320"/>
            <a:ext cx="2282952" cy="4892040"/>
          </a:xfrm>
          <a:prstGeom prst="rect">
            <a:avLst/>
          </a:prstGeom>
        </p:spPr>
      </p:pic>
      <p:pic>
        <p:nvPicPr>
          <p:cNvPr id="6" name="Picture 5" descr="fig13_wireframe_backoffice_dashboard.png"/>
          <p:cNvPicPr>
            <a:picLocks noChangeAspect="1"/>
          </p:cNvPicPr>
          <p:nvPr/>
        </p:nvPicPr>
        <p:blipFill>
          <a:blip r:embed="rId4"/>
          <a:stretch>
            <a:fillRect/>
          </a:stretch>
        </p:blipFill>
        <p:spPr>
          <a:xfrm>
            <a:off x="6329770" y="1417320"/>
            <a:ext cx="5216978" cy="3246120"/>
          </a:xfrm>
          <a:prstGeom prst="rect">
            <a:avLst/>
          </a:prstGeom>
        </p:spPr>
      </p:pic>
      <p:sp>
        <p:nvSpPr>
          <p:cNvPr id="7" name="Rounded Rectangle 6"/>
          <p:cNvSpPr/>
          <p:nvPr/>
        </p:nvSpPr>
        <p:spPr>
          <a:xfrm>
            <a:off x="6309360" y="4892040"/>
            <a:ext cx="5257800" cy="1417320"/>
          </a:xfrm>
          <a:prstGeom prst="roundRect">
            <a:avLst>
              <a:gd name="adj" fmla="val 8000"/>
            </a:avLst>
          </a:prstGeom>
          <a:solidFill>
            <a:srgbClr val="F6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37960" y="5074920"/>
            <a:ext cx="4800600" cy="365760"/>
          </a:xfrm>
          <a:prstGeom prst="rect">
            <a:avLst/>
          </a:prstGeom>
          <a:noFill/>
        </p:spPr>
        <p:txBody>
          <a:bodyPr wrap="square" lIns="0" rIns="0" tIns="0" bIns="0" anchor="t">
            <a:spAutoFit/>
          </a:bodyPr>
          <a:lstStyle/>
          <a:p>
            <a:pPr algn="l">
              <a:lnSpc>
                <a:spcPct val="100000"/>
              </a:lnSpc>
              <a:spcBef>
                <a:spcPts val="0"/>
              </a:spcBef>
              <a:spcAft>
                <a:spcPts val="0"/>
              </a:spcAft>
            </a:pPr>
            <a:r>
              <a:rPr sz="1100" b="1" i="0">
                <a:solidFill>
                  <a:srgbClr val="B8863B"/>
                </a:solidFill>
                <a:latin typeface="Calibri"/>
              </a:rPr>
              <a:t>IDENTITÉ VISUELLE KAYÑIAWLU</a:t>
            </a:r>
          </a:p>
        </p:txBody>
      </p:sp>
      <p:sp>
        <p:nvSpPr>
          <p:cNvPr id="9" name="TextBox 8"/>
          <p:cNvSpPr txBox="1"/>
          <p:nvPr/>
        </p:nvSpPr>
        <p:spPr>
          <a:xfrm>
            <a:off x="6537960" y="5440680"/>
            <a:ext cx="4800600" cy="777240"/>
          </a:xfrm>
          <a:prstGeom prst="rect">
            <a:avLst/>
          </a:prstGeom>
          <a:noFill/>
        </p:spPr>
        <p:txBody>
          <a:bodyPr wrap="square" lIns="0" rIns="0" tIns="0" bIns="0" anchor="t">
            <a:spAutoFit/>
          </a:bodyPr>
          <a:lstStyle/>
          <a:p>
            <a:pPr algn="l">
              <a:lnSpc>
                <a:spcPct val="125000"/>
              </a:lnSpc>
              <a:spcBef>
                <a:spcPts val="0"/>
              </a:spcBef>
              <a:spcAft>
                <a:spcPts val="0"/>
              </a:spcAft>
            </a:pPr>
            <a:r>
              <a:rPr sz="1150" b="0" i="0">
                <a:solidFill>
                  <a:srgbClr val="24312B"/>
                </a:solidFill>
                <a:latin typeface="Calibri"/>
              </a:rPr>
              <a:t>Vert pin profond · Crème · Or · Terracotta — typographies Playfair Display (titres) et Poppins (texte), reprises à l'identique entre mobile et backoffice.</a:t>
            </a:r>
          </a:p>
        </p:txBody>
      </p:sp>
      <p:sp>
        <p:nvSpPr>
          <p:cNvPr id="10" name="TextBox 9"/>
          <p:cNvSpPr txBox="1"/>
          <p:nvPr/>
        </p:nvSpPr>
        <p:spPr>
          <a:xfrm>
            <a:off x="640080" y="6519672"/>
            <a:ext cx="7315200" cy="274320"/>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68796F"/>
                </a:solidFill>
                <a:latin typeface="Calibri"/>
              </a:rPr>
              <a:t>Kayñiawlu — Soutenance de mémoire</a:t>
            </a:r>
          </a:p>
        </p:txBody>
      </p:sp>
      <p:sp>
        <p:nvSpPr>
          <p:cNvPr id="11" name="TextBox 10"/>
          <p:cNvSpPr txBox="1"/>
          <p:nvPr/>
        </p:nvSpPr>
        <p:spPr>
          <a:xfrm>
            <a:off x="10180015" y="6519672"/>
            <a:ext cx="1371600" cy="274320"/>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8796F"/>
                </a:solidFill>
                <a:latin typeface="Calibri"/>
              </a:rPr>
              <a:t>24</a:t>
            </a:r>
          </a:p>
        </p:txBody>
      </p:sp>
    </p:spTree>
  </p:cSld>
  <p:clrMapOvr>
    <a:masterClrMapping/>
  </p:clrMapOvr>
  <p:transition spd="med">
    <p:fade/>
  </p:transition>
  <p:timing>
    <p:tnLst>
      <p:par>
        <p:cTn id="119" dur="indefinite" restart="never" nodeType="tmRoot">
          <p:childTnLst>
            <p:seq concurrent="1" nextAc="seek">
              <p:cTn id="120" dur="indefinite" nodeType="mainSeq">
                <p:childTnLst>
                  <p:par>
                    <p:cTn id="121" fill="hold">
                      <p:stCondLst>
                        <p:cond delay="0"/>
                      </p:stCondLst>
                      <p:childTnLst>
                        <p:par>
                          <p:cTn id="101" presetID="10" presetClass="entr" presetSubtype="0" fill="hold" grpId="0" nodeType="afterEffect">
                            <p:stCondLst>
                              <p:cond delay="0"/>
                            </p:stCondLst>
                            <p:childTnLst>
                              <p:set>
                                <p:cBhvr>
                                  <p:cTn id="102" dur="1" fill="hold">
                                    <p:stCondLst>
                                      <p:cond delay="0"/>
                                    </p:stCondLst>
                                  </p:cTn>
                                  <p:tgtEl>
                                    <p:spTgt spid="4"/>
                                  </p:tgtEl>
                                  <p:attrNameLst>
                                    <p:attrName>style.visibility</p:attrName>
                                  </p:attrNameLst>
                                </p:cBhvr>
                                <p:to>
                                  <p:strVal val="visible"/>
                                </p:to>
                              </p:set>
                              <p:animEffect transition="in" filter="fade">
                                <p:cBhvr>
                                  <p:cTn id="103" dur="420"/>
                                  <p:tgtEl>
                                    <p:spTgt spid="4"/>
                                  </p:tgtEl>
                                </p:cBhvr>
                              </p:animEffect>
                            </p:childTnLst>
                          </p:cTn>
                        </p:par>
                        <p:par>
                          <p:cTn id="104" presetID="10" presetClass="entr" presetSubtype="0" fill="hold" grpId="0" nodeType="afterEffect">
                            <p:stCondLst>
                              <p:cond delay="200"/>
                            </p:stCondLst>
                            <p:childTnLst>
                              <p:set>
                                <p:cBhvr>
                                  <p:cTn id="105" dur="1" fill="hold">
                                    <p:stCondLst>
                                      <p:cond delay="0"/>
                                    </p:stCondLst>
                                  </p:cTn>
                                  <p:tgtEl>
                                    <p:spTgt spid="5"/>
                                  </p:tgtEl>
                                  <p:attrNameLst>
                                    <p:attrName>style.visibility</p:attrName>
                                  </p:attrNameLst>
                                </p:cBhvr>
                                <p:to>
                                  <p:strVal val="visible"/>
                                </p:to>
                              </p:set>
                              <p:animEffect transition="in" filter="fade">
                                <p:cBhvr>
                                  <p:cTn id="106" dur="420"/>
                                  <p:tgtEl>
                                    <p:spTgt spid="5"/>
                                  </p:tgtEl>
                                </p:cBhvr>
                              </p:animEffect>
                            </p:childTnLst>
                          </p:cTn>
                        </p:par>
                        <p:par>
                          <p:cTn id="107" presetID="10" presetClass="entr" presetSubtype="0" fill="hold" grpId="0" nodeType="afterEffect">
                            <p:stCondLst>
                              <p:cond delay="400"/>
                            </p:stCondLst>
                            <p:childTnLst>
                              <p:set>
                                <p:cBhvr>
                                  <p:cTn id="108" dur="1" fill="hold">
                                    <p:stCondLst>
                                      <p:cond delay="0"/>
                                    </p:stCondLst>
                                  </p:cTn>
                                  <p:tgtEl>
                                    <p:spTgt spid="6"/>
                                  </p:tgtEl>
                                  <p:attrNameLst>
                                    <p:attrName>style.visibility</p:attrName>
                                  </p:attrNameLst>
                                </p:cBhvr>
                                <p:to>
                                  <p:strVal val="visible"/>
                                </p:to>
                              </p:set>
                              <p:animEffect transition="in" filter="fade">
                                <p:cBhvr>
                                  <p:cTn id="109" dur="420"/>
                                  <p:tgtEl>
                                    <p:spTgt spid="6"/>
                                  </p:tgtEl>
                                </p:cBhvr>
                              </p:animEffect>
                            </p:childTnLst>
                          </p:cTn>
                        </p:par>
                        <p:par>
                          <p:cTn id="110" presetID="10" presetClass="entr" presetSubtype="0" fill="hold" grpId="0" nodeType="afterEffect">
                            <p:stCondLst>
                              <p:cond delay="600"/>
                            </p:stCondLst>
                            <p:childTnLst>
                              <p:set>
                                <p:cBhvr>
                                  <p:cTn id="111" dur="1" fill="hold">
                                    <p:stCondLst>
                                      <p:cond delay="0"/>
                                    </p:stCondLst>
                                  </p:cTn>
                                  <p:tgtEl>
                                    <p:spTgt spid="7"/>
                                  </p:tgtEl>
                                  <p:attrNameLst>
                                    <p:attrName>style.visibility</p:attrName>
                                  </p:attrNameLst>
                                </p:cBhvr>
                                <p:to>
                                  <p:strVal val="visible"/>
                                </p:to>
                              </p:set>
                              <p:animEffect transition="in" filter="fade">
                                <p:cBhvr>
                                  <p:cTn id="112" dur="420"/>
                                  <p:tgtEl>
                                    <p:spTgt spid="7"/>
                                  </p:tgtEl>
                                </p:cBhvr>
                              </p:animEffect>
                            </p:childTnLst>
                          </p:cTn>
                        </p:par>
                        <p:par>
                          <p:cTn id="113" presetID="10" presetClass="entr" presetSubtype="0" fill="hold" grpId="0" nodeType="afterEffect">
                            <p:stCondLst>
                              <p:cond delay="600"/>
                            </p:stCondLst>
                            <p:childTnLst>
                              <p:set>
                                <p:cBhvr>
                                  <p:cTn id="114" dur="1" fill="hold">
                                    <p:stCondLst>
                                      <p:cond delay="0"/>
                                    </p:stCondLst>
                                  </p:cTn>
                                  <p:tgtEl>
                                    <p:spTgt spid="8"/>
                                  </p:tgtEl>
                                  <p:attrNameLst>
                                    <p:attrName>style.visibility</p:attrName>
                                  </p:attrNameLst>
                                </p:cBhvr>
                                <p:to>
                                  <p:strVal val="visible"/>
                                </p:to>
                              </p:set>
                              <p:animEffect transition="in" filter="fade">
                                <p:cBhvr>
                                  <p:cTn id="115" dur="420"/>
                                  <p:tgtEl>
                                    <p:spTgt spid="8"/>
                                  </p:tgtEl>
                                </p:cBhvr>
                              </p:animEffect>
                            </p:childTnLst>
                          </p:cTn>
                        </p:par>
                        <p:par>
                          <p:cTn id="116" presetID="10" presetClass="entr" presetSubtype="0" fill="hold" grpId="0" nodeType="afterEffect">
                            <p:stCondLst>
                              <p:cond delay="600"/>
                            </p:stCondLst>
                            <p:childTnLst>
                              <p:set>
                                <p:cBhvr>
                                  <p:cTn id="117" dur="1" fill="hold">
                                    <p:stCondLst>
                                      <p:cond delay="0"/>
                                    </p:stCondLst>
                                  </p:cTn>
                                  <p:tgtEl>
                                    <p:spTgt spid="9"/>
                                  </p:tgtEl>
                                  <p:attrNameLst>
                                    <p:attrName>style.visibility</p:attrName>
                                  </p:attrNameLst>
                                </p:cBhvr>
                                <p:to>
                                  <p:strVal val="visible"/>
                                </p:to>
                              </p:set>
                              <p:animEffect transition="in" filter="fade">
                                <p:cBhvr>
                                  <p:cTn id="118" dur="420"/>
                                  <p:tgtEl>
                                    <p:spTgt spid="9"/>
                                  </p:tgtEl>
                                </p:cBhvr>
                              </p:animEffect>
                            </p:childTnLst>
                          </p:cTn>
                        </p:par>
                      </p:childTnLst>
                    </p:cTn>
                  </p:par>
                </p:childTnLst>
              </p:cTn>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F5B4C"/>
        </a:solidFill>
        <a:effectLst/>
      </p:bgPr>
    </p:bg>
    <p:spTree>
      <p:nvGrpSpPr>
        <p:cNvPr id="1" name=""/>
        <p:cNvGrpSpPr/>
        <p:nvPr/>
      </p:nvGrpSpPr>
      <p:grpSpPr/>
      <p:sp>
        <p:nvSpPr>
          <p:cNvPr id="2" name="TextBox 1"/>
          <p:cNvSpPr txBox="1"/>
          <p:nvPr/>
        </p:nvSpPr>
        <p:spPr>
          <a:xfrm>
            <a:off x="640080" y="457200"/>
            <a:ext cx="10881360" cy="292608"/>
          </a:xfrm>
          <a:prstGeom prst="rect">
            <a:avLst/>
          </a:prstGeom>
          <a:noFill/>
        </p:spPr>
        <p:txBody>
          <a:bodyPr wrap="square" lIns="0" rIns="0" tIns="0" bIns="0" anchor="t">
            <a:spAutoFit/>
          </a:bodyPr>
          <a:lstStyle/>
          <a:p>
            <a:pPr algn="l">
              <a:lnSpc>
                <a:spcPct val="100000"/>
              </a:lnSpc>
              <a:spcBef>
                <a:spcPts val="0"/>
              </a:spcBef>
              <a:spcAft>
                <a:spcPts val="0"/>
              </a:spcAft>
            </a:pPr>
            <a:r>
              <a:rPr sz="1250" b="1" i="0">
                <a:solidFill>
                  <a:srgbClr val="E6BD7C"/>
                </a:solidFill>
                <a:latin typeface="Calibri"/>
              </a:rPr>
              <a:t>RÉALISATION</a:t>
            </a:r>
          </a:p>
        </p:txBody>
      </p:sp>
      <p:sp>
        <p:nvSpPr>
          <p:cNvPr id="3" name="TextBox 2"/>
          <p:cNvSpPr txBox="1"/>
          <p:nvPr/>
        </p:nvSpPr>
        <p:spPr>
          <a:xfrm>
            <a:off x="640080" y="786384"/>
            <a:ext cx="10881360" cy="777240"/>
          </a:xfrm>
          <a:prstGeom prst="rect">
            <a:avLst/>
          </a:prstGeom>
          <a:noFill/>
        </p:spPr>
        <p:txBody>
          <a:bodyPr wrap="square" lIns="0" rIns="0" tIns="0" bIns="0" anchor="t">
            <a:spAutoFit/>
          </a:bodyPr>
          <a:lstStyle/>
          <a:p>
            <a:pPr algn="l">
              <a:lnSpc>
                <a:spcPct val="102000"/>
              </a:lnSpc>
              <a:spcBef>
                <a:spcPts val="0"/>
              </a:spcBef>
              <a:spcAft>
                <a:spcPts val="0"/>
              </a:spcAft>
            </a:pPr>
            <a:r>
              <a:rPr sz="2700" b="1" i="0">
                <a:solidFill>
                  <a:srgbClr val="FFFFFF"/>
                </a:solidFill>
                <a:latin typeface="Cambria"/>
              </a:rPr>
              <a:t>Un déploiement reproductible, une qualité outillée</a:t>
            </a:r>
          </a:p>
        </p:txBody>
      </p:sp>
      <p:sp>
        <p:nvSpPr>
          <p:cNvPr id="4" name="Rounded Rectangle 3"/>
          <p:cNvSpPr/>
          <p:nvPr/>
        </p:nvSpPr>
        <p:spPr>
          <a:xfrm>
            <a:off x="640080" y="1463040"/>
            <a:ext cx="10881360" cy="1874519"/>
          </a:xfrm>
          <a:prstGeom prst="roundRect">
            <a:avLst>
              <a:gd name="adj" fmla="val 6000"/>
            </a:avLst>
          </a:prstGeom>
          <a:solidFill>
            <a:srgbClr val="FFFFFF"/>
          </a:solidFill>
          <a:ln>
            <a:noFill/>
          </a:ln>
          <a:effectLst>
            <a:outerShdw blurRad="127000" dist="38100" dir="5400000" rotWithShape="0">
              <a:srgbClr val="1A10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10_deploiement_docker.png"/>
          <p:cNvPicPr>
            <a:picLocks noChangeAspect="1"/>
          </p:cNvPicPr>
          <p:nvPr/>
        </p:nvPicPr>
        <p:blipFill>
          <a:blip r:embed="rId2"/>
          <a:stretch>
            <a:fillRect/>
          </a:stretch>
        </p:blipFill>
        <p:spPr>
          <a:xfrm>
            <a:off x="1855541" y="1691640"/>
            <a:ext cx="8450436" cy="1417320"/>
          </a:xfrm>
          <a:prstGeom prst="rect">
            <a:avLst/>
          </a:prstGeom>
        </p:spPr>
      </p:pic>
      <p:sp>
        <p:nvSpPr>
          <p:cNvPr id="6" name="Oval 5"/>
          <p:cNvSpPr/>
          <p:nvPr/>
        </p:nvSpPr>
        <p:spPr>
          <a:xfrm>
            <a:off x="640080" y="3703320"/>
            <a:ext cx="457200" cy="457200"/>
          </a:xfrm>
          <a:prstGeom prst="ellipse">
            <a:avLst/>
          </a:prstGeom>
          <a:solidFill>
            <a:srgbClr val="B8863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700" b="1">
                <a:solidFill>
                  <a:srgbClr val="0F5B4C"/>
                </a:solidFill>
                <a:latin typeface="Calibri"/>
              </a:rPr>
              <a:t>✓</a:t>
            </a:r>
          </a:p>
        </p:txBody>
      </p:sp>
      <p:sp>
        <p:nvSpPr>
          <p:cNvPr id="7" name="TextBox 6"/>
          <p:cNvSpPr txBox="1"/>
          <p:nvPr/>
        </p:nvSpPr>
        <p:spPr>
          <a:xfrm>
            <a:off x="1280160" y="3703320"/>
            <a:ext cx="4617720" cy="457200"/>
          </a:xfrm>
          <a:prstGeom prst="rect">
            <a:avLst/>
          </a:prstGeom>
          <a:noFill/>
        </p:spPr>
        <p:txBody>
          <a:bodyPr wrap="square" lIns="0" rIns="0" tIns="0" bIns="0" anchor="ctr">
            <a:spAutoFit/>
          </a:bodyPr>
          <a:lstStyle/>
          <a:p>
            <a:pPr algn="l">
              <a:lnSpc>
                <a:spcPct val="100000"/>
              </a:lnSpc>
              <a:spcBef>
                <a:spcPts val="0"/>
              </a:spcBef>
              <a:spcAft>
                <a:spcPts val="0"/>
              </a:spcAft>
            </a:pPr>
            <a:r>
              <a:rPr sz="1600" b="1" i="0">
                <a:solidFill>
                  <a:srgbClr val="FFFFFF"/>
                </a:solidFill>
                <a:latin typeface="Cambria"/>
              </a:rPr>
              <a:t>Tests automatisés</a:t>
            </a:r>
          </a:p>
        </p:txBody>
      </p:sp>
      <p:sp>
        <p:nvSpPr>
          <p:cNvPr id="8" name="TextBox 7"/>
          <p:cNvSpPr txBox="1"/>
          <p:nvPr/>
        </p:nvSpPr>
        <p:spPr>
          <a:xfrm>
            <a:off x="640080" y="4297680"/>
            <a:ext cx="5257800" cy="1463040"/>
          </a:xfrm>
          <a:prstGeom prst="rect">
            <a:avLst/>
          </a:prstGeom>
          <a:noFill/>
        </p:spPr>
        <p:txBody>
          <a:bodyPr wrap="square" lIns="0" rIns="0" tIns="0" bIns="0" anchor="t">
            <a:spAutoFit/>
          </a:bodyPr>
          <a:lstStyle/>
          <a:p>
            <a:pPr algn="l">
              <a:lnSpc>
                <a:spcPct val="130000"/>
              </a:lnSpc>
              <a:spcBef>
                <a:spcPts val="0"/>
              </a:spcBef>
              <a:spcAft>
                <a:spcPts val="0"/>
              </a:spcAft>
            </a:pPr>
            <a:r>
              <a:rPr sz="1250" b="0" i="0">
                <a:solidFill>
                  <a:srgbClr val="A7BCB1"/>
                </a:solidFill>
                <a:latin typeface="Calibri"/>
              </a:rPr>
              <a:t>Suite de tests Laravel : authentification, isolation multi-tenant, CRUD des ressources, requêtes GraphQL, commandes multi-lignes.</a:t>
            </a:r>
          </a:p>
        </p:txBody>
      </p:sp>
      <p:sp>
        <p:nvSpPr>
          <p:cNvPr id="9" name="Oval 8"/>
          <p:cNvSpPr/>
          <p:nvPr/>
        </p:nvSpPr>
        <p:spPr>
          <a:xfrm>
            <a:off x="6263640" y="3703320"/>
            <a:ext cx="457200" cy="457200"/>
          </a:xfrm>
          <a:prstGeom prst="ellipse">
            <a:avLst/>
          </a:prstGeom>
          <a:solidFill>
            <a:srgbClr val="B8863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700" b="1">
                <a:solidFill>
                  <a:srgbClr val="0F5B4C"/>
                </a:solidFill>
                <a:latin typeface="Calibri"/>
              </a:rPr>
              <a:t>✓</a:t>
            </a:r>
          </a:p>
        </p:txBody>
      </p:sp>
      <p:sp>
        <p:nvSpPr>
          <p:cNvPr id="10" name="TextBox 9"/>
          <p:cNvSpPr txBox="1"/>
          <p:nvPr/>
        </p:nvSpPr>
        <p:spPr>
          <a:xfrm>
            <a:off x="6903720" y="3703320"/>
            <a:ext cx="4617720" cy="457200"/>
          </a:xfrm>
          <a:prstGeom prst="rect">
            <a:avLst/>
          </a:prstGeom>
          <a:noFill/>
        </p:spPr>
        <p:txBody>
          <a:bodyPr wrap="square" lIns="0" rIns="0" tIns="0" bIns="0" anchor="ctr">
            <a:spAutoFit/>
          </a:bodyPr>
          <a:lstStyle/>
          <a:p>
            <a:pPr algn="l">
              <a:lnSpc>
                <a:spcPct val="100000"/>
              </a:lnSpc>
              <a:spcBef>
                <a:spcPts val="0"/>
              </a:spcBef>
              <a:spcAft>
                <a:spcPts val="0"/>
              </a:spcAft>
            </a:pPr>
            <a:r>
              <a:rPr sz="1600" b="1" i="0">
                <a:solidFill>
                  <a:srgbClr val="FFFFFF"/>
                </a:solidFill>
                <a:latin typeface="Cambria"/>
              </a:rPr>
              <a:t>Supervision Sentry</a:t>
            </a:r>
          </a:p>
        </p:txBody>
      </p:sp>
      <p:sp>
        <p:nvSpPr>
          <p:cNvPr id="11" name="TextBox 10"/>
          <p:cNvSpPr txBox="1"/>
          <p:nvPr/>
        </p:nvSpPr>
        <p:spPr>
          <a:xfrm>
            <a:off x="6263640" y="4297680"/>
            <a:ext cx="5257800" cy="1463040"/>
          </a:xfrm>
          <a:prstGeom prst="rect">
            <a:avLst/>
          </a:prstGeom>
          <a:noFill/>
        </p:spPr>
        <p:txBody>
          <a:bodyPr wrap="square" lIns="0" rIns="0" tIns="0" bIns="0" anchor="t">
            <a:spAutoFit/>
          </a:bodyPr>
          <a:lstStyle/>
          <a:p>
            <a:pPr algn="l">
              <a:lnSpc>
                <a:spcPct val="130000"/>
              </a:lnSpc>
              <a:spcBef>
                <a:spcPts val="0"/>
              </a:spcBef>
              <a:spcAft>
                <a:spcPts val="0"/>
              </a:spcAft>
            </a:pPr>
            <a:r>
              <a:rPr sz="1250" b="0" i="0">
                <a:solidFill>
                  <a:srgbClr val="A7BCB1"/>
                </a:solidFill>
                <a:latin typeface="Calibri"/>
              </a:rPr>
              <a:t>Intégrée sur les 4 applications (backend, backoffice, mobile, landing page) : capture et centralisation des erreurs en production.</a:t>
            </a:r>
          </a:p>
        </p:txBody>
      </p:sp>
      <p:sp>
        <p:nvSpPr>
          <p:cNvPr id="12" name="TextBox 11"/>
          <p:cNvSpPr txBox="1"/>
          <p:nvPr/>
        </p:nvSpPr>
        <p:spPr>
          <a:xfrm>
            <a:off x="640080" y="6519672"/>
            <a:ext cx="7315200" cy="274320"/>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A7BCB1"/>
                </a:solidFill>
                <a:latin typeface="Calibri"/>
              </a:rPr>
              <a:t>Kayñiawlu — Soutenance de mémoire</a:t>
            </a:r>
          </a:p>
        </p:txBody>
      </p:sp>
      <p:sp>
        <p:nvSpPr>
          <p:cNvPr id="13" name="TextBox 12"/>
          <p:cNvSpPr txBox="1"/>
          <p:nvPr/>
        </p:nvSpPr>
        <p:spPr>
          <a:xfrm>
            <a:off x="10180015" y="6519672"/>
            <a:ext cx="1371600" cy="274320"/>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A7BCB1"/>
                </a:solidFill>
                <a:latin typeface="Calibri"/>
              </a:rPr>
              <a:t>25</a:t>
            </a:r>
          </a:p>
        </p:txBody>
      </p:sp>
    </p:spTree>
  </p:cSld>
  <p:clrMapOvr>
    <a:masterClrMapping/>
  </p:clrMapOvr>
  <p:transition spd="med">
    <p:fade/>
  </p:transition>
  <p:timing>
    <p:tnLst>
      <p:par>
        <p:cTn id="125" dur="indefinite" restart="never" nodeType="tmRoot">
          <p:childTnLst>
            <p:seq concurrent="1" nextAc="seek">
              <p:cTn id="126" dur="indefinite" nodeType="mainSeq">
                <p:childTnLst>
                  <p:par>
                    <p:cTn id="127" fill="hold">
                      <p:stCondLst>
                        <p:cond delay="0"/>
                      </p:stCondLst>
                      <p:childTnLst>
                        <p:par>
                          <p:cTn id="101" presetID="10" presetClass="entr" presetSubtype="0" fill="hold" grpId="0" nodeType="afterEffect">
                            <p:stCondLst>
                              <p:cond delay="0"/>
                            </p:stCondLst>
                            <p:childTnLst>
                              <p:set>
                                <p:cBhvr>
                                  <p:cTn id="102" dur="1" fill="hold">
                                    <p:stCondLst>
                                      <p:cond delay="0"/>
                                    </p:stCondLst>
                                  </p:cTn>
                                  <p:tgtEl>
                                    <p:spTgt spid="4"/>
                                  </p:tgtEl>
                                  <p:attrNameLst>
                                    <p:attrName>style.visibility</p:attrName>
                                  </p:attrNameLst>
                                </p:cBhvr>
                                <p:to>
                                  <p:strVal val="visible"/>
                                </p:to>
                              </p:set>
                              <p:animEffect transition="in" filter="fade">
                                <p:cBhvr>
                                  <p:cTn id="103" dur="420"/>
                                  <p:tgtEl>
                                    <p:spTgt spid="4"/>
                                  </p:tgtEl>
                                </p:cBhvr>
                              </p:animEffect>
                            </p:childTnLst>
                          </p:cTn>
                        </p:par>
                        <p:par>
                          <p:cTn id="104" presetID="10" presetClass="entr" presetSubtype="0" fill="hold" grpId="0" nodeType="afterEffect">
                            <p:stCondLst>
                              <p:cond delay="0"/>
                            </p:stCondLst>
                            <p:childTnLst>
                              <p:set>
                                <p:cBhvr>
                                  <p:cTn id="105" dur="1" fill="hold">
                                    <p:stCondLst>
                                      <p:cond delay="0"/>
                                    </p:stCondLst>
                                  </p:cTn>
                                  <p:tgtEl>
                                    <p:spTgt spid="5"/>
                                  </p:tgtEl>
                                  <p:attrNameLst>
                                    <p:attrName>style.visibility</p:attrName>
                                  </p:attrNameLst>
                                </p:cBhvr>
                                <p:to>
                                  <p:strVal val="visible"/>
                                </p:to>
                              </p:set>
                              <p:animEffect transition="in" filter="fade">
                                <p:cBhvr>
                                  <p:cTn id="106" dur="420"/>
                                  <p:tgtEl>
                                    <p:spTgt spid="5"/>
                                  </p:tgtEl>
                                </p:cBhvr>
                              </p:animEffect>
                            </p:childTnLst>
                          </p:cTn>
                        </p:par>
                        <p:par>
                          <p:cTn id="107" presetID="10" presetClass="entr" presetSubtype="0" fill="hold" grpId="0" nodeType="afterEffect">
                            <p:stCondLst>
                              <p:cond delay="220"/>
                            </p:stCondLst>
                            <p:childTnLst>
                              <p:set>
                                <p:cBhvr>
                                  <p:cTn id="108" dur="1" fill="hold">
                                    <p:stCondLst>
                                      <p:cond delay="0"/>
                                    </p:stCondLst>
                                  </p:cTn>
                                  <p:tgtEl>
                                    <p:spTgt spid="6"/>
                                  </p:tgtEl>
                                  <p:attrNameLst>
                                    <p:attrName>style.visibility</p:attrName>
                                  </p:attrNameLst>
                                </p:cBhvr>
                                <p:to>
                                  <p:strVal val="visible"/>
                                </p:to>
                              </p:set>
                              <p:animEffect transition="in" filter="fade">
                                <p:cBhvr>
                                  <p:cTn id="109" dur="420"/>
                                  <p:tgtEl>
                                    <p:spTgt spid="6"/>
                                  </p:tgtEl>
                                </p:cBhvr>
                              </p:animEffect>
                            </p:childTnLst>
                          </p:cTn>
                        </p:par>
                        <p:par>
                          <p:cTn id="110" presetID="10" presetClass="entr" presetSubtype="0" fill="hold" grpId="0" nodeType="afterEffect">
                            <p:stCondLst>
                              <p:cond delay="220"/>
                            </p:stCondLst>
                            <p:childTnLst>
                              <p:set>
                                <p:cBhvr>
                                  <p:cTn id="111" dur="1" fill="hold">
                                    <p:stCondLst>
                                      <p:cond delay="0"/>
                                    </p:stCondLst>
                                  </p:cTn>
                                  <p:tgtEl>
                                    <p:spTgt spid="7"/>
                                  </p:tgtEl>
                                  <p:attrNameLst>
                                    <p:attrName>style.visibility</p:attrName>
                                  </p:attrNameLst>
                                </p:cBhvr>
                                <p:to>
                                  <p:strVal val="visible"/>
                                </p:to>
                              </p:set>
                              <p:animEffect transition="in" filter="fade">
                                <p:cBhvr>
                                  <p:cTn id="112" dur="420"/>
                                  <p:tgtEl>
                                    <p:spTgt spid="7"/>
                                  </p:tgtEl>
                                </p:cBhvr>
                              </p:animEffect>
                            </p:childTnLst>
                          </p:cTn>
                        </p:par>
                        <p:par>
                          <p:cTn id="113" presetID="10" presetClass="entr" presetSubtype="0" fill="hold" grpId="0" nodeType="afterEffect">
                            <p:stCondLst>
                              <p:cond delay="220"/>
                            </p:stCondLst>
                            <p:childTnLst>
                              <p:set>
                                <p:cBhvr>
                                  <p:cTn id="114" dur="1" fill="hold">
                                    <p:stCondLst>
                                      <p:cond delay="0"/>
                                    </p:stCondLst>
                                  </p:cTn>
                                  <p:tgtEl>
                                    <p:spTgt spid="8"/>
                                  </p:tgtEl>
                                  <p:attrNameLst>
                                    <p:attrName>style.visibility</p:attrName>
                                  </p:attrNameLst>
                                </p:cBhvr>
                                <p:to>
                                  <p:strVal val="visible"/>
                                </p:to>
                              </p:set>
                              <p:animEffect transition="in" filter="fade">
                                <p:cBhvr>
                                  <p:cTn id="115" dur="420"/>
                                  <p:tgtEl>
                                    <p:spTgt spid="8"/>
                                  </p:tgtEl>
                                </p:cBhvr>
                              </p:animEffect>
                            </p:childTnLst>
                          </p:cTn>
                        </p:par>
                        <p:par>
                          <p:cTn id="116" presetID="10" presetClass="entr" presetSubtype="0" fill="hold" grpId="0" nodeType="afterEffect">
                            <p:stCondLst>
                              <p:cond delay="440"/>
                            </p:stCondLst>
                            <p:childTnLst>
                              <p:set>
                                <p:cBhvr>
                                  <p:cTn id="117" dur="1" fill="hold">
                                    <p:stCondLst>
                                      <p:cond delay="0"/>
                                    </p:stCondLst>
                                  </p:cTn>
                                  <p:tgtEl>
                                    <p:spTgt spid="9"/>
                                  </p:tgtEl>
                                  <p:attrNameLst>
                                    <p:attrName>style.visibility</p:attrName>
                                  </p:attrNameLst>
                                </p:cBhvr>
                                <p:to>
                                  <p:strVal val="visible"/>
                                </p:to>
                              </p:set>
                              <p:animEffect transition="in" filter="fade">
                                <p:cBhvr>
                                  <p:cTn id="118" dur="420"/>
                                  <p:tgtEl>
                                    <p:spTgt spid="9"/>
                                  </p:tgtEl>
                                </p:cBhvr>
                              </p:animEffect>
                            </p:childTnLst>
                          </p:cTn>
                        </p:par>
                        <p:par>
                          <p:cTn id="119" presetID="10" presetClass="entr" presetSubtype="0" fill="hold" grpId="0" nodeType="afterEffect">
                            <p:stCondLst>
                              <p:cond delay="440"/>
                            </p:stCondLst>
                            <p:childTnLst>
                              <p:set>
                                <p:cBhvr>
                                  <p:cTn id="120" dur="1" fill="hold">
                                    <p:stCondLst>
                                      <p:cond delay="0"/>
                                    </p:stCondLst>
                                  </p:cTn>
                                  <p:tgtEl>
                                    <p:spTgt spid="10"/>
                                  </p:tgtEl>
                                  <p:attrNameLst>
                                    <p:attrName>style.visibility</p:attrName>
                                  </p:attrNameLst>
                                </p:cBhvr>
                                <p:to>
                                  <p:strVal val="visible"/>
                                </p:to>
                              </p:set>
                              <p:animEffect transition="in" filter="fade">
                                <p:cBhvr>
                                  <p:cTn id="121" dur="420"/>
                                  <p:tgtEl>
                                    <p:spTgt spid="10"/>
                                  </p:tgtEl>
                                </p:cBhvr>
                              </p:animEffect>
                            </p:childTnLst>
                          </p:cTn>
                        </p:par>
                        <p:par>
                          <p:cTn id="122" presetID="10" presetClass="entr" presetSubtype="0" fill="hold" grpId="0" nodeType="afterEffect">
                            <p:stCondLst>
                              <p:cond delay="440"/>
                            </p:stCondLst>
                            <p:childTnLst>
                              <p:set>
                                <p:cBhvr>
                                  <p:cTn id="123" dur="1" fill="hold">
                                    <p:stCondLst>
                                      <p:cond delay="0"/>
                                    </p:stCondLst>
                                  </p:cTn>
                                  <p:tgtEl>
                                    <p:spTgt spid="11"/>
                                  </p:tgtEl>
                                  <p:attrNameLst>
                                    <p:attrName>style.visibility</p:attrName>
                                  </p:attrNameLst>
                                </p:cBhvr>
                                <p:to>
                                  <p:strVal val="visible"/>
                                </p:to>
                              </p:set>
                              <p:animEffect transition="in" filter="fade">
                                <p:cBhvr>
                                  <p:cTn id="124" dur="420"/>
                                  <p:tgtEl>
                                    <p:spTgt spid="11"/>
                                  </p:tgtEl>
                                </p:cBhvr>
                              </p:animEffect>
                            </p:childTnLst>
                          </p:cTn>
                        </p:par>
                      </p:childTnLst>
                    </p:cTn>
                  </p:par>
                </p:childTnLst>
              </p:cTn>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F5B4C"/>
        </a:solidFill>
        <a:effectLst/>
      </p:bgPr>
    </p:bg>
    <p:spTree>
      <p:nvGrpSpPr>
        <p:cNvPr id="1" name=""/>
        <p:cNvGrpSpPr/>
        <p:nvPr/>
      </p:nvGrpSpPr>
      <p:grpSpPr/>
      <p:sp>
        <p:nvSpPr>
          <p:cNvPr id="2" name="TextBox 1"/>
          <p:cNvSpPr txBox="1"/>
          <p:nvPr/>
        </p:nvSpPr>
        <p:spPr>
          <a:xfrm>
            <a:off x="777240" y="502920"/>
            <a:ext cx="4114800" cy="1828800"/>
          </a:xfrm>
          <a:prstGeom prst="rect">
            <a:avLst/>
          </a:prstGeom>
          <a:noFill/>
        </p:spPr>
        <p:txBody>
          <a:bodyPr wrap="square" lIns="0" rIns="0" tIns="0" bIns="0" anchor="t">
            <a:spAutoFit/>
          </a:bodyPr>
          <a:lstStyle/>
          <a:p>
            <a:pPr algn="l">
              <a:lnSpc>
                <a:spcPct val="100000"/>
              </a:lnSpc>
              <a:spcBef>
                <a:spcPts val="0"/>
              </a:spcBef>
              <a:spcAft>
                <a:spcPts val="0"/>
              </a:spcAft>
            </a:pPr>
            <a:r>
              <a:rPr sz="14000" b="1" i="0">
                <a:solidFill>
                  <a:srgbClr val="1B7A66"/>
                </a:solidFill>
                <a:latin typeface="Cambria"/>
              </a:rPr>
              <a:t>05</a:t>
            </a:r>
          </a:p>
        </p:txBody>
      </p:sp>
      <p:sp>
        <p:nvSpPr>
          <p:cNvPr id="3" name="TextBox 2"/>
          <p:cNvSpPr txBox="1"/>
          <p:nvPr/>
        </p:nvSpPr>
        <p:spPr>
          <a:xfrm>
            <a:off x="868680" y="2880360"/>
            <a:ext cx="10058400" cy="1005840"/>
          </a:xfrm>
          <a:prstGeom prst="rect">
            <a:avLst/>
          </a:prstGeom>
          <a:noFill/>
        </p:spPr>
        <p:txBody>
          <a:bodyPr wrap="square" lIns="0" rIns="0" tIns="0" bIns="0" anchor="t">
            <a:spAutoFit/>
          </a:bodyPr>
          <a:lstStyle/>
          <a:p>
            <a:pPr algn="l">
              <a:lnSpc>
                <a:spcPct val="100000"/>
              </a:lnSpc>
              <a:spcBef>
                <a:spcPts val="0"/>
              </a:spcBef>
              <a:spcAft>
                <a:spcPts val="0"/>
              </a:spcAft>
            </a:pPr>
            <a:r>
              <a:rPr sz="4200" b="1" i="0">
                <a:solidFill>
                  <a:srgbClr val="FFFFFF"/>
                </a:solidFill>
                <a:latin typeface="Cambria"/>
              </a:rPr>
              <a:t>Conclusion</a:t>
            </a:r>
          </a:p>
        </p:txBody>
      </p:sp>
      <p:sp>
        <p:nvSpPr>
          <p:cNvPr id="4" name="TextBox 3"/>
          <p:cNvSpPr txBox="1"/>
          <p:nvPr/>
        </p:nvSpPr>
        <p:spPr>
          <a:xfrm>
            <a:off x="868680" y="3794760"/>
            <a:ext cx="10058400" cy="548640"/>
          </a:xfrm>
          <a:prstGeom prst="rect">
            <a:avLst/>
          </a:prstGeom>
          <a:noFill/>
        </p:spPr>
        <p:txBody>
          <a:bodyPr wrap="square" lIns="0" rIns="0" tIns="0" bIns="0" anchor="t">
            <a:spAutoFit/>
          </a:bodyPr>
          <a:lstStyle/>
          <a:p>
            <a:pPr algn="l">
              <a:lnSpc>
                <a:spcPct val="100000"/>
              </a:lnSpc>
              <a:spcBef>
                <a:spcPts val="0"/>
              </a:spcBef>
              <a:spcAft>
                <a:spcPts val="0"/>
              </a:spcAft>
            </a:pPr>
            <a:r>
              <a:rPr sz="1700" b="0" i="1">
                <a:solidFill>
                  <a:srgbClr val="E6BD7C"/>
                </a:solidFill>
                <a:latin typeface="Calibri"/>
              </a:rPr>
              <a:t>Résultats atteints, limites et perspectives</a:t>
            </a:r>
          </a:p>
        </p:txBody>
      </p:sp>
      <p:sp>
        <p:nvSpPr>
          <p:cNvPr id="5" name="TextBox 4"/>
          <p:cNvSpPr txBox="1"/>
          <p:nvPr/>
        </p:nvSpPr>
        <p:spPr>
          <a:xfrm>
            <a:off x="868680" y="6263640"/>
            <a:ext cx="10058400" cy="320040"/>
          </a:xfrm>
          <a:prstGeom prst="rect">
            <a:avLst/>
          </a:prstGeom>
          <a:noFill/>
        </p:spPr>
        <p:txBody>
          <a:bodyPr wrap="square" lIns="0" rIns="0" tIns="0" bIns="0" anchor="t">
            <a:spAutoFit/>
          </a:bodyPr>
          <a:lstStyle/>
          <a:p>
            <a:pPr algn="l">
              <a:lnSpc>
                <a:spcPct val="100000"/>
              </a:lnSpc>
              <a:spcBef>
                <a:spcPts val="0"/>
              </a:spcBef>
              <a:spcAft>
                <a:spcPts val="0"/>
              </a:spcAft>
            </a:pPr>
            <a:r>
              <a:rPr sz="1050" b="0" i="0">
                <a:solidFill>
                  <a:srgbClr val="A7BCB1"/>
                </a:solidFill>
                <a:latin typeface="Calibri"/>
              </a:rPr>
              <a:t>Kayñiawlu · Soutenance de mémoire — Adorand Jacques Merveille DEMBI</a:t>
            </a:r>
          </a:p>
        </p:txBody>
      </p:sp>
    </p:spTree>
  </p:cSld>
  <p:clrMapOvr>
    <a:masterClrMapping/>
  </p:clrMapOvr>
  <p:transition spd="med">
    <p:fade/>
  </p:transition>
  <p:timing>
    <p:tnLst>
      <p:par>
        <p:cTn id="113" dur="indefinite" restart="never" nodeType="tmRoot">
          <p:childTnLst>
            <p:seq concurrent="1" nextAc="seek">
              <p:cTn id="114" dur="indefinite" nodeType="mainSeq">
                <p:childTnLst>
                  <p:par>
                    <p:cTn id="115" fill="hold">
                      <p:stCondLst>
                        <p:cond delay="0"/>
                      </p:stCondLst>
                      <p:childTnLst>
                        <p:par>
                          <p:cTn id="101" presetID="10" presetClass="entr" presetSubtype="0" fill="hold" grpId="0" nodeType="afterEffect">
                            <p:stCondLst>
                              <p:cond delay="0"/>
                            </p:stCondLst>
                            <p:childTnLst>
                              <p:set>
                                <p:cBhvr>
                                  <p:cTn id="102" dur="1" fill="hold">
                                    <p:stCondLst>
                                      <p:cond delay="0"/>
                                    </p:stCondLst>
                                  </p:cTn>
                                  <p:tgtEl>
                                    <p:spTgt spid="2"/>
                                  </p:tgtEl>
                                  <p:attrNameLst>
                                    <p:attrName>style.visibility</p:attrName>
                                  </p:attrNameLst>
                                </p:cBhvr>
                                <p:to>
                                  <p:strVal val="visible"/>
                                </p:to>
                              </p:set>
                              <p:animEffect transition="in" filter="fade">
                                <p:cBhvr>
                                  <p:cTn id="103" dur="500"/>
                                  <p:tgtEl>
                                    <p:spTgt spid="2"/>
                                  </p:tgtEl>
                                </p:cBhvr>
                              </p:animEffect>
                            </p:childTnLst>
                          </p:cTn>
                        </p:par>
                        <p:par>
                          <p:cTn id="104" presetID="10" presetClass="entr" presetSubtype="0" fill="hold" grpId="0" nodeType="afterEffect">
                            <p:stCondLst>
                              <p:cond delay="220"/>
                            </p:stCondLst>
                            <p:childTnLst>
                              <p:set>
                                <p:cBhvr>
                                  <p:cTn id="105" dur="1" fill="hold">
                                    <p:stCondLst>
                                      <p:cond delay="0"/>
                                    </p:stCondLst>
                                  </p:cTn>
                                  <p:tgtEl>
                                    <p:spTgt spid="3"/>
                                  </p:tgtEl>
                                  <p:attrNameLst>
                                    <p:attrName>style.visibility</p:attrName>
                                  </p:attrNameLst>
                                </p:cBhvr>
                                <p:to>
                                  <p:strVal val="visible"/>
                                </p:to>
                              </p:set>
                              <p:animEffect transition="in" filter="fade">
                                <p:cBhvr>
                                  <p:cTn id="106" dur="500"/>
                                  <p:tgtEl>
                                    <p:spTgt spid="3"/>
                                  </p:tgtEl>
                                </p:cBhvr>
                              </p:animEffect>
                            </p:childTnLst>
                          </p:cTn>
                        </p:par>
                        <p:par>
                          <p:cTn id="107" presetID="10" presetClass="entr" presetSubtype="0" fill="hold" grpId="0" nodeType="afterEffect">
                            <p:stCondLst>
                              <p:cond delay="440"/>
                            </p:stCondLst>
                            <p:childTnLst>
                              <p:set>
                                <p:cBhvr>
                                  <p:cTn id="108" dur="1" fill="hold">
                                    <p:stCondLst>
                                      <p:cond delay="0"/>
                                    </p:stCondLst>
                                  </p:cTn>
                                  <p:tgtEl>
                                    <p:spTgt spid="4"/>
                                  </p:tgtEl>
                                  <p:attrNameLst>
                                    <p:attrName>style.visibility</p:attrName>
                                  </p:attrNameLst>
                                </p:cBhvr>
                                <p:to>
                                  <p:strVal val="visible"/>
                                </p:to>
                              </p:set>
                              <p:animEffect transition="in" filter="fade">
                                <p:cBhvr>
                                  <p:cTn id="109" dur="500"/>
                                  <p:tgtEl>
                                    <p:spTgt spid="4"/>
                                  </p:tgtEl>
                                </p:cBhvr>
                              </p:animEffect>
                            </p:childTnLst>
                          </p:cTn>
                        </p:par>
                        <p:par>
                          <p:cTn id="110" presetID="10" presetClass="entr" presetSubtype="0" fill="hold" grpId="0" nodeType="afterEffect">
                            <p:stCondLst>
                              <p:cond delay="660"/>
                            </p:stCondLst>
                            <p:childTnLst>
                              <p:set>
                                <p:cBhvr>
                                  <p:cTn id="111" dur="1" fill="hold">
                                    <p:stCondLst>
                                      <p:cond delay="0"/>
                                    </p:stCondLst>
                                  </p:cTn>
                                  <p:tgtEl>
                                    <p:spTgt spid="5"/>
                                  </p:tgtEl>
                                  <p:attrNameLst>
                                    <p:attrName>style.visibility</p:attrName>
                                  </p:attrNameLst>
                                </p:cBhvr>
                                <p:to>
                                  <p:strVal val="visible"/>
                                </p:to>
                              </p:set>
                              <p:animEffect transition="in" filter="fade">
                                <p:cBhvr>
                                  <p:cTn id="112" dur="500"/>
                                  <p:tgtEl>
                                    <p:spTgt spid="5"/>
                                  </p:tgtEl>
                                </p:cBhvr>
                              </p:animEffect>
                            </p:childTnLst>
                          </p:cTn>
                        </p:par>
                      </p:childTnLst>
                    </p:cTn>
                  </p:par>
                </p:childTnLst>
              </p:cTn>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881360" cy="292608"/>
          </a:xfrm>
          <a:prstGeom prst="rect">
            <a:avLst/>
          </a:prstGeom>
          <a:noFill/>
        </p:spPr>
        <p:txBody>
          <a:bodyPr wrap="square" lIns="0" rIns="0" tIns="0" bIns="0" anchor="t">
            <a:spAutoFit/>
          </a:bodyPr>
          <a:lstStyle/>
          <a:p>
            <a:pPr algn="l">
              <a:lnSpc>
                <a:spcPct val="100000"/>
              </a:lnSpc>
              <a:spcBef>
                <a:spcPts val="0"/>
              </a:spcBef>
              <a:spcAft>
                <a:spcPts val="0"/>
              </a:spcAft>
            </a:pPr>
            <a:r>
              <a:rPr sz="1250" b="1" i="0">
                <a:solidFill>
                  <a:srgbClr val="B8863B"/>
                </a:solidFill>
                <a:latin typeface="Calibri"/>
              </a:rPr>
              <a:t>CONCLUSION</a:t>
            </a:r>
          </a:p>
        </p:txBody>
      </p:sp>
      <p:sp>
        <p:nvSpPr>
          <p:cNvPr id="3" name="TextBox 2"/>
          <p:cNvSpPr txBox="1"/>
          <p:nvPr/>
        </p:nvSpPr>
        <p:spPr>
          <a:xfrm>
            <a:off x="640080" y="786384"/>
            <a:ext cx="10881360" cy="777240"/>
          </a:xfrm>
          <a:prstGeom prst="rect">
            <a:avLst/>
          </a:prstGeom>
          <a:noFill/>
        </p:spPr>
        <p:txBody>
          <a:bodyPr wrap="square" lIns="0" rIns="0" tIns="0" bIns="0" anchor="t">
            <a:spAutoFit/>
          </a:bodyPr>
          <a:lstStyle/>
          <a:p>
            <a:pPr algn="l">
              <a:lnSpc>
                <a:spcPct val="102000"/>
              </a:lnSpc>
              <a:spcBef>
                <a:spcPts val="0"/>
              </a:spcBef>
              <a:spcAft>
                <a:spcPts val="0"/>
              </a:spcAft>
            </a:pPr>
            <a:r>
              <a:rPr sz="2700" b="1" i="0">
                <a:solidFill>
                  <a:srgbClr val="0F5B4C"/>
                </a:solidFill>
                <a:latin typeface="Cambria"/>
              </a:rPr>
              <a:t>Bilan : résultats atteints et prochaines étapes</a:t>
            </a:r>
          </a:p>
        </p:txBody>
      </p:sp>
      <p:sp>
        <p:nvSpPr>
          <p:cNvPr id="4" name="TextBox 3"/>
          <p:cNvSpPr txBox="1"/>
          <p:nvPr/>
        </p:nvSpPr>
        <p:spPr>
          <a:xfrm>
            <a:off x="640080" y="1371600"/>
            <a:ext cx="5394960" cy="320040"/>
          </a:xfrm>
          <a:prstGeom prst="rect">
            <a:avLst/>
          </a:prstGeom>
          <a:noFill/>
        </p:spPr>
        <p:txBody>
          <a:bodyPr wrap="square" lIns="0" rIns="0" tIns="0" bIns="0" anchor="t">
            <a:spAutoFit/>
          </a:bodyPr>
          <a:lstStyle/>
          <a:p>
            <a:pPr algn="l">
              <a:lnSpc>
                <a:spcPct val="100000"/>
              </a:lnSpc>
              <a:spcBef>
                <a:spcPts val="0"/>
              </a:spcBef>
              <a:spcAft>
                <a:spcPts val="0"/>
              </a:spcAft>
            </a:pPr>
            <a:r>
              <a:rPr sz="1250" b="1" i="0">
                <a:solidFill>
                  <a:srgbClr val="B8863B"/>
                </a:solidFill>
                <a:latin typeface="Calibri"/>
              </a:rPr>
              <a:t>OBJECTIFS ATTEINTS</a:t>
            </a:r>
          </a:p>
        </p:txBody>
      </p:sp>
      <p:sp>
        <p:nvSpPr>
          <p:cNvPr id="5" name="Oval 4"/>
          <p:cNvSpPr/>
          <p:nvPr/>
        </p:nvSpPr>
        <p:spPr>
          <a:xfrm>
            <a:off x="640080" y="1783080"/>
            <a:ext cx="274320" cy="274320"/>
          </a:xfrm>
          <a:prstGeom prst="ellipse">
            <a:avLst/>
          </a:prstGeom>
          <a:solidFill>
            <a:srgbClr val="B8863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Calibri"/>
              </a:rPr>
              <a:t>✓</a:t>
            </a:r>
          </a:p>
        </p:txBody>
      </p:sp>
      <p:sp>
        <p:nvSpPr>
          <p:cNvPr id="6" name="TextBox 5"/>
          <p:cNvSpPr txBox="1"/>
          <p:nvPr/>
        </p:nvSpPr>
        <p:spPr>
          <a:xfrm>
            <a:off x="1051560" y="1746504"/>
            <a:ext cx="4983480" cy="457200"/>
          </a:xfrm>
          <a:prstGeom prst="rect">
            <a:avLst/>
          </a:prstGeom>
          <a:noFill/>
        </p:spPr>
        <p:txBody>
          <a:bodyPr wrap="square" lIns="0" rIns="0" tIns="0" bIns="0" anchor="ctr">
            <a:spAutoFit/>
          </a:bodyPr>
          <a:lstStyle/>
          <a:p>
            <a:pPr algn="l">
              <a:lnSpc>
                <a:spcPct val="110000"/>
              </a:lnSpc>
              <a:spcBef>
                <a:spcPts val="0"/>
              </a:spcBef>
              <a:spcAft>
                <a:spcPts val="0"/>
              </a:spcAft>
            </a:pPr>
            <a:r>
              <a:rPr sz="1150" b="0" i="0">
                <a:solidFill>
                  <a:srgbClr val="24312B"/>
                </a:solidFill>
                <a:latin typeface="Calibri"/>
              </a:rPr>
              <a:t>Authentification sécurisée multi-atelier (3 rôles)</a:t>
            </a:r>
          </a:p>
        </p:txBody>
      </p:sp>
      <p:sp>
        <p:nvSpPr>
          <p:cNvPr id="7" name="Oval 6"/>
          <p:cNvSpPr/>
          <p:nvPr/>
        </p:nvSpPr>
        <p:spPr>
          <a:xfrm>
            <a:off x="640080" y="2331720"/>
            <a:ext cx="274320" cy="274320"/>
          </a:xfrm>
          <a:prstGeom prst="ellipse">
            <a:avLst/>
          </a:prstGeom>
          <a:solidFill>
            <a:srgbClr val="B8863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Calibri"/>
              </a:rPr>
              <a:t>✓</a:t>
            </a:r>
          </a:p>
        </p:txBody>
      </p:sp>
      <p:sp>
        <p:nvSpPr>
          <p:cNvPr id="8" name="TextBox 7"/>
          <p:cNvSpPr txBox="1"/>
          <p:nvPr/>
        </p:nvSpPr>
        <p:spPr>
          <a:xfrm>
            <a:off x="1051560" y="2295144"/>
            <a:ext cx="4983480" cy="457200"/>
          </a:xfrm>
          <a:prstGeom prst="rect">
            <a:avLst/>
          </a:prstGeom>
          <a:noFill/>
        </p:spPr>
        <p:txBody>
          <a:bodyPr wrap="square" lIns="0" rIns="0" tIns="0" bIns="0" anchor="ctr">
            <a:spAutoFit/>
          </a:bodyPr>
          <a:lstStyle/>
          <a:p>
            <a:pPr algn="l">
              <a:lnSpc>
                <a:spcPct val="110000"/>
              </a:lnSpc>
              <a:spcBef>
                <a:spcPts val="0"/>
              </a:spcBef>
              <a:spcAft>
                <a:spcPts val="0"/>
              </a:spcAft>
            </a:pPr>
            <a:r>
              <a:rPr sz="1150" b="0" i="0">
                <a:solidFill>
                  <a:srgbClr val="24312B"/>
                </a:solidFill>
                <a:latin typeface="Calibri"/>
              </a:rPr>
              <a:t>Gestion complète des clients et fiches de mesures</a:t>
            </a:r>
          </a:p>
        </p:txBody>
      </p:sp>
      <p:sp>
        <p:nvSpPr>
          <p:cNvPr id="9" name="Oval 8"/>
          <p:cNvSpPr/>
          <p:nvPr/>
        </p:nvSpPr>
        <p:spPr>
          <a:xfrm>
            <a:off x="640080" y="2880360"/>
            <a:ext cx="274320" cy="274320"/>
          </a:xfrm>
          <a:prstGeom prst="ellipse">
            <a:avLst/>
          </a:prstGeom>
          <a:solidFill>
            <a:srgbClr val="B8863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Calibri"/>
              </a:rPr>
              <a:t>✓</a:t>
            </a:r>
          </a:p>
        </p:txBody>
      </p:sp>
      <p:sp>
        <p:nvSpPr>
          <p:cNvPr id="10" name="TextBox 9"/>
          <p:cNvSpPr txBox="1"/>
          <p:nvPr/>
        </p:nvSpPr>
        <p:spPr>
          <a:xfrm>
            <a:off x="1051560" y="2843784"/>
            <a:ext cx="4983480" cy="457200"/>
          </a:xfrm>
          <a:prstGeom prst="rect">
            <a:avLst/>
          </a:prstGeom>
          <a:noFill/>
        </p:spPr>
        <p:txBody>
          <a:bodyPr wrap="square" lIns="0" rIns="0" tIns="0" bIns="0" anchor="ctr">
            <a:spAutoFit/>
          </a:bodyPr>
          <a:lstStyle/>
          <a:p>
            <a:pPr algn="l">
              <a:lnSpc>
                <a:spcPct val="110000"/>
              </a:lnSpc>
              <a:spcBef>
                <a:spcPts val="0"/>
              </a:spcBef>
              <a:spcAft>
                <a:spcPts val="0"/>
              </a:spcAft>
            </a:pPr>
            <a:r>
              <a:rPr sz="1150" b="0" i="0">
                <a:solidFill>
                  <a:srgbClr val="24312B"/>
                </a:solidFill>
                <a:latin typeface="Calibri"/>
              </a:rPr>
              <a:t>Commandes multi-articles, statuts, reçus PDF</a:t>
            </a:r>
          </a:p>
        </p:txBody>
      </p:sp>
      <p:sp>
        <p:nvSpPr>
          <p:cNvPr id="11" name="Oval 10"/>
          <p:cNvSpPr/>
          <p:nvPr/>
        </p:nvSpPr>
        <p:spPr>
          <a:xfrm>
            <a:off x="640080" y="3429000"/>
            <a:ext cx="274320" cy="274320"/>
          </a:xfrm>
          <a:prstGeom prst="ellipse">
            <a:avLst/>
          </a:prstGeom>
          <a:solidFill>
            <a:srgbClr val="B8863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Calibri"/>
              </a:rPr>
              <a:t>✓</a:t>
            </a:r>
          </a:p>
        </p:txBody>
      </p:sp>
      <p:sp>
        <p:nvSpPr>
          <p:cNvPr id="12" name="TextBox 11"/>
          <p:cNvSpPr txBox="1"/>
          <p:nvPr/>
        </p:nvSpPr>
        <p:spPr>
          <a:xfrm>
            <a:off x="1051560" y="3392424"/>
            <a:ext cx="4983480" cy="457200"/>
          </a:xfrm>
          <a:prstGeom prst="rect">
            <a:avLst/>
          </a:prstGeom>
          <a:noFill/>
        </p:spPr>
        <p:txBody>
          <a:bodyPr wrap="square" lIns="0" rIns="0" tIns="0" bIns="0" anchor="ctr">
            <a:spAutoFit/>
          </a:bodyPr>
          <a:lstStyle/>
          <a:p>
            <a:pPr algn="l">
              <a:lnSpc>
                <a:spcPct val="110000"/>
              </a:lnSpc>
              <a:spcBef>
                <a:spcPts val="0"/>
              </a:spcBef>
              <a:spcAft>
                <a:spcPts val="0"/>
              </a:spcAft>
            </a:pPr>
            <a:r>
              <a:rPr sz="1150" b="0" i="0">
                <a:solidFill>
                  <a:srgbClr val="24312B"/>
                </a:solidFill>
                <a:latin typeface="Calibri"/>
              </a:rPr>
              <a:t>Multi-points de vente et gestion d'équipe</a:t>
            </a:r>
          </a:p>
        </p:txBody>
      </p:sp>
      <p:sp>
        <p:nvSpPr>
          <p:cNvPr id="13" name="Oval 12"/>
          <p:cNvSpPr/>
          <p:nvPr/>
        </p:nvSpPr>
        <p:spPr>
          <a:xfrm>
            <a:off x="640080" y="3977639"/>
            <a:ext cx="274320" cy="274320"/>
          </a:xfrm>
          <a:prstGeom prst="ellipse">
            <a:avLst/>
          </a:prstGeom>
          <a:solidFill>
            <a:srgbClr val="B8863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Calibri"/>
              </a:rPr>
              <a:t>✓</a:t>
            </a:r>
          </a:p>
        </p:txBody>
      </p:sp>
      <p:sp>
        <p:nvSpPr>
          <p:cNvPr id="14" name="TextBox 13"/>
          <p:cNvSpPr txBox="1"/>
          <p:nvPr/>
        </p:nvSpPr>
        <p:spPr>
          <a:xfrm>
            <a:off x="1051560" y="3941063"/>
            <a:ext cx="4983480" cy="457200"/>
          </a:xfrm>
          <a:prstGeom prst="rect">
            <a:avLst/>
          </a:prstGeom>
          <a:noFill/>
        </p:spPr>
        <p:txBody>
          <a:bodyPr wrap="square" lIns="0" rIns="0" tIns="0" bIns="0" anchor="ctr">
            <a:spAutoFit/>
          </a:bodyPr>
          <a:lstStyle/>
          <a:p>
            <a:pPr algn="l">
              <a:lnSpc>
                <a:spcPct val="110000"/>
              </a:lnSpc>
              <a:spcBef>
                <a:spcPts val="0"/>
              </a:spcBef>
              <a:spcAft>
                <a:spcPts val="0"/>
              </a:spcAft>
            </a:pPr>
            <a:r>
              <a:rPr sz="1150" b="0" i="0">
                <a:solidFill>
                  <a:srgbClr val="24312B"/>
                </a:solidFill>
                <a:latin typeface="Calibri"/>
              </a:rPr>
              <a:t>Rappels automatiques + notifications Web Push</a:t>
            </a:r>
          </a:p>
        </p:txBody>
      </p:sp>
      <p:sp>
        <p:nvSpPr>
          <p:cNvPr id="15" name="Oval 14"/>
          <p:cNvSpPr/>
          <p:nvPr/>
        </p:nvSpPr>
        <p:spPr>
          <a:xfrm>
            <a:off x="640080" y="4526279"/>
            <a:ext cx="274320" cy="274320"/>
          </a:xfrm>
          <a:prstGeom prst="ellipse">
            <a:avLst/>
          </a:prstGeom>
          <a:solidFill>
            <a:srgbClr val="B8863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Calibri"/>
              </a:rPr>
              <a:t>✓</a:t>
            </a:r>
          </a:p>
        </p:txBody>
      </p:sp>
      <p:sp>
        <p:nvSpPr>
          <p:cNvPr id="16" name="TextBox 15"/>
          <p:cNvSpPr txBox="1"/>
          <p:nvPr/>
        </p:nvSpPr>
        <p:spPr>
          <a:xfrm>
            <a:off x="1051560" y="4489703"/>
            <a:ext cx="4983480" cy="457200"/>
          </a:xfrm>
          <a:prstGeom prst="rect">
            <a:avLst/>
          </a:prstGeom>
          <a:noFill/>
        </p:spPr>
        <p:txBody>
          <a:bodyPr wrap="square" lIns="0" rIns="0" tIns="0" bIns="0" anchor="ctr">
            <a:spAutoFit/>
          </a:bodyPr>
          <a:lstStyle/>
          <a:p>
            <a:pPr algn="l">
              <a:lnSpc>
                <a:spcPct val="110000"/>
              </a:lnSpc>
              <a:spcBef>
                <a:spcPts val="0"/>
              </a:spcBef>
              <a:spcAft>
                <a:spcPts val="0"/>
              </a:spcAft>
            </a:pPr>
            <a:r>
              <a:rPr sz="1150" b="0" i="0">
                <a:solidFill>
                  <a:srgbClr val="24312B"/>
                </a:solidFill>
                <a:latin typeface="Calibri"/>
              </a:rPr>
              <a:t>Mode hors-ligne mobile avec synchronisation</a:t>
            </a:r>
          </a:p>
        </p:txBody>
      </p:sp>
      <p:sp>
        <p:nvSpPr>
          <p:cNvPr id="17" name="Oval 16"/>
          <p:cNvSpPr/>
          <p:nvPr/>
        </p:nvSpPr>
        <p:spPr>
          <a:xfrm>
            <a:off x="640080" y="5074919"/>
            <a:ext cx="274320" cy="274320"/>
          </a:xfrm>
          <a:prstGeom prst="ellipse">
            <a:avLst/>
          </a:prstGeom>
          <a:solidFill>
            <a:srgbClr val="B8863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Calibri"/>
              </a:rPr>
              <a:t>✓</a:t>
            </a:r>
          </a:p>
        </p:txBody>
      </p:sp>
      <p:sp>
        <p:nvSpPr>
          <p:cNvPr id="18" name="TextBox 17"/>
          <p:cNvSpPr txBox="1"/>
          <p:nvPr/>
        </p:nvSpPr>
        <p:spPr>
          <a:xfrm>
            <a:off x="1051560" y="5038343"/>
            <a:ext cx="4983480" cy="457200"/>
          </a:xfrm>
          <a:prstGeom prst="rect">
            <a:avLst/>
          </a:prstGeom>
          <a:noFill/>
        </p:spPr>
        <p:txBody>
          <a:bodyPr wrap="square" lIns="0" rIns="0" tIns="0" bIns="0" anchor="ctr">
            <a:spAutoFit/>
          </a:bodyPr>
          <a:lstStyle/>
          <a:p>
            <a:pPr algn="l">
              <a:lnSpc>
                <a:spcPct val="110000"/>
              </a:lnSpc>
              <a:spcBef>
                <a:spcPts val="0"/>
              </a:spcBef>
              <a:spcAft>
                <a:spcPts val="0"/>
              </a:spcAft>
            </a:pPr>
            <a:r>
              <a:rPr sz="1150" b="0" i="0">
                <a:solidFill>
                  <a:srgbClr val="24312B"/>
                </a:solidFill>
                <a:latin typeface="Calibri"/>
              </a:rPr>
              <a:t>Plans d'abonnement SaaS (gratuit / pro / entreprise)</a:t>
            </a:r>
          </a:p>
        </p:txBody>
      </p:sp>
      <p:sp>
        <p:nvSpPr>
          <p:cNvPr id="19" name="Oval 18"/>
          <p:cNvSpPr/>
          <p:nvPr/>
        </p:nvSpPr>
        <p:spPr>
          <a:xfrm>
            <a:off x="640080" y="5623559"/>
            <a:ext cx="274320" cy="274320"/>
          </a:xfrm>
          <a:prstGeom prst="ellipse">
            <a:avLst/>
          </a:prstGeom>
          <a:solidFill>
            <a:srgbClr val="B8863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Calibri"/>
              </a:rPr>
              <a:t>✓</a:t>
            </a:r>
          </a:p>
        </p:txBody>
      </p:sp>
      <p:sp>
        <p:nvSpPr>
          <p:cNvPr id="20" name="TextBox 19"/>
          <p:cNvSpPr txBox="1"/>
          <p:nvPr/>
        </p:nvSpPr>
        <p:spPr>
          <a:xfrm>
            <a:off x="1051560" y="5586983"/>
            <a:ext cx="4983480" cy="457200"/>
          </a:xfrm>
          <a:prstGeom prst="rect">
            <a:avLst/>
          </a:prstGeom>
          <a:noFill/>
        </p:spPr>
        <p:txBody>
          <a:bodyPr wrap="square" lIns="0" rIns="0" tIns="0" bIns="0" anchor="ctr">
            <a:spAutoFit/>
          </a:bodyPr>
          <a:lstStyle/>
          <a:p>
            <a:pPr algn="l">
              <a:lnSpc>
                <a:spcPct val="110000"/>
              </a:lnSpc>
              <a:spcBef>
                <a:spcPts val="0"/>
              </a:spcBef>
              <a:spcAft>
                <a:spcPts val="0"/>
              </a:spcAft>
            </a:pPr>
            <a:r>
              <a:rPr sz="1150" b="0" i="0">
                <a:solidFill>
                  <a:srgbClr val="24312B"/>
                </a:solidFill>
                <a:latin typeface="Calibri"/>
              </a:rPr>
              <a:t>Architecture Laravel/GraphQL/REST déployée en Docker</a:t>
            </a:r>
          </a:p>
        </p:txBody>
      </p:sp>
      <p:sp>
        <p:nvSpPr>
          <p:cNvPr id="21" name="TextBox 20"/>
          <p:cNvSpPr txBox="1"/>
          <p:nvPr/>
        </p:nvSpPr>
        <p:spPr>
          <a:xfrm>
            <a:off x="6309360" y="1371600"/>
            <a:ext cx="5257800" cy="320040"/>
          </a:xfrm>
          <a:prstGeom prst="rect">
            <a:avLst/>
          </a:prstGeom>
          <a:noFill/>
        </p:spPr>
        <p:txBody>
          <a:bodyPr wrap="square" lIns="0" rIns="0" tIns="0" bIns="0" anchor="t">
            <a:spAutoFit/>
          </a:bodyPr>
          <a:lstStyle/>
          <a:p>
            <a:pPr algn="l">
              <a:lnSpc>
                <a:spcPct val="100000"/>
              </a:lnSpc>
              <a:spcBef>
                <a:spcPts val="0"/>
              </a:spcBef>
              <a:spcAft>
                <a:spcPts val="0"/>
              </a:spcAft>
            </a:pPr>
            <a:r>
              <a:rPr sz="1250" b="1" i="0">
                <a:solidFill>
                  <a:srgbClr val="D97706"/>
                </a:solidFill>
                <a:latin typeface="Calibri"/>
              </a:rPr>
              <a:t>PERSPECTIVES</a:t>
            </a:r>
          </a:p>
        </p:txBody>
      </p:sp>
      <p:sp>
        <p:nvSpPr>
          <p:cNvPr id="22" name="Oval 21"/>
          <p:cNvSpPr/>
          <p:nvPr/>
        </p:nvSpPr>
        <p:spPr>
          <a:xfrm>
            <a:off x="6309360" y="1783080"/>
            <a:ext cx="274320" cy="27432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Calibri"/>
              </a:rPr>
              <a:t>→</a:t>
            </a:r>
          </a:p>
        </p:txBody>
      </p:sp>
      <p:sp>
        <p:nvSpPr>
          <p:cNvPr id="23" name="TextBox 22"/>
          <p:cNvSpPr txBox="1"/>
          <p:nvPr/>
        </p:nvSpPr>
        <p:spPr>
          <a:xfrm>
            <a:off x="6720840" y="1746504"/>
            <a:ext cx="4846320" cy="457200"/>
          </a:xfrm>
          <a:prstGeom prst="rect">
            <a:avLst/>
          </a:prstGeom>
          <a:noFill/>
        </p:spPr>
        <p:txBody>
          <a:bodyPr wrap="square" lIns="0" rIns="0" tIns="0" bIns="0" anchor="ctr">
            <a:spAutoFit/>
          </a:bodyPr>
          <a:lstStyle/>
          <a:p>
            <a:pPr algn="l">
              <a:lnSpc>
                <a:spcPct val="110000"/>
              </a:lnSpc>
              <a:spcBef>
                <a:spcPts val="0"/>
              </a:spcBef>
              <a:spcAft>
                <a:spcPts val="0"/>
              </a:spcAft>
            </a:pPr>
            <a:r>
              <a:rPr sz="1150" b="0" i="0">
                <a:solidFill>
                  <a:srgbClr val="24312B"/>
                </a:solidFill>
                <a:latin typeface="Calibri"/>
              </a:rPr>
              <a:t>Paiement réel des abonnements (Wave, Orange Money)</a:t>
            </a:r>
          </a:p>
        </p:txBody>
      </p:sp>
      <p:sp>
        <p:nvSpPr>
          <p:cNvPr id="24" name="Oval 23"/>
          <p:cNvSpPr/>
          <p:nvPr/>
        </p:nvSpPr>
        <p:spPr>
          <a:xfrm>
            <a:off x="6309360" y="2331720"/>
            <a:ext cx="274320" cy="27432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Calibri"/>
              </a:rPr>
              <a:t>→</a:t>
            </a:r>
          </a:p>
        </p:txBody>
      </p:sp>
      <p:sp>
        <p:nvSpPr>
          <p:cNvPr id="25" name="TextBox 24"/>
          <p:cNvSpPr txBox="1"/>
          <p:nvPr/>
        </p:nvSpPr>
        <p:spPr>
          <a:xfrm>
            <a:off x="6720840" y="2295144"/>
            <a:ext cx="4846320" cy="457200"/>
          </a:xfrm>
          <a:prstGeom prst="rect">
            <a:avLst/>
          </a:prstGeom>
          <a:noFill/>
        </p:spPr>
        <p:txBody>
          <a:bodyPr wrap="square" lIns="0" rIns="0" tIns="0" bIns="0" anchor="ctr">
            <a:spAutoFit/>
          </a:bodyPr>
          <a:lstStyle/>
          <a:p>
            <a:pPr algn="l">
              <a:lnSpc>
                <a:spcPct val="110000"/>
              </a:lnSpc>
              <a:spcBef>
                <a:spcPts val="0"/>
              </a:spcBef>
              <a:spcAft>
                <a:spcPts val="0"/>
              </a:spcAft>
            </a:pPr>
            <a:r>
              <a:rPr sz="1150" b="0" i="0">
                <a:solidFill>
                  <a:srgbClr val="24312B"/>
                </a:solidFill>
                <a:latin typeface="Calibri"/>
              </a:rPr>
              <a:t>Mise en production (hébergement HTTPS, domaine)</a:t>
            </a:r>
          </a:p>
        </p:txBody>
      </p:sp>
      <p:sp>
        <p:nvSpPr>
          <p:cNvPr id="26" name="Oval 25"/>
          <p:cNvSpPr/>
          <p:nvPr/>
        </p:nvSpPr>
        <p:spPr>
          <a:xfrm>
            <a:off x="6309360" y="2880360"/>
            <a:ext cx="274320" cy="27432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Calibri"/>
              </a:rPr>
              <a:t>→</a:t>
            </a:r>
          </a:p>
        </p:txBody>
      </p:sp>
      <p:sp>
        <p:nvSpPr>
          <p:cNvPr id="27" name="TextBox 26"/>
          <p:cNvSpPr txBox="1"/>
          <p:nvPr/>
        </p:nvSpPr>
        <p:spPr>
          <a:xfrm>
            <a:off x="6720840" y="2843784"/>
            <a:ext cx="4846320" cy="457200"/>
          </a:xfrm>
          <a:prstGeom prst="rect">
            <a:avLst/>
          </a:prstGeom>
          <a:noFill/>
        </p:spPr>
        <p:txBody>
          <a:bodyPr wrap="square" lIns="0" rIns="0" tIns="0" bIns="0" anchor="ctr">
            <a:spAutoFit/>
          </a:bodyPr>
          <a:lstStyle/>
          <a:p>
            <a:pPr algn="l">
              <a:lnSpc>
                <a:spcPct val="110000"/>
              </a:lnSpc>
              <a:spcBef>
                <a:spcPts val="0"/>
              </a:spcBef>
              <a:spcAft>
                <a:spcPts val="0"/>
              </a:spcAft>
            </a:pPr>
            <a:r>
              <a:rPr sz="1150" b="0" i="0">
                <a:solidFill>
                  <a:srgbClr val="24312B"/>
                </a:solidFill>
                <a:latin typeface="Calibri"/>
              </a:rPr>
              <a:t>Publication sur l'App Store et le Google Play Store</a:t>
            </a:r>
          </a:p>
        </p:txBody>
      </p:sp>
      <p:sp>
        <p:nvSpPr>
          <p:cNvPr id="28" name="Oval 27"/>
          <p:cNvSpPr/>
          <p:nvPr/>
        </p:nvSpPr>
        <p:spPr>
          <a:xfrm>
            <a:off x="6309360" y="3429000"/>
            <a:ext cx="274320" cy="27432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Calibri"/>
              </a:rPr>
              <a:t>→</a:t>
            </a:r>
          </a:p>
        </p:txBody>
      </p:sp>
      <p:sp>
        <p:nvSpPr>
          <p:cNvPr id="29" name="TextBox 28"/>
          <p:cNvSpPr txBox="1"/>
          <p:nvPr/>
        </p:nvSpPr>
        <p:spPr>
          <a:xfrm>
            <a:off x="6720840" y="3392424"/>
            <a:ext cx="4846320" cy="457200"/>
          </a:xfrm>
          <a:prstGeom prst="rect">
            <a:avLst/>
          </a:prstGeom>
          <a:noFill/>
        </p:spPr>
        <p:txBody>
          <a:bodyPr wrap="square" lIns="0" rIns="0" tIns="0" bIns="0" anchor="ctr">
            <a:spAutoFit/>
          </a:bodyPr>
          <a:lstStyle/>
          <a:p>
            <a:pPr algn="l">
              <a:lnSpc>
                <a:spcPct val="110000"/>
              </a:lnSpc>
              <a:spcBef>
                <a:spcPts val="0"/>
              </a:spcBef>
              <a:spcAft>
                <a:spcPts val="0"/>
              </a:spcAft>
            </a:pPr>
            <a:r>
              <a:rPr sz="1150" b="0" i="0">
                <a:solidFill>
                  <a:srgbClr val="24312B"/>
                </a:solidFill>
                <a:latin typeface="Calibri"/>
              </a:rPr>
              <a:t>Notifications SMS/WhatsApp au client final</a:t>
            </a:r>
          </a:p>
        </p:txBody>
      </p:sp>
      <p:sp>
        <p:nvSpPr>
          <p:cNvPr id="30" name="Oval 29"/>
          <p:cNvSpPr/>
          <p:nvPr/>
        </p:nvSpPr>
        <p:spPr>
          <a:xfrm>
            <a:off x="6309360" y="3977639"/>
            <a:ext cx="274320" cy="27432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Calibri"/>
              </a:rPr>
              <a:t>→</a:t>
            </a:r>
          </a:p>
        </p:txBody>
      </p:sp>
      <p:sp>
        <p:nvSpPr>
          <p:cNvPr id="31" name="TextBox 30"/>
          <p:cNvSpPr txBox="1"/>
          <p:nvPr/>
        </p:nvSpPr>
        <p:spPr>
          <a:xfrm>
            <a:off x="6720840" y="3941063"/>
            <a:ext cx="4846320" cy="457200"/>
          </a:xfrm>
          <a:prstGeom prst="rect">
            <a:avLst/>
          </a:prstGeom>
          <a:noFill/>
        </p:spPr>
        <p:txBody>
          <a:bodyPr wrap="square" lIns="0" rIns="0" tIns="0" bIns="0" anchor="ctr">
            <a:spAutoFit/>
          </a:bodyPr>
          <a:lstStyle/>
          <a:p>
            <a:pPr algn="l">
              <a:lnSpc>
                <a:spcPct val="110000"/>
              </a:lnSpc>
              <a:spcBef>
                <a:spcPts val="0"/>
              </a:spcBef>
              <a:spcAft>
                <a:spcPts val="0"/>
              </a:spcAft>
            </a:pPr>
            <a:r>
              <a:rPr sz="1150" b="0" i="0">
                <a:solidFill>
                  <a:srgbClr val="24312B"/>
                </a:solidFill>
                <a:latin typeface="Calibri"/>
              </a:rPr>
              <a:t>Espace client final (suivi de ses commandes)</a:t>
            </a:r>
          </a:p>
        </p:txBody>
      </p:sp>
      <p:sp>
        <p:nvSpPr>
          <p:cNvPr id="32" name="TextBox 31"/>
          <p:cNvSpPr txBox="1"/>
          <p:nvPr/>
        </p:nvSpPr>
        <p:spPr>
          <a:xfrm>
            <a:off x="640080" y="6519672"/>
            <a:ext cx="7315200" cy="274320"/>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68796F"/>
                </a:solidFill>
                <a:latin typeface="Calibri"/>
              </a:rPr>
              <a:t>Kayñiawlu — Soutenance de mémoire</a:t>
            </a:r>
          </a:p>
        </p:txBody>
      </p:sp>
      <p:sp>
        <p:nvSpPr>
          <p:cNvPr id="33" name="TextBox 32"/>
          <p:cNvSpPr txBox="1"/>
          <p:nvPr/>
        </p:nvSpPr>
        <p:spPr>
          <a:xfrm>
            <a:off x="10180015" y="6519672"/>
            <a:ext cx="1371600" cy="274320"/>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8796F"/>
                </a:solidFill>
                <a:latin typeface="Calibri"/>
              </a:rPr>
              <a:t>27</a:t>
            </a:r>
          </a:p>
        </p:txBody>
      </p:sp>
    </p:spTree>
  </p:cSld>
  <p:clrMapOvr>
    <a:masterClrMapping/>
  </p:clrMapOvr>
  <p:transition spd="med">
    <p:fade/>
  </p:transition>
  <p:timing>
    <p:tnLst>
      <p:par>
        <p:cTn id="185" dur="indefinite" restart="never" nodeType="tmRoot">
          <p:childTnLst>
            <p:seq concurrent="1" nextAc="seek">
              <p:cTn id="186" dur="indefinite" nodeType="mainSeq">
                <p:childTnLst>
                  <p:par>
                    <p:cTn id="187" fill="hold">
                      <p:stCondLst>
                        <p:cond delay="0"/>
                      </p:stCondLst>
                      <p:childTnLst>
                        <p:par>
                          <p:cTn id="101" presetID="10" presetClass="entr" presetSubtype="0" fill="hold" grpId="0" nodeType="afterEffect">
                            <p:stCondLst>
                              <p:cond delay="0"/>
                            </p:stCondLst>
                            <p:childTnLst>
                              <p:set>
                                <p:cBhvr>
                                  <p:cTn id="102" dur="1" fill="hold">
                                    <p:stCondLst>
                                      <p:cond delay="0"/>
                                    </p:stCondLst>
                                  </p:cTn>
                                  <p:tgtEl>
                                    <p:spTgt spid="4"/>
                                  </p:tgtEl>
                                  <p:attrNameLst>
                                    <p:attrName>style.visibility</p:attrName>
                                  </p:attrNameLst>
                                </p:cBhvr>
                                <p:to>
                                  <p:strVal val="visible"/>
                                </p:to>
                              </p:set>
                              <p:animEffect transition="in" filter="fade">
                                <p:cBhvr>
                                  <p:cTn id="103" dur="420"/>
                                  <p:tgtEl>
                                    <p:spTgt spid="4"/>
                                  </p:tgtEl>
                                </p:cBhvr>
                              </p:animEffect>
                            </p:childTnLst>
                          </p:cTn>
                        </p:par>
                        <p:par>
                          <p:cTn id="104" presetID="10" presetClass="entr" presetSubtype="0" fill="hold" grpId="0" nodeType="afterEffect">
                            <p:stCondLst>
                              <p:cond delay="0"/>
                            </p:stCondLst>
                            <p:childTnLst>
                              <p:set>
                                <p:cBhvr>
                                  <p:cTn id="105" dur="1" fill="hold">
                                    <p:stCondLst>
                                      <p:cond delay="0"/>
                                    </p:stCondLst>
                                  </p:cTn>
                                  <p:tgtEl>
                                    <p:spTgt spid="21"/>
                                  </p:tgtEl>
                                  <p:attrNameLst>
                                    <p:attrName>style.visibility</p:attrName>
                                  </p:attrNameLst>
                                </p:cBhvr>
                                <p:to>
                                  <p:strVal val="visible"/>
                                </p:to>
                              </p:set>
                              <p:animEffect transition="in" filter="fade">
                                <p:cBhvr>
                                  <p:cTn id="106" dur="420"/>
                                  <p:tgtEl>
                                    <p:spTgt spid="21"/>
                                  </p:tgtEl>
                                </p:cBhvr>
                              </p:animEffect>
                            </p:childTnLst>
                          </p:cTn>
                        </p:par>
                        <p:par>
                          <p:cTn id="107" presetID="10" presetClass="entr" presetSubtype="0" fill="hold" grpId="0" nodeType="afterEffect">
                            <p:stCondLst>
                              <p:cond delay="110"/>
                            </p:stCondLst>
                            <p:childTnLst>
                              <p:set>
                                <p:cBhvr>
                                  <p:cTn id="108" dur="1" fill="hold">
                                    <p:stCondLst>
                                      <p:cond delay="0"/>
                                    </p:stCondLst>
                                  </p:cTn>
                                  <p:tgtEl>
                                    <p:spTgt spid="5"/>
                                  </p:tgtEl>
                                  <p:attrNameLst>
                                    <p:attrName>style.visibility</p:attrName>
                                  </p:attrNameLst>
                                </p:cBhvr>
                                <p:to>
                                  <p:strVal val="visible"/>
                                </p:to>
                              </p:set>
                              <p:animEffect transition="in" filter="fade">
                                <p:cBhvr>
                                  <p:cTn id="109" dur="420"/>
                                  <p:tgtEl>
                                    <p:spTgt spid="5"/>
                                  </p:tgtEl>
                                </p:cBhvr>
                              </p:animEffect>
                            </p:childTnLst>
                          </p:cTn>
                        </p:par>
                        <p:par>
                          <p:cTn id="110" presetID="10" presetClass="entr" presetSubtype="0" fill="hold" grpId="0" nodeType="afterEffect">
                            <p:stCondLst>
                              <p:cond delay="110"/>
                            </p:stCondLst>
                            <p:childTnLst>
                              <p:set>
                                <p:cBhvr>
                                  <p:cTn id="111" dur="1" fill="hold">
                                    <p:stCondLst>
                                      <p:cond delay="0"/>
                                    </p:stCondLst>
                                  </p:cTn>
                                  <p:tgtEl>
                                    <p:spTgt spid="6"/>
                                  </p:tgtEl>
                                  <p:attrNameLst>
                                    <p:attrName>style.visibility</p:attrName>
                                  </p:attrNameLst>
                                </p:cBhvr>
                                <p:to>
                                  <p:strVal val="visible"/>
                                </p:to>
                              </p:set>
                              <p:animEffect transition="in" filter="fade">
                                <p:cBhvr>
                                  <p:cTn id="112" dur="420"/>
                                  <p:tgtEl>
                                    <p:spTgt spid="6"/>
                                  </p:tgtEl>
                                </p:cBhvr>
                              </p:animEffect>
                            </p:childTnLst>
                          </p:cTn>
                        </p:par>
                        <p:par>
                          <p:cTn id="113" presetID="10" presetClass="entr" presetSubtype="0" fill="hold" grpId="0" nodeType="afterEffect">
                            <p:stCondLst>
                              <p:cond delay="110"/>
                            </p:stCondLst>
                            <p:childTnLst>
                              <p:set>
                                <p:cBhvr>
                                  <p:cTn id="114" dur="1" fill="hold">
                                    <p:stCondLst>
                                      <p:cond delay="0"/>
                                    </p:stCondLst>
                                  </p:cTn>
                                  <p:tgtEl>
                                    <p:spTgt spid="22"/>
                                  </p:tgtEl>
                                  <p:attrNameLst>
                                    <p:attrName>style.visibility</p:attrName>
                                  </p:attrNameLst>
                                </p:cBhvr>
                                <p:to>
                                  <p:strVal val="visible"/>
                                </p:to>
                              </p:set>
                              <p:animEffect transition="in" filter="fade">
                                <p:cBhvr>
                                  <p:cTn id="115" dur="420"/>
                                  <p:tgtEl>
                                    <p:spTgt spid="22"/>
                                  </p:tgtEl>
                                </p:cBhvr>
                              </p:animEffect>
                            </p:childTnLst>
                          </p:cTn>
                        </p:par>
                        <p:par>
                          <p:cTn id="116" presetID="10" presetClass="entr" presetSubtype="0" fill="hold" grpId="0" nodeType="afterEffect">
                            <p:stCondLst>
                              <p:cond delay="110"/>
                            </p:stCondLst>
                            <p:childTnLst>
                              <p:set>
                                <p:cBhvr>
                                  <p:cTn id="117" dur="1" fill="hold">
                                    <p:stCondLst>
                                      <p:cond delay="0"/>
                                    </p:stCondLst>
                                  </p:cTn>
                                  <p:tgtEl>
                                    <p:spTgt spid="23"/>
                                  </p:tgtEl>
                                  <p:attrNameLst>
                                    <p:attrName>style.visibility</p:attrName>
                                  </p:attrNameLst>
                                </p:cBhvr>
                                <p:to>
                                  <p:strVal val="visible"/>
                                </p:to>
                              </p:set>
                              <p:animEffect transition="in" filter="fade">
                                <p:cBhvr>
                                  <p:cTn id="118" dur="420"/>
                                  <p:tgtEl>
                                    <p:spTgt spid="23"/>
                                  </p:tgtEl>
                                </p:cBhvr>
                              </p:animEffect>
                            </p:childTnLst>
                          </p:cTn>
                        </p:par>
                        <p:par>
                          <p:cTn id="119" presetID="10" presetClass="entr" presetSubtype="0" fill="hold" grpId="0" nodeType="afterEffect">
                            <p:stCondLst>
                              <p:cond delay="220"/>
                            </p:stCondLst>
                            <p:childTnLst>
                              <p:set>
                                <p:cBhvr>
                                  <p:cTn id="120" dur="1" fill="hold">
                                    <p:stCondLst>
                                      <p:cond delay="0"/>
                                    </p:stCondLst>
                                  </p:cTn>
                                  <p:tgtEl>
                                    <p:spTgt spid="7"/>
                                  </p:tgtEl>
                                  <p:attrNameLst>
                                    <p:attrName>style.visibility</p:attrName>
                                  </p:attrNameLst>
                                </p:cBhvr>
                                <p:to>
                                  <p:strVal val="visible"/>
                                </p:to>
                              </p:set>
                              <p:animEffect transition="in" filter="fade">
                                <p:cBhvr>
                                  <p:cTn id="121" dur="420"/>
                                  <p:tgtEl>
                                    <p:spTgt spid="7"/>
                                  </p:tgtEl>
                                </p:cBhvr>
                              </p:animEffect>
                            </p:childTnLst>
                          </p:cTn>
                        </p:par>
                        <p:par>
                          <p:cTn id="122" presetID="10" presetClass="entr" presetSubtype="0" fill="hold" grpId="0" nodeType="afterEffect">
                            <p:stCondLst>
                              <p:cond delay="220"/>
                            </p:stCondLst>
                            <p:childTnLst>
                              <p:set>
                                <p:cBhvr>
                                  <p:cTn id="123" dur="1" fill="hold">
                                    <p:stCondLst>
                                      <p:cond delay="0"/>
                                    </p:stCondLst>
                                  </p:cTn>
                                  <p:tgtEl>
                                    <p:spTgt spid="8"/>
                                  </p:tgtEl>
                                  <p:attrNameLst>
                                    <p:attrName>style.visibility</p:attrName>
                                  </p:attrNameLst>
                                </p:cBhvr>
                                <p:to>
                                  <p:strVal val="visible"/>
                                </p:to>
                              </p:set>
                              <p:animEffect transition="in" filter="fade">
                                <p:cBhvr>
                                  <p:cTn id="124" dur="420"/>
                                  <p:tgtEl>
                                    <p:spTgt spid="8"/>
                                  </p:tgtEl>
                                </p:cBhvr>
                              </p:animEffect>
                            </p:childTnLst>
                          </p:cTn>
                        </p:par>
                        <p:par>
                          <p:cTn id="125" presetID="10" presetClass="entr" presetSubtype="0" fill="hold" grpId="0" nodeType="afterEffect">
                            <p:stCondLst>
                              <p:cond delay="220"/>
                            </p:stCondLst>
                            <p:childTnLst>
                              <p:set>
                                <p:cBhvr>
                                  <p:cTn id="126" dur="1" fill="hold">
                                    <p:stCondLst>
                                      <p:cond delay="0"/>
                                    </p:stCondLst>
                                  </p:cTn>
                                  <p:tgtEl>
                                    <p:spTgt spid="24"/>
                                  </p:tgtEl>
                                  <p:attrNameLst>
                                    <p:attrName>style.visibility</p:attrName>
                                  </p:attrNameLst>
                                </p:cBhvr>
                                <p:to>
                                  <p:strVal val="visible"/>
                                </p:to>
                              </p:set>
                              <p:animEffect transition="in" filter="fade">
                                <p:cBhvr>
                                  <p:cTn id="127" dur="420"/>
                                  <p:tgtEl>
                                    <p:spTgt spid="24"/>
                                  </p:tgtEl>
                                </p:cBhvr>
                              </p:animEffect>
                            </p:childTnLst>
                          </p:cTn>
                        </p:par>
                        <p:par>
                          <p:cTn id="128" presetID="10" presetClass="entr" presetSubtype="0" fill="hold" grpId="0" nodeType="afterEffect">
                            <p:stCondLst>
                              <p:cond delay="220"/>
                            </p:stCondLst>
                            <p:childTnLst>
                              <p:set>
                                <p:cBhvr>
                                  <p:cTn id="129" dur="1" fill="hold">
                                    <p:stCondLst>
                                      <p:cond delay="0"/>
                                    </p:stCondLst>
                                  </p:cTn>
                                  <p:tgtEl>
                                    <p:spTgt spid="25"/>
                                  </p:tgtEl>
                                  <p:attrNameLst>
                                    <p:attrName>style.visibility</p:attrName>
                                  </p:attrNameLst>
                                </p:cBhvr>
                                <p:to>
                                  <p:strVal val="visible"/>
                                </p:to>
                              </p:set>
                              <p:animEffect transition="in" filter="fade">
                                <p:cBhvr>
                                  <p:cTn id="130" dur="420"/>
                                  <p:tgtEl>
                                    <p:spTgt spid="25"/>
                                  </p:tgtEl>
                                </p:cBhvr>
                              </p:animEffect>
                            </p:childTnLst>
                          </p:cTn>
                        </p:par>
                        <p:par>
                          <p:cTn id="131" presetID="10" presetClass="entr" presetSubtype="0" fill="hold" grpId="0" nodeType="afterEffect">
                            <p:stCondLst>
                              <p:cond delay="330"/>
                            </p:stCondLst>
                            <p:childTnLst>
                              <p:set>
                                <p:cBhvr>
                                  <p:cTn id="132" dur="1" fill="hold">
                                    <p:stCondLst>
                                      <p:cond delay="0"/>
                                    </p:stCondLst>
                                  </p:cTn>
                                  <p:tgtEl>
                                    <p:spTgt spid="9"/>
                                  </p:tgtEl>
                                  <p:attrNameLst>
                                    <p:attrName>style.visibility</p:attrName>
                                  </p:attrNameLst>
                                </p:cBhvr>
                                <p:to>
                                  <p:strVal val="visible"/>
                                </p:to>
                              </p:set>
                              <p:animEffect transition="in" filter="fade">
                                <p:cBhvr>
                                  <p:cTn id="133" dur="420"/>
                                  <p:tgtEl>
                                    <p:spTgt spid="9"/>
                                  </p:tgtEl>
                                </p:cBhvr>
                              </p:animEffect>
                            </p:childTnLst>
                          </p:cTn>
                        </p:par>
                        <p:par>
                          <p:cTn id="134" presetID="10" presetClass="entr" presetSubtype="0" fill="hold" grpId="0" nodeType="afterEffect">
                            <p:stCondLst>
                              <p:cond delay="330"/>
                            </p:stCondLst>
                            <p:childTnLst>
                              <p:set>
                                <p:cBhvr>
                                  <p:cTn id="135" dur="1" fill="hold">
                                    <p:stCondLst>
                                      <p:cond delay="0"/>
                                    </p:stCondLst>
                                  </p:cTn>
                                  <p:tgtEl>
                                    <p:spTgt spid="10"/>
                                  </p:tgtEl>
                                  <p:attrNameLst>
                                    <p:attrName>style.visibility</p:attrName>
                                  </p:attrNameLst>
                                </p:cBhvr>
                                <p:to>
                                  <p:strVal val="visible"/>
                                </p:to>
                              </p:set>
                              <p:animEffect transition="in" filter="fade">
                                <p:cBhvr>
                                  <p:cTn id="136" dur="420"/>
                                  <p:tgtEl>
                                    <p:spTgt spid="10"/>
                                  </p:tgtEl>
                                </p:cBhvr>
                              </p:animEffect>
                            </p:childTnLst>
                          </p:cTn>
                        </p:par>
                        <p:par>
                          <p:cTn id="137" presetID="10" presetClass="entr" presetSubtype="0" fill="hold" grpId="0" nodeType="afterEffect">
                            <p:stCondLst>
                              <p:cond delay="330"/>
                            </p:stCondLst>
                            <p:childTnLst>
                              <p:set>
                                <p:cBhvr>
                                  <p:cTn id="138" dur="1" fill="hold">
                                    <p:stCondLst>
                                      <p:cond delay="0"/>
                                    </p:stCondLst>
                                  </p:cTn>
                                  <p:tgtEl>
                                    <p:spTgt spid="26"/>
                                  </p:tgtEl>
                                  <p:attrNameLst>
                                    <p:attrName>style.visibility</p:attrName>
                                  </p:attrNameLst>
                                </p:cBhvr>
                                <p:to>
                                  <p:strVal val="visible"/>
                                </p:to>
                              </p:set>
                              <p:animEffect transition="in" filter="fade">
                                <p:cBhvr>
                                  <p:cTn id="139" dur="420"/>
                                  <p:tgtEl>
                                    <p:spTgt spid="26"/>
                                  </p:tgtEl>
                                </p:cBhvr>
                              </p:animEffect>
                            </p:childTnLst>
                          </p:cTn>
                        </p:par>
                        <p:par>
                          <p:cTn id="140" presetID="10" presetClass="entr" presetSubtype="0" fill="hold" grpId="0" nodeType="afterEffect">
                            <p:stCondLst>
                              <p:cond delay="330"/>
                            </p:stCondLst>
                            <p:childTnLst>
                              <p:set>
                                <p:cBhvr>
                                  <p:cTn id="141" dur="1" fill="hold">
                                    <p:stCondLst>
                                      <p:cond delay="0"/>
                                    </p:stCondLst>
                                  </p:cTn>
                                  <p:tgtEl>
                                    <p:spTgt spid="27"/>
                                  </p:tgtEl>
                                  <p:attrNameLst>
                                    <p:attrName>style.visibility</p:attrName>
                                  </p:attrNameLst>
                                </p:cBhvr>
                                <p:to>
                                  <p:strVal val="visible"/>
                                </p:to>
                              </p:set>
                              <p:animEffect transition="in" filter="fade">
                                <p:cBhvr>
                                  <p:cTn id="142" dur="420"/>
                                  <p:tgtEl>
                                    <p:spTgt spid="27"/>
                                  </p:tgtEl>
                                </p:cBhvr>
                              </p:animEffect>
                            </p:childTnLst>
                          </p:cTn>
                        </p:par>
                        <p:par>
                          <p:cTn id="143" presetID="10" presetClass="entr" presetSubtype="0" fill="hold" grpId="0" nodeType="afterEffect">
                            <p:stCondLst>
                              <p:cond delay="440"/>
                            </p:stCondLst>
                            <p:childTnLst>
                              <p:set>
                                <p:cBhvr>
                                  <p:cTn id="144" dur="1" fill="hold">
                                    <p:stCondLst>
                                      <p:cond delay="0"/>
                                    </p:stCondLst>
                                  </p:cTn>
                                  <p:tgtEl>
                                    <p:spTgt spid="11"/>
                                  </p:tgtEl>
                                  <p:attrNameLst>
                                    <p:attrName>style.visibility</p:attrName>
                                  </p:attrNameLst>
                                </p:cBhvr>
                                <p:to>
                                  <p:strVal val="visible"/>
                                </p:to>
                              </p:set>
                              <p:animEffect transition="in" filter="fade">
                                <p:cBhvr>
                                  <p:cTn id="145" dur="420"/>
                                  <p:tgtEl>
                                    <p:spTgt spid="11"/>
                                  </p:tgtEl>
                                </p:cBhvr>
                              </p:animEffect>
                            </p:childTnLst>
                          </p:cTn>
                        </p:par>
                        <p:par>
                          <p:cTn id="146" presetID="10" presetClass="entr" presetSubtype="0" fill="hold" grpId="0" nodeType="afterEffect">
                            <p:stCondLst>
                              <p:cond delay="440"/>
                            </p:stCondLst>
                            <p:childTnLst>
                              <p:set>
                                <p:cBhvr>
                                  <p:cTn id="147" dur="1" fill="hold">
                                    <p:stCondLst>
                                      <p:cond delay="0"/>
                                    </p:stCondLst>
                                  </p:cTn>
                                  <p:tgtEl>
                                    <p:spTgt spid="12"/>
                                  </p:tgtEl>
                                  <p:attrNameLst>
                                    <p:attrName>style.visibility</p:attrName>
                                  </p:attrNameLst>
                                </p:cBhvr>
                                <p:to>
                                  <p:strVal val="visible"/>
                                </p:to>
                              </p:set>
                              <p:animEffect transition="in" filter="fade">
                                <p:cBhvr>
                                  <p:cTn id="148" dur="420"/>
                                  <p:tgtEl>
                                    <p:spTgt spid="12"/>
                                  </p:tgtEl>
                                </p:cBhvr>
                              </p:animEffect>
                            </p:childTnLst>
                          </p:cTn>
                        </p:par>
                        <p:par>
                          <p:cTn id="149" presetID="10" presetClass="entr" presetSubtype="0" fill="hold" grpId="0" nodeType="afterEffect">
                            <p:stCondLst>
                              <p:cond delay="440"/>
                            </p:stCondLst>
                            <p:childTnLst>
                              <p:set>
                                <p:cBhvr>
                                  <p:cTn id="150" dur="1" fill="hold">
                                    <p:stCondLst>
                                      <p:cond delay="0"/>
                                    </p:stCondLst>
                                  </p:cTn>
                                  <p:tgtEl>
                                    <p:spTgt spid="28"/>
                                  </p:tgtEl>
                                  <p:attrNameLst>
                                    <p:attrName>style.visibility</p:attrName>
                                  </p:attrNameLst>
                                </p:cBhvr>
                                <p:to>
                                  <p:strVal val="visible"/>
                                </p:to>
                              </p:set>
                              <p:animEffect transition="in" filter="fade">
                                <p:cBhvr>
                                  <p:cTn id="151" dur="420"/>
                                  <p:tgtEl>
                                    <p:spTgt spid="28"/>
                                  </p:tgtEl>
                                </p:cBhvr>
                              </p:animEffect>
                            </p:childTnLst>
                          </p:cTn>
                        </p:par>
                        <p:par>
                          <p:cTn id="152" presetID="10" presetClass="entr" presetSubtype="0" fill="hold" grpId="0" nodeType="afterEffect">
                            <p:stCondLst>
                              <p:cond delay="440"/>
                            </p:stCondLst>
                            <p:childTnLst>
                              <p:set>
                                <p:cBhvr>
                                  <p:cTn id="153" dur="1" fill="hold">
                                    <p:stCondLst>
                                      <p:cond delay="0"/>
                                    </p:stCondLst>
                                  </p:cTn>
                                  <p:tgtEl>
                                    <p:spTgt spid="29"/>
                                  </p:tgtEl>
                                  <p:attrNameLst>
                                    <p:attrName>style.visibility</p:attrName>
                                  </p:attrNameLst>
                                </p:cBhvr>
                                <p:to>
                                  <p:strVal val="visible"/>
                                </p:to>
                              </p:set>
                              <p:animEffect transition="in" filter="fade">
                                <p:cBhvr>
                                  <p:cTn id="154" dur="420"/>
                                  <p:tgtEl>
                                    <p:spTgt spid="29"/>
                                  </p:tgtEl>
                                </p:cBhvr>
                              </p:animEffect>
                            </p:childTnLst>
                          </p:cTn>
                        </p:par>
                        <p:par>
                          <p:cTn id="155" presetID="10" presetClass="entr" presetSubtype="0" fill="hold" grpId="0" nodeType="afterEffect">
                            <p:stCondLst>
                              <p:cond delay="550"/>
                            </p:stCondLst>
                            <p:childTnLst>
                              <p:set>
                                <p:cBhvr>
                                  <p:cTn id="156" dur="1" fill="hold">
                                    <p:stCondLst>
                                      <p:cond delay="0"/>
                                    </p:stCondLst>
                                  </p:cTn>
                                  <p:tgtEl>
                                    <p:spTgt spid="13"/>
                                  </p:tgtEl>
                                  <p:attrNameLst>
                                    <p:attrName>style.visibility</p:attrName>
                                  </p:attrNameLst>
                                </p:cBhvr>
                                <p:to>
                                  <p:strVal val="visible"/>
                                </p:to>
                              </p:set>
                              <p:animEffect transition="in" filter="fade">
                                <p:cBhvr>
                                  <p:cTn id="157" dur="420"/>
                                  <p:tgtEl>
                                    <p:spTgt spid="13"/>
                                  </p:tgtEl>
                                </p:cBhvr>
                              </p:animEffect>
                            </p:childTnLst>
                          </p:cTn>
                        </p:par>
                        <p:par>
                          <p:cTn id="158" presetID="10" presetClass="entr" presetSubtype="0" fill="hold" grpId="0" nodeType="afterEffect">
                            <p:stCondLst>
                              <p:cond delay="550"/>
                            </p:stCondLst>
                            <p:childTnLst>
                              <p:set>
                                <p:cBhvr>
                                  <p:cTn id="159" dur="1" fill="hold">
                                    <p:stCondLst>
                                      <p:cond delay="0"/>
                                    </p:stCondLst>
                                  </p:cTn>
                                  <p:tgtEl>
                                    <p:spTgt spid="14"/>
                                  </p:tgtEl>
                                  <p:attrNameLst>
                                    <p:attrName>style.visibility</p:attrName>
                                  </p:attrNameLst>
                                </p:cBhvr>
                                <p:to>
                                  <p:strVal val="visible"/>
                                </p:to>
                              </p:set>
                              <p:animEffect transition="in" filter="fade">
                                <p:cBhvr>
                                  <p:cTn id="160" dur="420"/>
                                  <p:tgtEl>
                                    <p:spTgt spid="14"/>
                                  </p:tgtEl>
                                </p:cBhvr>
                              </p:animEffect>
                            </p:childTnLst>
                          </p:cTn>
                        </p:par>
                        <p:par>
                          <p:cTn id="161" presetID="10" presetClass="entr" presetSubtype="0" fill="hold" grpId="0" nodeType="afterEffect">
                            <p:stCondLst>
                              <p:cond delay="550"/>
                            </p:stCondLst>
                            <p:childTnLst>
                              <p:set>
                                <p:cBhvr>
                                  <p:cTn id="162" dur="1" fill="hold">
                                    <p:stCondLst>
                                      <p:cond delay="0"/>
                                    </p:stCondLst>
                                  </p:cTn>
                                  <p:tgtEl>
                                    <p:spTgt spid="30"/>
                                  </p:tgtEl>
                                  <p:attrNameLst>
                                    <p:attrName>style.visibility</p:attrName>
                                  </p:attrNameLst>
                                </p:cBhvr>
                                <p:to>
                                  <p:strVal val="visible"/>
                                </p:to>
                              </p:set>
                              <p:animEffect transition="in" filter="fade">
                                <p:cBhvr>
                                  <p:cTn id="163" dur="420"/>
                                  <p:tgtEl>
                                    <p:spTgt spid="30"/>
                                  </p:tgtEl>
                                </p:cBhvr>
                              </p:animEffect>
                            </p:childTnLst>
                          </p:cTn>
                        </p:par>
                        <p:par>
                          <p:cTn id="164" presetID="10" presetClass="entr" presetSubtype="0" fill="hold" grpId="0" nodeType="afterEffect">
                            <p:stCondLst>
                              <p:cond delay="550"/>
                            </p:stCondLst>
                            <p:childTnLst>
                              <p:set>
                                <p:cBhvr>
                                  <p:cTn id="165" dur="1" fill="hold">
                                    <p:stCondLst>
                                      <p:cond delay="0"/>
                                    </p:stCondLst>
                                  </p:cTn>
                                  <p:tgtEl>
                                    <p:spTgt spid="31"/>
                                  </p:tgtEl>
                                  <p:attrNameLst>
                                    <p:attrName>style.visibility</p:attrName>
                                  </p:attrNameLst>
                                </p:cBhvr>
                                <p:to>
                                  <p:strVal val="visible"/>
                                </p:to>
                              </p:set>
                              <p:animEffect transition="in" filter="fade">
                                <p:cBhvr>
                                  <p:cTn id="166" dur="420"/>
                                  <p:tgtEl>
                                    <p:spTgt spid="31"/>
                                  </p:tgtEl>
                                </p:cBhvr>
                              </p:animEffect>
                            </p:childTnLst>
                          </p:cTn>
                        </p:par>
                        <p:par>
                          <p:cTn id="167" presetID="10" presetClass="entr" presetSubtype="0" fill="hold" grpId="0" nodeType="afterEffect">
                            <p:stCondLst>
                              <p:cond delay="660"/>
                            </p:stCondLst>
                            <p:childTnLst>
                              <p:set>
                                <p:cBhvr>
                                  <p:cTn id="168" dur="1" fill="hold">
                                    <p:stCondLst>
                                      <p:cond delay="0"/>
                                    </p:stCondLst>
                                  </p:cTn>
                                  <p:tgtEl>
                                    <p:spTgt spid="15"/>
                                  </p:tgtEl>
                                  <p:attrNameLst>
                                    <p:attrName>style.visibility</p:attrName>
                                  </p:attrNameLst>
                                </p:cBhvr>
                                <p:to>
                                  <p:strVal val="visible"/>
                                </p:to>
                              </p:set>
                              <p:animEffect transition="in" filter="fade">
                                <p:cBhvr>
                                  <p:cTn id="169" dur="420"/>
                                  <p:tgtEl>
                                    <p:spTgt spid="15"/>
                                  </p:tgtEl>
                                </p:cBhvr>
                              </p:animEffect>
                            </p:childTnLst>
                          </p:cTn>
                        </p:par>
                        <p:par>
                          <p:cTn id="170" presetID="10" presetClass="entr" presetSubtype="0" fill="hold" grpId="0" nodeType="afterEffect">
                            <p:stCondLst>
                              <p:cond delay="660"/>
                            </p:stCondLst>
                            <p:childTnLst>
                              <p:set>
                                <p:cBhvr>
                                  <p:cTn id="171" dur="1" fill="hold">
                                    <p:stCondLst>
                                      <p:cond delay="0"/>
                                    </p:stCondLst>
                                  </p:cTn>
                                  <p:tgtEl>
                                    <p:spTgt spid="16"/>
                                  </p:tgtEl>
                                  <p:attrNameLst>
                                    <p:attrName>style.visibility</p:attrName>
                                  </p:attrNameLst>
                                </p:cBhvr>
                                <p:to>
                                  <p:strVal val="visible"/>
                                </p:to>
                              </p:set>
                              <p:animEffect transition="in" filter="fade">
                                <p:cBhvr>
                                  <p:cTn id="172" dur="420"/>
                                  <p:tgtEl>
                                    <p:spTgt spid="16"/>
                                  </p:tgtEl>
                                </p:cBhvr>
                              </p:animEffect>
                            </p:childTnLst>
                          </p:cTn>
                        </p:par>
                        <p:par>
                          <p:cTn id="173" presetID="10" presetClass="entr" presetSubtype="0" fill="hold" grpId="0" nodeType="afterEffect">
                            <p:stCondLst>
                              <p:cond delay="770"/>
                            </p:stCondLst>
                            <p:childTnLst>
                              <p:set>
                                <p:cBhvr>
                                  <p:cTn id="174" dur="1" fill="hold">
                                    <p:stCondLst>
                                      <p:cond delay="0"/>
                                    </p:stCondLst>
                                  </p:cTn>
                                  <p:tgtEl>
                                    <p:spTgt spid="17"/>
                                  </p:tgtEl>
                                  <p:attrNameLst>
                                    <p:attrName>style.visibility</p:attrName>
                                  </p:attrNameLst>
                                </p:cBhvr>
                                <p:to>
                                  <p:strVal val="visible"/>
                                </p:to>
                              </p:set>
                              <p:animEffect transition="in" filter="fade">
                                <p:cBhvr>
                                  <p:cTn id="175" dur="420"/>
                                  <p:tgtEl>
                                    <p:spTgt spid="17"/>
                                  </p:tgtEl>
                                </p:cBhvr>
                              </p:animEffect>
                            </p:childTnLst>
                          </p:cTn>
                        </p:par>
                        <p:par>
                          <p:cTn id="176" presetID="10" presetClass="entr" presetSubtype="0" fill="hold" grpId="0" nodeType="afterEffect">
                            <p:stCondLst>
                              <p:cond delay="770"/>
                            </p:stCondLst>
                            <p:childTnLst>
                              <p:set>
                                <p:cBhvr>
                                  <p:cTn id="177" dur="1" fill="hold">
                                    <p:stCondLst>
                                      <p:cond delay="0"/>
                                    </p:stCondLst>
                                  </p:cTn>
                                  <p:tgtEl>
                                    <p:spTgt spid="18"/>
                                  </p:tgtEl>
                                  <p:attrNameLst>
                                    <p:attrName>style.visibility</p:attrName>
                                  </p:attrNameLst>
                                </p:cBhvr>
                                <p:to>
                                  <p:strVal val="visible"/>
                                </p:to>
                              </p:set>
                              <p:animEffect transition="in" filter="fade">
                                <p:cBhvr>
                                  <p:cTn id="178" dur="420"/>
                                  <p:tgtEl>
                                    <p:spTgt spid="18"/>
                                  </p:tgtEl>
                                </p:cBhvr>
                              </p:animEffect>
                            </p:childTnLst>
                          </p:cTn>
                        </p:par>
                        <p:par>
                          <p:cTn id="179" presetID="10" presetClass="entr" presetSubtype="0" fill="hold" grpId="0" nodeType="afterEffect">
                            <p:stCondLst>
                              <p:cond delay="880"/>
                            </p:stCondLst>
                            <p:childTnLst>
                              <p:set>
                                <p:cBhvr>
                                  <p:cTn id="180" dur="1" fill="hold">
                                    <p:stCondLst>
                                      <p:cond delay="0"/>
                                    </p:stCondLst>
                                  </p:cTn>
                                  <p:tgtEl>
                                    <p:spTgt spid="19"/>
                                  </p:tgtEl>
                                  <p:attrNameLst>
                                    <p:attrName>style.visibility</p:attrName>
                                  </p:attrNameLst>
                                </p:cBhvr>
                                <p:to>
                                  <p:strVal val="visible"/>
                                </p:to>
                              </p:set>
                              <p:animEffect transition="in" filter="fade">
                                <p:cBhvr>
                                  <p:cTn id="181" dur="420"/>
                                  <p:tgtEl>
                                    <p:spTgt spid="19"/>
                                  </p:tgtEl>
                                </p:cBhvr>
                              </p:animEffect>
                            </p:childTnLst>
                          </p:cTn>
                        </p:par>
                        <p:par>
                          <p:cTn id="182" presetID="10" presetClass="entr" presetSubtype="0" fill="hold" grpId="0" nodeType="afterEffect">
                            <p:stCondLst>
                              <p:cond delay="880"/>
                            </p:stCondLst>
                            <p:childTnLst>
                              <p:set>
                                <p:cBhvr>
                                  <p:cTn id="183" dur="1" fill="hold">
                                    <p:stCondLst>
                                      <p:cond delay="0"/>
                                    </p:stCondLst>
                                  </p:cTn>
                                  <p:tgtEl>
                                    <p:spTgt spid="20"/>
                                  </p:tgtEl>
                                  <p:attrNameLst>
                                    <p:attrName>style.visibility</p:attrName>
                                  </p:attrNameLst>
                                </p:cBhvr>
                                <p:to>
                                  <p:strVal val="visible"/>
                                </p:to>
                              </p:set>
                              <p:animEffect transition="in" filter="fade">
                                <p:cBhvr>
                                  <p:cTn id="184" dur="420"/>
                                  <p:tgtEl>
                                    <p:spTgt spid="20"/>
                                  </p:tgtEl>
                                </p:cBhvr>
                              </p:animEffect>
                            </p:childTnLst>
                          </p:cTn>
                        </p:par>
                      </p:childTnLst>
                    </p:cTn>
                  </p:par>
                </p:childTnLst>
              </p:cTn>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F5B4C"/>
        </a:solidFill>
        <a:effectLst/>
      </p:bgPr>
    </p:bg>
    <p:spTree>
      <p:nvGrpSpPr>
        <p:cNvPr id="1" name=""/>
        <p:cNvGrpSpPr/>
        <p:nvPr/>
      </p:nvGrpSpPr>
      <p:grpSpPr/>
      <p:sp>
        <p:nvSpPr>
          <p:cNvPr id="2" name="TextBox 1"/>
          <p:cNvSpPr txBox="1"/>
          <p:nvPr/>
        </p:nvSpPr>
        <p:spPr>
          <a:xfrm>
            <a:off x="548640" y="320040"/>
            <a:ext cx="2743200" cy="2743200"/>
          </a:xfrm>
          <a:prstGeom prst="rect">
            <a:avLst/>
          </a:prstGeom>
          <a:noFill/>
        </p:spPr>
        <p:txBody>
          <a:bodyPr wrap="square" lIns="0" rIns="0" tIns="0" bIns="0" anchor="t">
            <a:spAutoFit/>
          </a:bodyPr>
          <a:lstStyle/>
          <a:p>
            <a:pPr algn="l">
              <a:lnSpc>
                <a:spcPct val="100000"/>
              </a:lnSpc>
              <a:spcBef>
                <a:spcPts val="0"/>
              </a:spcBef>
              <a:spcAft>
                <a:spcPts val="0"/>
              </a:spcAft>
            </a:pPr>
            <a:r>
              <a:rPr sz="22000" b="1" i="0">
                <a:solidFill>
                  <a:srgbClr val="1B7A66"/>
                </a:solidFill>
                <a:latin typeface="Cambria"/>
              </a:rPr>
              <a:t>“</a:t>
            </a:r>
          </a:p>
        </p:txBody>
      </p:sp>
      <p:sp>
        <p:nvSpPr>
          <p:cNvPr id="3" name="TextBox 2"/>
          <p:cNvSpPr txBox="1"/>
          <p:nvPr/>
        </p:nvSpPr>
        <p:spPr>
          <a:xfrm>
            <a:off x="822960" y="548640"/>
            <a:ext cx="10515600" cy="365760"/>
          </a:xfrm>
          <a:prstGeom prst="rect">
            <a:avLst/>
          </a:prstGeom>
          <a:noFill/>
        </p:spPr>
        <p:txBody>
          <a:bodyPr wrap="square" lIns="0" rIns="0" tIns="0" bIns="0" anchor="t">
            <a:spAutoFit/>
          </a:bodyPr>
          <a:lstStyle/>
          <a:p>
            <a:pPr algn="ctr">
              <a:lnSpc>
                <a:spcPct val="100000"/>
              </a:lnSpc>
              <a:spcBef>
                <a:spcPts val="0"/>
              </a:spcBef>
              <a:spcAft>
                <a:spcPts val="0"/>
              </a:spcAft>
            </a:pPr>
            <a:r>
              <a:rPr sz="1300" b="1" i="0">
                <a:solidFill>
                  <a:srgbClr val="E6BD7C"/>
                </a:solidFill>
                <a:latin typeface="Calibri"/>
              </a:rPr>
              <a:t>CONCLUSION GÉNÉRALE</a:t>
            </a:r>
          </a:p>
        </p:txBody>
      </p:sp>
      <p:sp>
        <p:nvSpPr>
          <p:cNvPr id="4" name="TextBox 3"/>
          <p:cNvSpPr txBox="1"/>
          <p:nvPr/>
        </p:nvSpPr>
        <p:spPr>
          <a:xfrm>
            <a:off x="1280160" y="1965960"/>
            <a:ext cx="9631375" cy="3291840"/>
          </a:xfrm>
          <a:prstGeom prst="rect">
            <a:avLst/>
          </a:prstGeom>
          <a:noFill/>
        </p:spPr>
        <p:txBody>
          <a:bodyPr wrap="square" lIns="0" rIns="0" tIns="0" bIns="0" anchor="ctr">
            <a:spAutoFit/>
          </a:bodyPr>
          <a:lstStyle/>
          <a:p>
            <a:pPr algn="ctr">
              <a:lnSpc>
                <a:spcPct val="135000"/>
              </a:lnSpc>
              <a:spcBef>
                <a:spcPts val="0"/>
              </a:spcBef>
              <a:spcAft>
                <a:spcPts val="0"/>
              </a:spcAft>
            </a:pPr>
            <a:r>
              <a:rPr sz="2300" b="1" i="1">
                <a:solidFill>
                  <a:srgbClr val="FFFFFF"/>
                </a:solidFill>
                <a:latin typeface="Cambria"/>
              </a:rPr>
              <a:t>Kayñiawlu constitue une base fonctionnelle solide, déjà utilisable pour la démonstration et l'expérimentation, dont le déploiement en production, l'intégration du paiement mobile et l'ouverture aux clients finaux sont les prochaines étapes naturelles vers une commercialisation effective auprès des couturiers du Sénégal.</a:t>
            </a:r>
          </a:p>
        </p:txBody>
      </p:sp>
      <p:sp>
        <p:nvSpPr>
          <p:cNvPr id="5" name="TextBox 4"/>
          <p:cNvSpPr txBox="1"/>
          <p:nvPr/>
        </p:nvSpPr>
        <p:spPr>
          <a:xfrm>
            <a:off x="640080" y="6519672"/>
            <a:ext cx="7315200" cy="274320"/>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A7BCB1"/>
                </a:solidFill>
                <a:latin typeface="Calibri"/>
              </a:rPr>
              <a:t>Kayñiawlu — Soutenance de mémoire</a:t>
            </a:r>
          </a:p>
        </p:txBody>
      </p:sp>
      <p:sp>
        <p:nvSpPr>
          <p:cNvPr id="6" name="TextBox 5"/>
          <p:cNvSpPr txBox="1"/>
          <p:nvPr/>
        </p:nvSpPr>
        <p:spPr>
          <a:xfrm>
            <a:off x="10180015" y="6519672"/>
            <a:ext cx="1371600" cy="274320"/>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A7BCB1"/>
                </a:solidFill>
                <a:latin typeface="Calibri"/>
              </a:rPr>
              <a:t>28</a:t>
            </a:r>
          </a:p>
        </p:txBody>
      </p:sp>
    </p:spTree>
  </p:cSld>
  <p:clrMapOvr>
    <a:masterClrMapping/>
  </p:clrMapOvr>
  <p:transition spd="slow">
    <p:fade/>
  </p:transition>
  <p:timing>
    <p:tnLst>
      <p:par>
        <p:cTn id="110" dur="indefinite" restart="never" nodeType="tmRoot">
          <p:childTnLst>
            <p:seq concurrent="1" nextAc="seek">
              <p:cTn id="111" dur="indefinite" nodeType="mainSeq">
                <p:childTnLst>
                  <p:par>
                    <p:cTn id="112" fill="hold">
                      <p:stCondLst>
                        <p:cond delay="0"/>
                      </p:stCondLst>
                      <p:childTnLst>
                        <p:par>
                          <p:cTn id="101" presetID="10" presetClass="entr" presetSubtype="0" fill="hold" grpId="0" nodeType="afterEffect">
                            <p:stCondLst>
                              <p:cond delay="0"/>
                            </p:stCondLst>
                            <p:childTnLst>
                              <p:set>
                                <p:cBhvr>
                                  <p:cTn id="102" dur="1" fill="hold">
                                    <p:stCondLst>
                                      <p:cond delay="0"/>
                                    </p:stCondLst>
                                  </p:cTn>
                                  <p:tgtEl>
                                    <p:spTgt spid="2"/>
                                  </p:tgtEl>
                                  <p:attrNameLst>
                                    <p:attrName>style.visibility</p:attrName>
                                  </p:attrNameLst>
                                </p:cBhvr>
                                <p:to>
                                  <p:strVal val="visible"/>
                                </p:to>
                              </p:set>
                              <p:animEffect transition="in" filter="fade">
                                <p:cBhvr>
                                  <p:cTn id="103" dur="600"/>
                                  <p:tgtEl>
                                    <p:spTgt spid="2"/>
                                  </p:tgtEl>
                                </p:cBhvr>
                              </p:animEffect>
                            </p:childTnLst>
                          </p:cTn>
                        </p:par>
                        <p:par>
                          <p:cTn id="104" presetID="10" presetClass="entr" presetSubtype="0" fill="hold" grpId="0" nodeType="afterEffect">
                            <p:stCondLst>
                              <p:cond delay="250"/>
                            </p:stCondLst>
                            <p:childTnLst>
                              <p:set>
                                <p:cBhvr>
                                  <p:cTn id="105" dur="1" fill="hold">
                                    <p:stCondLst>
                                      <p:cond delay="0"/>
                                    </p:stCondLst>
                                  </p:cTn>
                                  <p:tgtEl>
                                    <p:spTgt spid="3"/>
                                  </p:tgtEl>
                                  <p:attrNameLst>
                                    <p:attrName>style.visibility</p:attrName>
                                  </p:attrNameLst>
                                </p:cBhvr>
                                <p:to>
                                  <p:strVal val="visible"/>
                                </p:to>
                              </p:set>
                              <p:animEffect transition="in" filter="fade">
                                <p:cBhvr>
                                  <p:cTn id="106" dur="600"/>
                                  <p:tgtEl>
                                    <p:spTgt spid="3"/>
                                  </p:tgtEl>
                                </p:cBhvr>
                              </p:animEffect>
                            </p:childTnLst>
                          </p:cTn>
                        </p:par>
                        <p:par>
                          <p:cTn id="107" presetID="10" presetClass="entr" presetSubtype="0" fill="hold" grpId="0" nodeType="afterEffect">
                            <p:stCondLst>
                              <p:cond delay="500"/>
                            </p:stCondLst>
                            <p:childTnLst>
                              <p:set>
                                <p:cBhvr>
                                  <p:cTn id="108" dur="1" fill="hold">
                                    <p:stCondLst>
                                      <p:cond delay="0"/>
                                    </p:stCondLst>
                                  </p:cTn>
                                  <p:tgtEl>
                                    <p:spTgt spid="4"/>
                                  </p:tgtEl>
                                  <p:attrNameLst>
                                    <p:attrName>style.visibility</p:attrName>
                                  </p:attrNameLst>
                                </p:cBhvr>
                                <p:to>
                                  <p:strVal val="visible"/>
                                </p:to>
                              </p:set>
                              <p:animEffect transition="in" filter="fade">
                                <p:cBhvr>
                                  <p:cTn id="109" dur="600"/>
                                  <p:tgtEl>
                                    <p:spTgt spid="4"/>
                                  </p:tgtEl>
                                </p:cBhvr>
                              </p:animEffect>
                            </p:childTnLst>
                          </p:cTn>
                        </p:par>
                      </p:childTnLst>
                    </p:cTn>
                  </p:par>
                </p:childTnLst>
              </p:cTn>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F5B4C"/>
        </a:solidFill>
        <a:effectLst/>
      </p:bgPr>
    </p:bg>
    <p:spTree>
      <p:nvGrpSpPr>
        <p:cNvPr id="1" name=""/>
        <p:cNvGrpSpPr/>
        <p:nvPr/>
      </p:nvGrpSpPr>
      <p:grpSpPr/>
      <p:sp>
        <p:nvSpPr>
          <p:cNvPr id="2" name="Rounded Rectangle 1"/>
          <p:cNvSpPr/>
          <p:nvPr/>
        </p:nvSpPr>
        <p:spPr>
          <a:xfrm>
            <a:off x="4952847" y="685800"/>
            <a:ext cx="2286000" cy="1664208"/>
          </a:xfrm>
          <a:prstGeom prst="roundRect">
            <a:avLst>
              <a:gd name="adj" fmla="val 9000"/>
            </a:avLst>
          </a:prstGeom>
          <a:solidFill>
            <a:srgbClr val="FFFFFF"/>
          </a:solidFill>
          <a:ln>
            <a:noFill/>
          </a:ln>
          <a:effectLst>
            <a:outerShdw blurRad="127000" dist="38100" dir="5400000" rotWithShape="0">
              <a:srgbClr val="1A103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kayniawlu_logo_transparent.png"/>
          <p:cNvPicPr>
            <a:picLocks noChangeAspect="1"/>
          </p:cNvPicPr>
          <p:nvPr/>
        </p:nvPicPr>
        <p:blipFill>
          <a:blip r:embed="rId2"/>
          <a:stretch>
            <a:fillRect/>
          </a:stretch>
        </p:blipFill>
        <p:spPr>
          <a:xfrm>
            <a:off x="5142521" y="685800"/>
            <a:ext cx="1906652" cy="1664208"/>
          </a:xfrm>
          <a:prstGeom prst="rect">
            <a:avLst/>
          </a:prstGeom>
        </p:spPr>
      </p:pic>
      <p:sp>
        <p:nvSpPr>
          <p:cNvPr id="4" name="TextBox 3"/>
          <p:cNvSpPr txBox="1"/>
          <p:nvPr/>
        </p:nvSpPr>
        <p:spPr>
          <a:xfrm>
            <a:off x="914400" y="2697480"/>
            <a:ext cx="10362895" cy="1005840"/>
          </a:xfrm>
          <a:prstGeom prst="rect">
            <a:avLst/>
          </a:prstGeom>
          <a:noFill/>
        </p:spPr>
        <p:txBody>
          <a:bodyPr wrap="square" lIns="0" rIns="0" tIns="0" bIns="0" anchor="t">
            <a:spAutoFit/>
          </a:bodyPr>
          <a:lstStyle/>
          <a:p>
            <a:pPr algn="ctr">
              <a:lnSpc>
                <a:spcPct val="100000"/>
              </a:lnSpc>
              <a:spcBef>
                <a:spcPts val="0"/>
              </a:spcBef>
              <a:spcAft>
                <a:spcPts val="0"/>
              </a:spcAft>
            </a:pPr>
            <a:r>
              <a:rPr sz="4200" b="1" i="0">
                <a:solidFill>
                  <a:srgbClr val="FFFFFF"/>
                </a:solidFill>
                <a:latin typeface="Cambria"/>
              </a:rPr>
              <a:t>Merci de votre attention</a:t>
            </a:r>
          </a:p>
        </p:txBody>
      </p:sp>
      <p:sp>
        <p:nvSpPr>
          <p:cNvPr id="5" name="TextBox 4"/>
          <p:cNvSpPr txBox="1"/>
          <p:nvPr/>
        </p:nvSpPr>
        <p:spPr>
          <a:xfrm>
            <a:off x="914400" y="3657600"/>
            <a:ext cx="10362895" cy="640080"/>
          </a:xfrm>
          <a:prstGeom prst="rect">
            <a:avLst/>
          </a:prstGeom>
          <a:noFill/>
        </p:spPr>
        <p:txBody>
          <a:bodyPr wrap="square" lIns="0" rIns="0" tIns="0" bIns="0" anchor="t">
            <a:spAutoFit/>
          </a:bodyPr>
          <a:lstStyle/>
          <a:p>
            <a:pPr algn="ctr">
              <a:lnSpc>
                <a:spcPct val="100000"/>
              </a:lnSpc>
              <a:spcBef>
                <a:spcPts val="0"/>
              </a:spcBef>
              <a:spcAft>
                <a:spcPts val="0"/>
              </a:spcAft>
            </a:pPr>
            <a:r>
              <a:rPr sz="2300" b="0" i="1">
                <a:solidFill>
                  <a:srgbClr val="E6BD7C"/>
                </a:solidFill>
                <a:latin typeface="Cambria"/>
              </a:rPr>
              <a:t>Questions ?</a:t>
            </a:r>
          </a:p>
        </p:txBody>
      </p:sp>
      <p:sp>
        <p:nvSpPr>
          <p:cNvPr id="6" name="TextBox 5"/>
          <p:cNvSpPr txBox="1"/>
          <p:nvPr/>
        </p:nvSpPr>
        <p:spPr>
          <a:xfrm>
            <a:off x="914400" y="5394960"/>
            <a:ext cx="10362895" cy="365760"/>
          </a:xfrm>
          <a:prstGeom prst="rect">
            <a:avLst/>
          </a:prstGeom>
          <a:noFill/>
        </p:spPr>
        <p:txBody>
          <a:bodyPr wrap="square" lIns="0" rIns="0" tIns="0" bIns="0" anchor="t">
            <a:spAutoFit/>
          </a:bodyPr>
          <a:lstStyle/>
          <a:p>
            <a:pPr algn="ctr">
              <a:lnSpc>
                <a:spcPct val="100000"/>
              </a:lnSpc>
              <a:spcBef>
                <a:spcPts val="0"/>
              </a:spcBef>
              <a:spcAft>
                <a:spcPts val="0"/>
              </a:spcAft>
            </a:pPr>
            <a:r>
              <a:rPr sz="1400" b="1" i="0">
                <a:solidFill>
                  <a:srgbClr val="FFFFFF"/>
                </a:solidFill>
                <a:latin typeface="Calibri"/>
              </a:rPr>
              <a:t>Adorand Jacques Merveille DEMBI</a:t>
            </a:r>
          </a:p>
        </p:txBody>
      </p:sp>
      <p:sp>
        <p:nvSpPr>
          <p:cNvPr id="7" name="TextBox 6"/>
          <p:cNvSpPr txBox="1"/>
          <p:nvPr/>
        </p:nvSpPr>
        <p:spPr>
          <a:xfrm>
            <a:off x="914400" y="5760720"/>
            <a:ext cx="10362895" cy="365760"/>
          </a:xfrm>
          <a:prstGeom prst="rect">
            <a:avLst/>
          </a:prstGeom>
          <a:noFill/>
        </p:spPr>
        <p:txBody>
          <a:bodyPr wrap="square" lIns="0" rIns="0" tIns="0" bIns="0" anchor="t">
            <a:spAutoFit/>
          </a:bodyPr>
          <a:lstStyle/>
          <a:p>
            <a:pPr algn="ctr">
              <a:lnSpc>
                <a:spcPct val="100000"/>
              </a:lnSpc>
              <a:spcBef>
                <a:spcPts val="0"/>
              </a:spcBef>
              <a:spcAft>
                <a:spcPts val="0"/>
              </a:spcAft>
            </a:pPr>
            <a:r>
              <a:rPr sz="1200" b="0" i="0">
                <a:solidFill>
                  <a:srgbClr val="A7BCB1"/>
                </a:solidFill>
                <a:latin typeface="Calibri"/>
              </a:rPr>
              <a:t>Master en Génie Logiciel · Institut Supérieur d'Informatique (ISI), Dakar</a:t>
            </a:r>
          </a:p>
        </p:txBody>
      </p:sp>
    </p:spTree>
  </p:cSld>
  <p:clrMapOvr>
    <a:masterClrMapping/>
  </p:clrMapOvr>
  <p:transition spd="slow">
    <p:fade/>
  </p:transition>
  <p:timing>
    <p:tnLst>
      <p:par>
        <p:cTn id="119" dur="indefinite" restart="never" nodeType="tmRoot">
          <p:childTnLst>
            <p:seq concurrent="1" nextAc="seek">
              <p:cTn id="120" dur="indefinite" nodeType="mainSeq">
                <p:childTnLst>
                  <p:par>
                    <p:cTn id="121" fill="hold">
                      <p:stCondLst>
                        <p:cond delay="0"/>
                      </p:stCondLst>
                      <p:childTnLst>
                        <p:par>
                          <p:cTn id="101" presetID="10" presetClass="entr" presetSubtype="0" fill="hold" grpId="0" nodeType="afterEffect">
                            <p:stCondLst>
                              <p:cond delay="0"/>
                            </p:stCondLst>
                            <p:childTnLst>
                              <p:set>
                                <p:cBhvr>
                                  <p:cTn id="102" dur="1" fill="hold">
                                    <p:stCondLst>
                                      <p:cond delay="0"/>
                                    </p:stCondLst>
                                  </p:cTn>
                                  <p:tgtEl>
                                    <p:spTgt spid="2"/>
                                  </p:tgtEl>
                                  <p:attrNameLst>
                                    <p:attrName>style.visibility</p:attrName>
                                  </p:attrNameLst>
                                </p:cBhvr>
                                <p:to>
                                  <p:strVal val="visible"/>
                                </p:to>
                              </p:set>
                              <p:animEffect transition="in" filter="fade">
                                <p:cBhvr>
                                  <p:cTn id="103" dur="550"/>
                                  <p:tgtEl>
                                    <p:spTgt spid="2"/>
                                  </p:tgtEl>
                                </p:cBhvr>
                              </p:animEffect>
                            </p:childTnLst>
                          </p:cTn>
                        </p:par>
                        <p:par>
                          <p:cTn id="104" presetID="10" presetClass="entr" presetSubtype="0" fill="hold" grpId="0" nodeType="afterEffect">
                            <p:stCondLst>
                              <p:cond delay="0"/>
                            </p:stCondLst>
                            <p:childTnLst>
                              <p:set>
                                <p:cBhvr>
                                  <p:cTn id="105" dur="1" fill="hold">
                                    <p:stCondLst>
                                      <p:cond delay="0"/>
                                    </p:stCondLst>
                                  </p:cTn>
                                  <p:tgtEl>
                                    <p:spTgt spid="3"/>
                                  </p:tgtEl>
                                  <p:attrNameLst>
                                    <p:attrName>style.visibility</p:attrName>
                                  </p:attrNameLst>
                                </p:cBhvr>
                                <p:to>
                                  <p:strVal val="visible"/>
                                </p:to>
                              </p:set>
                              <p:animEffect transition="in" filter="fade">
                                <p:cBhvr>
                                  <p:cTn id="106" dur="550"/>
                                  <p:tgtEl>
                                    <p:spTgt spid="3"/>
                                  </p:tgtEl>
                                </p:cBhvr>
                              </p:animEffect>
                            </p:childTnLst>
                          </p:cTn>
                        </p:par>
                        <p:par>
                          <p:cTn id="107" presetID="10" presetClass="entr" presetSubtype="0" fill="hold" grpId="0" nodeType="afterEffect">
                            <p:stCondLst>
                              <p:cond delay="260"/>
                            </p:stCondLst>
                            <p:childTnLst>
                              <p:set>
                                <p:cBhvr>
                                  <p:cTn id="108" dur="1" fill="hold">
                                    <p:stCondLst>
                                      <p:cond delay="0"/>
                                    </p:stCondLst>
                                  </p:cTn>
                                  <p:tgtEl>
                                    <p:spTgt spid="4"/>
                                  </p:tgtEl>
                                  <p:attrNameLst>
                                    <p:attrName>style.visibility</p:attrName>
                                  </p:attrNameLst>
                                </p:cBhvr>
                                <p:to>
                                  <p:strVal val="visible"/>
                                </p:to>
                              </p:set>
                              <p:animEffect transition="in" filter="fade">
                                <p:cBhvr>
                                  <p:cTn id="109" dur="550"/>
                                  <p:tgtEl>
                                    <p:spTgt spid="4"/>
                                  </p:tgtEl>
                                </p:cBhvr>
                              </p:animEffect>
                            </p:childTnLst>
                          </p:cTn>
                        </p:par>
                        <p:par>
                          <p:cTn id="110" presetID="10" presetClass="entr" presetSubtype="0" fill="hold" grpId="0" nodeType="afterEffect">
                            <p:stCondLst>
                              <p:cond delay="520"/>
                            </p:stCondLst>
                            <p:childTnLst>
                              <p:set>
                                <p:cBhvr>
                                  <p:cTn id="111" dur="1" fill="hold">
                                    <p:stCondLst>
                                      <p:cond delay="0"/>
                                    </p:stCondLst>
                                  </p:cTn>
                                  <p:tgtEl>
                                    <p:spTgt spid="5"/>
                                  </p:tgtEl>
                                  <p:attrNameLst>
                                    <p:attrName>style.visibility</p:attrName>
                                  </p:attrNameLst>
                                </p:cBhvr>
                                <p:to>
                                  <p:strVal val="visible"/>
                                </p:to>
                              </p:set>
                              <p:animEffect transition="in" filter="fade">
                                <p:cBhvr>
                                  <p:cTn id="112" dur="550"/>
                                  <p:tgtEl>
                                    <p:spTgt spid="5"/>
                                  </p:tgtEl>
                                </p:cBhvr>
                              </p:animEffect>
                            </p:childTnLst>
                          </p:cTn>
                        </p:par>
                        <p:par>
                          <p:cTn id="113" presetID="10" presetClass="entr" presetSubtype="0" fill="hold" grpId="0" nodeType="afterEffect">
                            <p:stCondLst>
                              <p:cond delay="780"/>
                            </p:stCondLst>
                            <p:childTnLst>
                              <p:set>
                                <p:cBhvr>
                                  <p:cTn id="114" dur="1" fill="hold">
                                    <p:stCondLst>
                                      <p:cond delay="0"/>
                                    </p:stCondLst>
                                  </p:cTn>
                                  <p:tgtEl>
                                    <p:spTgt spid="6"/>
                                  </p:tgtEl>
                                  <p:attrNameLst>
                                    <p:attrName>style.visibility</p:attrName>
                                  </p:attrNameLst>
                                </p:cBhvr>
                                <p:to>
                                  <p:strVal val="visible"/>
                                </p:to>
                              </p:set>
                              <p:animEffect transition="in" filter="fade">
                                <p:cBhvr>
                                  <p:cTn id="115" dur="550"/>
                                  <p:tgtEl>
                                    <p:spTgt spid="6"/>
                                  </p:tgtEl>
                                </p:cBhvr>
                              </p:animEffect>
                            </p:childTnLst>
                          </p:cTn>
                        </p:par>
                        <p:par>
                          <p:cTn id="116" presetID="10" presetClass="entr" presetSubtype="0" fill="hold" grpId="0" nodeType="afterEffect">
                            <p:stCondLst>
                              <p:cond delay="780"/>
                            </p:stCondLst>
                            <p:childTnLst>
                              <p:set>
                                <p:cBhvr>
                                  <p:cTn id="117" dur="1" fill="hold">
                                    <p:stCondLst>
                                      <p:cond delay="0"/>
                                    </p:stCondLst>
                                  </p:cTn>
                                  <p:tgtEl>
                                    <p:spTgt spid="7"/>
                                  </p:tgtEl>
                                  <p:attrNameLst>
                                    <p:attrName>style.visibility</p:attrName>
                                  </p:attrNameLst>
                                </p:cBhvr>
                                <p:to>
                                  <p:strVal val="visible"/>
                                </p:to>
                              </p:set>
                              <p:animEffect transition="in" filter="fade">
                                <p:cBhvr>
                                  <p:cTn id="118" dur="550"/>
                                  <p:tgtEl>
                                    <p:spTgt spid="7"/>
                                  </p:tgtEl>
                                </p:cBhvr>
                              </p:animEffect>
                            </p:childTnLst>
                          </p:cTn>
                        </p:par>
                      </p:childTnLst>
                    </p:cTn>
                  </p:par>
                </p:childTnLst>
              </p:cTn>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